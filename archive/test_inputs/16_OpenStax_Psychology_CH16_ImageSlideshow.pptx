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9144000"/>
  <p:notesSz cx="6858000" cy="9144000"/>
  <p:embeddedFontLst>
    <p:embeddedFont>
      <p:font typeface="Arial Black"/>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ArialBlack-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 name="Shape 63"/>
        <p:cNvGrpSpPr/>
        <p:nvPr/>
      </p:nvGrpSpPr>
      <p:grpSpPr>
        <a:xfrm>
          <a:off x="0" y="0"/>
          <a:ext cx="0" cy="0"/>
          <a:chOff x="0" y="0"/>
          <a:chExt cx="0" cy="0"/>
        </a:xfrm>
      </p:grpSpPr>
      <p:sp>
        <p:nvSpPr>
          <p:cNvPr id="64" name="Google Shape;6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 name="Shape 104"/>
        <p:cNvGrpSpPr/>
        <p:nvPr/>
      </p:nvGrpSpPr>
      <p:grpSpPr>
        <a:xfrm>
          <a:off x="0" y="0"/>
          <a:ext cx="0" cy="0"/>
          <a:chOff x="0" y="0"/>
          <a:chExt cx="0" cy="0"/>
        </a:xfrm>
      </p:grpSpPr>
      <p:sp>
        <p:nvSpPr>
          <p:cNvPr id="105" name="Google Shape;10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Google Shape;28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9" name="Shape 289"/>
        <p:cNvGrpSpPr/>
        <p:nvPr/>
      </p:nvGrpSpPr>
      <p:grpSpPr>
        <a:xfrm>
          <a:off x="0" y="0"/>
          <a:ext cx="0" cy="0"/>
          <a:chOff x="0" y="0"/>
          <a:chExt cx="0" cy="0"/>
        </a:xfrm>
      </p:grpSpPr>
      <p:sp>
        <p:nvSpPr>
          <p:cNvPr id="290" name="Google Shape;29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5" name="Shape 295"/>
        <p:cNvGrpSpPr/>
        <p:nvPr/>
      </p:nvGrpSpPr>
      <p:grpSpPr>
        <a:xfrm>
          <a:off x="0" y="0"/>
          <a:ext cx="0" cy="0"/>
          <a:chOff x="0" y="0"/>
          <a:chExt cx="0" cy="0"/>
        </a:xfrm>
      </p:grpSpPr>
      <p:sp>
        <p:nvSpPr>
          <p:cNvPr id="296" name="Google Shape;29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4" name="Shape 304"/>
        <p:cNvGrpSpPr/>
        <p:nvPr/>
      </p:nvGrpSpPr>
      <p:grpSpPr>
        <a:xfrm>
          <a:off x="0" y="0"/>
          <a:ext cx="0" cy="0"/>
          <a:chOff x="0" y="0"/>
          <a:chExt cx="0" cy="0"/>
        </a:xfrm>
      </p:grpSpPr>
      <p:sp>
        <p:nvSpPr>
          <p:cNvPr id="305" name="Google Shape;30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3" name="Shape 313"/>
        <p:cNvGrpSpPr/>
        <p:nvPr/>
      </p:nvGrpSpPr>
      <p:grpSpPr>
        <a:xfrm>
          <a:off x="0" y="0"/>
          <a:ext cx="0" cy="0"/>
          <a:chOff x="0" y="0"/>
          <a:chExt cx="0" cy="0"/>
        </a:xfrm>
      </p:grpSpPr>
      <p:sp>
        <p:nvSpPr>
          <p:cNvPr id="314" name="Google Shape;31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Google Shape;32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0" name="Shape 330"/>
        <p:cNvGrpSpPr/>
        <p:nvPr/>
      </p:nvGrpSpPr>
      <p:grpSpPr>
        <a:xfrm>
          <a:off x="0" y="0"/>
          <a:ext cx="0" cy="0"/>
          <a:chOff x="0" y="0"/>
          <a:chExt cx="0" cy="0"/>
        </a:xfrm>
      </p:grpSpPr>
      <p:sp>
        <p:nvSpPr>
          <p:cNvPr id="331" name="Google Shape;33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6" name="Shape 336"/>
        <p:cNvGrpSpPr/>
        <p:nvPr/>
      </p:nvGrpSpPr>
      <p:grpSpPr>
        <a:xfrm>
          <a:off x="0" y="0"/>
          <a:ext cx="0" cy="0"/>
          <a:chOff x="0" y="0"/>
          <a:chExt cx="0" cy="0"/>
        </a:xfrm>
      </p:grpSpPr>
      <p:sp>
        <p:nvSpPr>
          <p:cNvPr id="337" name="Google Shape;337;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3" name="Shape 343"/>
        <p:cNvGrpSpPr/>
        <p:nvPr/>
      </p:nvGrpSpPr>
      <p:grpSpPr>
        <a:xfrm>
          <a:off x="0" y="0"/>
          <a:ext cx="0" cy="0"/>
          <a:chOff x="0" y="0"/>
          <a:chExt cx="0" cy="0"/>
        </a:xfrm>
      </p:grpSpPr>
      <p:sp>
        <p:nvSpPr>
          <p:cNvPr id="344" name="Google Shape;34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p:cSld name="Title Slide">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172201"/>
            <a:ext cx="3429000" cy="304800"/>
          </a:xfrm>
          <a:prstGeom prst="rect">
            <a:avLst/>
          </a:prstGeom>
          <a:noFill/>
          <a:ln>
            <a:noFill/>
          </a:ln>
        </p:spPr>
        <p:txBody>
          <a:bodyPr anchorCtr="0" anchor="b" bIns="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57200" y="6492875"/>
            <a:ext cx="3429000" cy="28384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nvSpPr>
        <p:spPr>
          <a:xfrm>
            <a:off x="0" y="789677"/>
            <a:ext cx="9144000" cy="7091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CB255"/>
              </a:buClr>
              <a:buSzPts val="3500"/>
              <a:buFont typeface="Arial Black"/>
              <a:buNone/>
            </a:pPr>
            <a:r>
              <a:rPr b="0" i="0" lang="en-US" sz="3500" u="none" cap="none" strike="noStrike">
                <a:solidFill>
                  <a:srgbClr val="6CB255"/>
                </a:solidFill>
                <a:latin typeface="Arial Black"/>
                <a:ea typeface="Arial Black"/>
                <a:cs typeface="Arial Black"/>
                <a:sym typeface="Arial Black"/>
              </a:rPr>
              <a:t>COLLEGE PHYSICS</a:t>
            </a:r>
            <a:endParaRPr/>
          </a:p>
          <a:p>
            <a:pPr indent="0" lvl="0" marL="0" marR="0" rtl="0" algn="ctr">
              <a:spcBef>
                <a:spcPts val="0"/>
              </a:spcBef>
              <a:spcAft>
                <a:spcPts val="0"/>
              </a:spcAft>
              <a:buClr>
                <a:srgbClr val="6CB255"/>
              </a:buClr>
              <a:buSzPts val="1800"/>
              <a:buFont typeface="Arial Black"/>
              <a:buNone/>
            </a:pPr>
            <a:r>
              <a:t/>
            </a:r>
            <a:endParaRPr b="0" i="0" sz="1800" u="none" cap="none" strike="noStrike">
              <a:solidFill>
                <a:srgbClr val="EAF1DD"/>
              </a:solidFill>
              <a:latin typeface="Arial"/>
              <a:ea typeface="Arial"/>
              <a:cs typeface="Arial"/>
              <a:sym typeface="Arial"/>
            </a:endParaRPr>
          </a:p>
          <a:p>
            <a:pPr indent="0" lvl="0" marL="0" marR="0" rtl="0" algn="ctr">
              <a:spcBef>
                <a:spcPts val="0"/>
              </a:spcBef>
              <a:spcAft>
                <a:spcPts val="0"/>
              </a:spcAft>
              <a:buClr>
                <a:srgbClr val="212F62"/>
              </a:buClr>
              <a:buSzPts val="2000"/>
              <a:buFont typeface="Arial"/>
              <a:buNone/>
            </a:pPr>
            <a:r>
              <a:rPr b="1" i="0" lang="en-US" sz="2000" u="none" cap="none" strike="noStrike">
                <a:solidFill>
                  <a:srgbClr val="212F62"/>
                </a:solidFill>
                <a:latin typeface="Arial"/>
                <a:ea typeface="Arial"/>
                <a:cs typeface="Arial"/>
                <a:sym typeface="Arial"/>
              </a:rPr>
              <a:t>Chapter # Chapter Title</a:t>
            </a:r>
            <a:endParaRPr/>
          </a:p>
          <a:p>
            <a:pPr indent="0" lvl="0" marL="0" marR="0" rtl="0" algn="ctr">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PowerPoint Image Slideshow</a:t>
            </a:r>
            <a:endParaRPr b="0" i="0" sz="1600" u="none" cap="none" strike="noStrike">
              <a:solidFill>
                <a:schemeClr val="dk1"/>
              </a:solidFill>
              <a:latin typeface="Arial"/>
              <a:ea typeface="Arial"/>
              <a:cs typeface="Arial"/>
              <a:sym typeface="Arial"/>
            </a:endParaRPr>
          </a:p>
        </p:txBody>
      </p:sp>
      <p:pic>
        <p:nvPicPr>
          <p:cNvPr descr="medium_covers_Page_2.png" id="19" name="Google Shape;19;p2"/>
          <p:cNvPicPr preferRelativeResize="0"/>
          <p:nvPr/>
        </p:nvPicPr>
        <p:blipFill rotWithShape="1">
          <a:blip r:embed="rId2">
            <a:alphaModFix/>
          </a:blip>
          <a:srcRect b="0" l="0" r="0" t="0"/>
          <a:stretch/>
        </p:blipFill>
        <p:spPr>
          <a:xfrm>
            <a:off x="3562758" y="2517424"/>
            <a:ext cx="2010682" cy="2603836"/>
          </a:xfrm>
          <a:prstGeom prst="rect">
            <a:avLst/>
          </a:prstGeom>
          <a:noFill/>
          <a:ln>
            <a:noFill/>
          </a:ln>
          <a:effectLst>
            <a:reflection blurRad="0" dir="0" dist="0" endA="300" endPos="35000" fadeDir="5400000" kx="0" rotWithShape="0" algn="bl" stA="52000" stPos="0" sy="-100000" ky="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showMasterSp="0">
  <p:cSld name="Title and Content">
    <p:spTree>
      <p:nvGrpSpPr>
        <p:cNvPr id="20" name="Shape 20"/>
        <p:cNvGrpSpPr/>
        <p:nvPr/>
      </p:nvGrpSpPr>
      <p:grpSpPr>
        <a:xfrm>
          <a:off x="0" y="0"/>
          <a:ext cx="0" cy="0"/>
          <a:chOff x="0" y="0"/>
          <a:chExt cx="0" cy="0"/>
        </a:xfrm>
      </p:grpSpPr>
      <p:sp>
        <p:nvSpPr>
          <p:cNvPr id="21" name="Google Shape;21;p3"/>
          <p:cNvSpPr txBox="1"/>
          <p:nvPr>
            <p:ph idx="10" type="dt"/>
          </p:nvPr>
        </p:nvSpPr>
        <p:spPr>
          <a:xfrm>
            <a:off x="457200" y="6172201"/>
            <a:ext cx="3429000" cy="304800"/>
          </a:xfrm>
          <a:prstGeom prst="rect">
            <a:avLst/>
          </a:prstGeom>
          <a:noFill/>
          <a:ln>
            <a:noFill/>
          </a:ln>
        </p:spPr>
        <p:txBody>
          <a:bodyPr anchorCtr="0" anchor="b" bIns="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57200" y="6492875"/>
            <a:ext cx="3429000" cy="28384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rot="-5400000">
            <a:off x="8044814" y="683895"/>
            <a:ext cx="131572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p:nvPr>
            <p:ph idx="2" type="pic"/>
          </p:nvPr>
        </p:nvSpPr>
        <p:spPr>
          <a:xfrm>
            <a:off x="457199" y="1122386"/>
            <a:ext cx="8062913" cy="3500071"/>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rgbClr val="6CB255"/>
              </a:buClr>
              <a:buSzPts val="2000"/>
              <a:buFont typeface="Arial"/>
              <a:buNone/>
              <a:defRPr b="0" i="0" sz="2000" u="none" cap="none" strike="noStrike">
                <a:solidFill>
                  <a:schemeClr val="dk1"/>
                </a:solidFill>
                <a:latin typeface="Arial"/>
                <a:ea typeface="Arial"/>
                <a:cs typeface="Arial"/>
                <a:sym typeface="Arial"/>
              </a:defRPr>
            </a:lvl1pPr>
            <a:lvl2pPr lvl="1" marR="0" rtl="0" algn="l">
              <a:spcBef>
                <a:spcPts val="600"/>
              </a:spcBef>
              <a:spcAft>
                <a:spcPts val="0"/>
              </a:spcAft>
              <a:buClr>
                <a:srgbClr val="6CB255"/>
              </a:buClr>
              <a:buSzPts val="2000"/>
              <a:buFont typeface="Arial"/>
              <a:buChar char="•"/>
              <a:defRPr b="0" i="0" sz="2000" u="none" cap="none" strike="noStrike">
                <a:solidFill>
                  <a:srgbClr val="000000"/>
                </a:solidFill>
                <a:latin typeface="Arial"/>
                <a:ea typeface="Arial"/>
                <a:cs typeface="Arial"/>
                <a:sym typeface="Arial"/>
              </a:defRPr>
            </a:lvl2pPr>
            <a:lvl3pPr lvl="2"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3pPr>
            <a:lvl4pPr lvl="3"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4pPr>
            <a:lvl5pPr lvl="4"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5pPr>
            <a:lvl6pPr lvl="5"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lvl="6"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lvl="7"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lvl="8"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6" name="Google Shape;26;p3"/>
          <p:cNvSpPr txBox="1"/>
          <p:nvPr>
            <p:ph idx="1" type="body"/>
          </p:nvPr>
        </p:nvSpPr>
        <p:spPr>
          <a:xfrm>
            <a:off x="457200" y="4843982"/>
            <a:ext cx="8062912" cy="1166382"/>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6CB255"/>
              </a:buClr>
              <a:buSzPts val="2000"/>
              <a:buNone/>
              <a:defRPr>
                <a:solidFill>
                  <a:srgbClr val="000000"/>
                </a:solidFill>
              </a:defRPr>
            </a:lvl1pPr>
            <a:lvl2pPr indent="-355600" lvl="1" marL="914400" algn="l">
              <a:spcBef>
                <a:spcPts val="600"/>
              </a:spcBef>
              <a:spcAft>
                <a:spcPts val="0"/>
              </a:spcAft>
              <a:buClr>
                <a:srgbClr val="6CB255"/>
              </a:buClr>
              <a:buSzPts val="2000"/>
              <a:buFont typeface="Arial Black"/>
              <a:buAutoNum type="alphaLcParenR"/>
              <a:defRPr>
                <a:solidFill>
                  <a:schemeClr val="dk1"/>
                </a:solidFill>
              </a:defRPr>
            </a:lvl2pPr>
            <a:lvl3pPr indent="-342900" lvl="2" marL="1371600" algn="l">
              <a:spcBef>
                <a:spcPts val="360"/>
              </a:spcBef>
              <a:spcAft>
                <a:spcPts val="0"/>
              </a:spcAft>
              <a:buClr>
                <a:srgbClr val="6CB255"/>
              </a:buClr>
              <a:buSzPts val="1800"/>
              <a:buFont typeface="Arial Black"/>
              <a:buAutoNum type="alphaLcParenR"/>
              <a:defRPr>
                <a:solidFill>
                  <a:schemeClr val="dk1"/>
                </a:solidFill>
              </a:defRPr>
            </a:lvl3pPr>
            <a:lvl4pPr indent="-342900" lvl="3" marL="1828800" algn="l">
              <a:spcBef>
                <a:spcPts val="360"/>
              </a:spcBef>
              <a:spcAft>
                <a:spcPts val="0"/>
              </a:spcAft>
              <a:buClr>
                <a:srgbClr val="6CB255"/>
              </a:buClr>
              <a:buSzPts val="1800"/>
              <a:buFont typeface="Arial Black"/>
              <a:buAutoNum type="alphaLcParenR"/>
              <a:defRPr>
                <a:solidFill>
                  <a:schemeClr val="dk1"/>
                </a:solidFill>
              </a:defRPr>
            </a:lvl4pPr>
            <a:lvl5pPr indent="-342900" lvl="4" marL="2286000" algn="l">
              <a:spcBef>
                <a:spcPts val="360"/>
              </a:spcBef>
              <a:spcAft>
                <a:spcPts val="0"/>
              </a:spcAft>
              <a:buClr>
                <a:srgbClr val="6CB255"/>
              </a:buClr>
              <a:buSzPts val="1800"/>
              <a:buFont typeface="Arial Black"/>
              <a:buAutoNum type="alphaLcParenR"/>
              <a:defRPr>
                <a:solidFill>
                  <a:schemeClr val="dk1"/>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showMasterSp="0">
  <p:cSld name="Two Content">
    <p:spTree>
      <p:nvGrpSpPr>
        <p:cNvPr id="27" name="Shape 27"/>
        <p:cNvGrpSpPr/>
        <p:nvPr/>
      </p:nvGrpSpPr>
      <p:grpSpPr>
        <a:xfrm>
          <a:off x="0" y="0"/>
          <a:ext cx="0" cy="0"/>
          <a:chOff x="0" y="0"/>
          <a:chExt cx="0" cy="0"/>
        </a:xfrm>
      </p:grpSpPr>
      <p:sp>
        <p:nvSpPr>
          <p:cNvPr id="28" name="Google Shape;28;p4"/>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0" type="dt"/>
          </p:nvPr>
        </p:nvSpPr>
        <p:spPr>
          <a:xfrm>
            <a:off x="457200" y="6172201"/>
            <a:ext cx="3429000" cy="304800"/>
          </a:xfrm>
          <a:prstGeom prst="rect">
            <a:avLst/>
          </a:prstGeom>
          <a:noFill/>
          <a:ln>
            <a:noFill/>
          </a:ln>
        </p:spPr>
        <p:txBody>
          <a:bodyPr anchorCtr="0" anchor="b" bIns="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57200" y="6492875"/>
            <a:ext cx="3429000" cy="28384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rot="-5400000">
            <a:off x="8044814" y="683895"/>
            <a:ext cx="131572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4"/>
          <p:cNvSpPr/>
          <p:nvPr>
            <p:ph idx="2" type="pic"/>
          </p:nvPr>
        </p:nvSpPr>
        <p:spPr>
          <a:xfrm>
            <a:off x="457199" y="1107618"/>
            <a:ext cx="4031619" cy="4607689"/>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rgbClr val="6CB255"/>
              </a:buClr>
              <a:buSzPts val="2000"/>
              <a:buFont typeface="Arial"/>
              <a:buNone/>
              <a:defRPr b="0" i="0" sz="2000" u="none" cap="none" strike="noStrike">
                <a:solidFill>
                  <a:schemeClr val="dk1"/>
                </a:solidFill>
                <a:latin typeface="Arial"/>
                <a:ea typeface="Arial"/>
                <a:cs typeface="Arial"/>
                <a:sym typeface="Arial"/>
              </a:defRPr>
            </a:lvl1pPr>
            <a:lvl2pPr lvl="1" marR="0" rtl="0" algn="l">
              <a:spcBef>
                <a:spcPts val="600"/>
              </a:spcBef>
              <a:spcAft>
                <a:spcPts val="0"/>
              </a:spcAft>
              <a:buClr>
                <a:srgbClr val="6CB255"/>
              </a:buClr>
              <a:buSzPts val="2000"/>
              <a:buFont typeface="Arial"/>
              <a:buChar char="•"/>
              <a:defRPr b="0" i="0" sz="2000" u="none" cap="none" strike="noStrike">
                <a:solidFill>
                  <a:srgbClr val="000000"/>
                </a:solidFill>
                <a:latin typeface="Arial"/>
                <a:ea typeface="Arial"/>
                <a:cs typeface="Arial"/>
                <a:sym typeface="Arial"/>
              </a:defRPr>
            </a:lvl2pPr>
            <a:lvl3pPr lvl="2"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3pPr>
            <a:lvl4pPr lvl="3"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4pPr>
            <a:lvl5pPr lvl="4"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5pPr>
            <a:lvl6pPr lvl="5"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lvl="6"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lvl="7"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lvl="8"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33" name="Google Shape;33;p4"/>
          <p:cNvSpPr txBox="1"/>
          <p:nvPr>
            <p:ph idx="1" type="body"/>
          </p:nvPr>
        </p:nvSpPr>
        <p:spPr>
          <a:xfrm>
            <a:off x="4606925" y="1107618"/>
            <a:ext cx="3913188" cy="4607382"/>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rgbClr val="6CB255"/>
              </a:buClr>
              <a:buSzPts val="2000"/>
              <a:buNone/>
              <a:defRPr>
                <a:solidFill>
                  <a:srgbClr val="212F62"/>
                </a:solidFill>
              </a:defRPr>
            </a:lvl1pPr>
            <a:lvl2pPr indent="-355600" lvl="1" marL="914400" algn="l">
              <a:spcBef>
                <a:spcPts val="600"/>
              </a:spcBef>
              <a:spcAft>
                <a:spcPts val="0"/>
              </a:spcAft>
              <a:buClr>
                <a:srgbClr val="6CB255"/>
              </a:buClr>
              <a:buSzPts val="2000"/>
              <a:buFont typeface="Arial Black"/>
              <a:buAutoNum type="alphaLcParenR"/>
              <a:defRPr>
                <a:solidFill>
                  <a:schemeClr val="dk1"/>
                </a:solidFill>
              </a:defRPr>
            </a:lvl2pPr>
            <a:lvl3pPr indent="-342900" lvl="2" marL="1371600" algn="l">
              <a:spcBef>
                <a:spcPts val="360"/>
              </a:spcBef>
              <a:spcAft>
                <a:spcPts val="0"/>
              </a:spcAft>
              <a:buClr>
                <a:srgbClr val="6CB255"/>
              </a:buClr>
              <a:buSzPts val="1800"/>
              <a:buFont typeface="Arial Black"/>
              <a:buAutoNum type="alphaLcParenR"/>
              <a:defRPr>
                <a:solidFill>
                  <a:schemeClr val="dk1"/>
                </a:solidFill>
              </a:defRPr>
            </a:lvl3pPr>
            <a:lvl4pPr indent="-342900" lvl="3" marL="1828800" algn="l">
              <a:spcBef>
                <a:spcPts val="360"/>
              </a:spcBef>
              <a:spcAft>
                <a:spcPts val="0"/>
              </a:spcAft>
              <a:buClr>
                <a:srgbClr val="6CB255"/>
              </a:buClr>
              <a:buSzPts val="1800"/>
              <a:buFont typeface="Arial Black"/>
              <a:buAutoNum type="alphaLcParenR"/>
              <a:defRPr>
                <a:solidFill>
                  <a:schemeClr val="dk1"/>
                </a:solidFill>
              </a:defRPr>
            </a:lvl4pPr>
            <a:lvl5pPr indent="-342900" lvl="4" marL="2286000" algn="l">
              <a:spcBef>
                <a:spcPts val="360"/>
              </a:spcBef>
              <a:spcAft>
                <a:spcPts val="0"/>
              </a:spcAft>
              <a:buClr>
                <a:srgbClr val="6CB255"/>
              </a:buClr>
              <a:buSzPts val="1800"/>
              <a:buFont typeface="Arial Black"/>
              <a:buAutoNum type="alphaLcParenR"/>
              <a:defRPr>
                <a:solidFill>
                  <a:schemeClr val="dk1"/>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showMasterSp="0">
  <p:cSld name="Content with Caption">
    <p:spTree>
      <p:nvGrpSpPr>
        <p:cNvPr id="34" name="Shape 34"/>
        <p:cNvGrpSpPr/>
        <p:nvPr/>
      </p:nvGrpSpPr>
      <p:grpSpPr>
        <a:xfrm>
          <a:off x="0" y="0"/>
          <a:ext cx="0" cy="0"/>
          <a:chOff x="0" y="0"/>
          <a:chExt cx="0" cy="0"/>
        </a:xfrm>
      </p:grpSpPr>
      <p:sp>
        <p:nvSpPr>
          <p:cNvPr id="35" name="Google Shape;35;p5"/>
          <p:cNvSpPr txBox="1"/>
          <p:nvPr>
            <p:ph idx="1" type="body"/>
          </p:nvPr>
        </p:nvSpPr>
        <p:spPr>
          <a:xfrm>
            <a:off x="3575050" y="1600200"/>
            <a:ext cx="5111750" cy="4480560"/>
          </a:xfrm>
          <a:prstGeom prst="rect">
            <a:avLst/>
          </a:prstGeom>
          <a:noFill/>
          <a:ln>
            <a:noFill/>
          </a:ln>
        </p:spPr>
        <p:txBody>
          <a:bodyPr anchorCtr="0" anchor="t" bIns="45700" lIns="91425" spcFirstLastPara="1" rIns="91425" wrap="square" tIns="45700">
            <a:noAutofit/>
          </a:bodyPr>
          <a:lstStyle>
            <a:lvl1pPr indent="-228600" lvl="0" marL="457200" algn="l">
              <a:spcBef>
                <a:spcPts val="640"/>
              </a:spcBef>
              <a:spcAft>
                <a:spcPts val="0"/>
              </a:spcAft>
              <a:buSzPts val="3200"/>
              <a:buNone/>
              <a:defRPr sz="3200"/>
            </a:lvl1pPr>
            <a:lvl2pPr indent="-406400" lvl="1" marL="914400" algn="l">
              <a:spcBef>
                <a:spcPts val="600"/>
              </a:spcBef>
              <a:spcAft>
                <a:spcPts val="0"/>
              </a:spcAft>
              <a:buSzPts val="2800"/>
              <a:buFont typeface="Arial Black"/>
              <a:buAutoNum type="alphaLcParenR"/>
              <a:defRPr sz="2800"/>
            </a:lvl2pPr>
            <a:lvl3pPr indent="-381000" lvl="2" marL="1371600" algn="l">
              <a:spcBef>
                <a:spcPts val="480"/>
              </a:spcBef>
              <a:spcAft>
                <a:spcPts val="0"/>
              </a:spcAft>
              <a:buSzPts val="2400"/>
              <a:buFont typeface="Arial Black"/>
              <a:buAutoNum type="alphaLcParenR"/>
              <a:defRPr sz="2400"/>
            </a:lvl3pPr>
            <a:lvl4pPr indent="-355600" lvl="3" marL="1828800" algn="l">
              <a:spcBef>
                <a:spcPts val="400"/>
              </a:spcBef>
              <a:spcAft>
                <a:spcPts val="0"/>
              </a:spcAft>
              <a:buSzPts val="2000"/>
              <a:buFont typeface="Arial Black"/>
              <a:buAutoNum type="alphaLcParenR"/>
              <a:defRPr sz="2000"/>
            </a:lvl4pPr>
            <a:lvl5pPr indent="-355600" lvl="4" marL="2286000" algn="l">
              <a:spcBef>
                <a:spcPts val="400"/>
              </a:spcBef>
              <a:spcAft>
                <a:spcPts val="0"/>
              </a:spcAft>
              <a:buSzPts val="2000"/>
              <a:buFont typeface="Arial Black"/>
              <a:buAutoNum type="alphaLcParen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36" name="Google Shape;36;p5"/>
          <p:cNvSpPr txBox="1"/>
          <p:nvPr>
            <p:ph idx="2" type="body"/>
          </p:nvPr>
        </p:nvSpPr>
        <p:spPr>
          <a:xfrm>
            <a:off x="457200" y="1600200"/>
            <a:ext cx="3008313" cy="4480560"/>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SzPts val="1600"/>
              <a:buNone/>
              <a:defRPr sz="1600"/>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37" name="Google Shape;37;p5"/>
          <p:cNvSpPr txBox="1"/>
          <p:nvPr>
            <p:ph idx="10" type="dt"/>
          </p:nvPr>
        </p:nvSpPr>
        <p:spPr>
          <a:xfrm>
            <a:off x="457200" y="6172201"/>
            <a:ext cx="3429000" cy="304800"/>
          </a:xfrm>
          <a:prstGeom prst="rect">
            <a:avLst/>
          </a:prstGeom>
          <a:noFill/>
          <a:ln>
            <a:noFill/>
          </a:ln>
        </p:spPr>
        <p:txBody>
          <a:bodyPr anchorCtr="0" anchor="b" bIns="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57200" y="6492875"/>
            <a:ext cx="3429000" cy="28384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rot="-5400000">
            <a:off x="8044814" y="683895"/>
            <a:ext cx="131572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5"/>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6CB25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152718"/>
            <a:ext cx="5791200" cy="1371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rgbClr val="6CB255"/>
              </a:buClr>
              <a:buSzPts val="2400"/>
              <a:buFont typeface="Arial Black"/>
              <a:buNone/>
              <a:defRPr b="0" i="0" sz="2400" u="none" cap="none" strike="noStrike">
                <a:solidFill>
                  <a:srgbClr val="6CB255"/>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752600"/>
            <a:ext cx="7620000" cy="43735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6CB255"/>
              </a:buClr>
              <a:buSzPts val="2000"/>
              <a:buFont typeface="Arial"/>
              <a:buNone/>
              <a:defRPr b="0" i="0" sz="2000" u="none" cap="none" strike="noStrike">
                <a:solidFill>
                  <a:schemeClr val="dk1"/>
                </a:solidFill>
                <a:latin typeface="Arial"/>
                <a:ea typeface="Arial"/>
                <a:cs typeface="Arial"/>
                <a:sym typeface="Arial"/>
              </a:defRPr>
            </a:lvl1pPr>
            <a:lvl2pPr indent="-355600" lvl="1" marL="914400" marR="0" rtl="0" algn="l">
              <a:spcBef>
                <a:spcPts val="600"/>
              </a:spcBef>
              <a:spcAft>
                <a:spcPts val="0"/>
              </a:spcAft>
              <a:buClr>
                <a:srgbClr val="6CB255"/>
              </a:buClr>
              <a:buSzPts val="2000"/>
              <a:buFont typeface="Arial"/>
              <a:buChar char="•"/>
              <a:defRPr b="0" i="0" sz="2000" u="none" cap="none" strike="noStrike">
                <a:solidFill>
                  <a:srgbClr val="000000"/>
                </a:solidFill>
                <a:latin typeface="Arial"/>
                <a:ea typeface="Arial"/>
                <a:cs typeface="Arial"/>
                <a:sym typeface="Arial"/>
              </a:defRPr>
            </a:lvl2pPr>
            <a:lvl3pPr indent="-342900" lvl="2" marL="1371600"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3pPr>
            <a:lvl4pPr indent="-342900" lvl="3" marL="1828800"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4pPr>
            <a:lvl5pPr indent="-342900" lvl="4" marL="2286000" marR="0" rtl="0" algn="l">
              <a:spcBef>
                <a:spcPts val="360"/>
              </a:spcBef>
              <a:spcAft>
                <a:spcPts val="0"/>
              </a:spcAft>
              <a:buClr>
                <a:srgbClr val="6CB255"/>
              </a:buClr>
              <a:buSzPts val="1800"/>
              <a:buFont typeface="Arial"/>
              <a:buChar char="•"/>
              <a:defRPr b="0" i="0" sz="1800" u="none" cap="none" strike="noStrike">
                <a:solidFill>
                  <a:srgbClr val="000000"/>
                </a:solidFill>
                <a:latin typeface="Arial"/>
                <a:ea typeface="Arial"/>
                <a:cs typeface="Arial"/>
                <a:sym typeface="Arial"/>
              </a:defRPr>
            </a:lvl5pPr>
            <a:lvl6pPr indent="-330200" lvl="5" marL="27432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172201"/>
            <a:ext cx="3429000" cy="304800"/>
          </a:xfrm>
          <a:prstGeom prst="rect">
            <a:avLst/>
          </a:prstGeom>
          <a:noFill/>
          <a:ln>
            <a:noFill/>
          </a:ln>
        </p:spPr>
        <p:txBody>
          <a:bodyPr anchorCtr="0" anchor="b" bIns="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57200" y="6492875"/>
            <a:ext cx="3429000" cy="28384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rot="-5400000">
            <a:off x="8044814" y="683895"/>
            <a:ext cx="131572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2400" u="none" cap="none" strike="noStrike">
                <a:solidFill>
                  <a:srgbClr val="FFFFFF"/>
                </a:solidFill>
                <a:latin typeface="Arial"/>
                <a:ea typeface="Arial"/>
                <a:cs typeface="Arial"/>
                <a:sym typeface="Arial"/>
              </a:defRPr>
            </a:lvl1pPr>
            <a:lvl2pPr indent="0" lvl="1" marL="0" marR="0" rtl="0" algn="r">
              <a:spcBef>
                <a:spcPts val="0"/>
              </a:spcBef>
              <a:buNone/>
              <a:defRPr b="1" i="0" sz="2400" u="none" cap="none" strike="noStrike">
                <a:solidFill>
                  <a:srgbClr val="FFFFFF"/>
                </a:solidFill>
                <a:latin typeface="Arial"/>
                <a:ea typeface="Arial"/>
                <a:cs typeface="Arial"/>
                <a:sym typeface="Arial"/>
              </a:defRPr>
            </a:lvl2pPr>
            <a:lvl3pPr indent="0" lvl="2" marL="0" marR="0" rtl="0" algn="r">
              <a:spcBef>
                <a:spcPts val="0"/>
              </a:spcBef>
              <a:buNone/>
              <a:defRPr b="1" i="0" sz="2400" u="none" cap="none" strike="noStrike">
                <a:solidFill>
                  <a:srgbClr val="FFFFFF"/>
                </a:solidFill>
                <a:latin typeface="Arial"/>
                <a:ea typeface="Arial"/>
                <a:cs typeface="Arial"/>
                <a:sym typeface="Arial"/>
              </a:defRPr>
            </a:lvl3pPr>
            <a:lvl4pPr indent="0" lvl="3" marL="0" marR="0" rtl="0" algn="r">
              <a:spcBef>
                <a:spcPts val="0"/>
              </a:spcBef>
              <a:buNone/>
              <a:defRPr b="1" i="0" sz="2400" u="none" cap="none" strike="noStrike">
                <a:solidFill>
                  <a:srgbClr val="FFFFFF"/>
                </a:solidFill>
                <a:latin typeface="Arial"/>
                <a:ea typeface="Arial"/>
                <a:cs typeface="Arial"/>
                <a:sym typeface="Arial"/>
              </a:defRPr>
            </a:lvl4pPr>
            <a:lvl5pPr indent="0" lvl="4" marL="0" marR="0" rtl="0" algn="r">
              <a:spcBef>
                <a:spcPts val="0"/>
              </a:spcBef>
              <a:buNone/>
              <a:defRPr b="1" i="0" sz="2400" u="none" cap="none" strike="noStrike">
                <a:solidFill>
                  <a:srgbClr val="FFFFFF"/>
                </a:solidFill>
                <a:latin typeface="Arial"/>
                <a:ea typeface="Arial"/>
                <a:cs typeface="Arial"/>
                <a:sym typeface="Arial"/>
              </a:defRPr>
            </a:lvl5pPr>
            <a:lvl6pPr indent="0" lvl="5" marL="0" marR="0" rtl="0" algn="r">
              <a:spcBef>
                <a:spcPts val="0"/>
              </a:spcBef>
              <a:buNone/>
              <a:defRPr b="1" i="0" sz="2400" u="none" cap="none" strike="noStrike">
                <a:solidFill>
                  <a:srgbClr val="FFFFFF"/>
                </a:solidFill>
                <a:latin typeface="Arial"/>
                <a:ea typeface="Arial"/>
                <a:cs typeface="Arial"/>
                <a:sym typeface="Arial"/>
              </a:defRPr>
            </a:lvl6pPr>
            <a:lvl7pPr indent="0" lvl="6" marL="0" marR="0" rtl="0" algn="r">
              <a:spcBef>
                <a:spcPts val="0"/>
              </a:spcBef>
              <a:buNone/>
              <a:defRPr b="1" i="0" sz="2400" u="none" cap="none" strike="noStrike">
                <a:solidFill>
                  <a:srgbClr val="FFFFFF"/>
                </a:solidFill>
                <a:latin typeface="Arial"/>
                <a:ea typeface="Arial"/>
                <a:cs typeface="Arial"/>
                <a:sym typeface="Arial"/>
              </a:defRPr>
            </a:lvl7pPr>
            <a:lvl8pPr indent="0" lvl="7" marL="0" marR="0" rtl="0" algn="r">
              <a:spcBef>
                <a:spcPts val="0"/>
              </a:spcBef>
              <a:buNone/>
              <a:defRPr b="1" i="0" sz="2400" u="none" cap="none" strike="noStrike">
                <a:solidFill>
                  <a:srgbClr val="FFFFFF"/>
                </a:solidFill>
                <a:latin typeface="Arial"/>
                <a:ea typeface="Arial"/>
                <a:cs typeface="Arial"/>
                <a:sym typeface="Arial"/>
              </a:defRPr>
            </a:lvl8pPr>
            <a:lvl9pPr indent="0" lvl="8" marL="0" marR="0" rtl="0" algn="r">
              <a:spcBef>
                <a:spcPts val="0"/>
              </a:spcBef>
              <a:buNone/>
              <a:defRPr b="1" i="0" sz="24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5.png"/><Relationship Id="rId5"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jp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jp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jp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jp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jp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jp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Sp="0">
  <p:cSld>
    <p:spTree>
      <p:nvGrpSpPr>
        <p:cNvPr id="44" name="Shape 44"/>
        <p:cNvGrpSpPr/>
        <p:nvPr/>
      </p:nvGrpSpPr>
      <p:grpSpPr>
        <a:xfrm>
          <a:off x="0" y="0"/>
          <a:ext cx="0" cy="0"/>
          <a:chOff x="0" y="0"/>
          <a:chExt cx="0" cy="0"/>
        </a:xfrm>
      </p:grpSpPr>
      <p:sp>
        <p:nvSpPr>
          <p:cNvPr id="45" name="Google Shape;45;p6"/>
          <p:cNvSpPr txBox="1"/>
          <p:nvPr/>
        </p:nvSpPr>
        <p:spPr>
          <a:xfrm>
            <a:off x="0" y="789677"/>
            <a:ext cx="9144000" cy="7091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6CB255"/>
              </a:buClr>
              <a:buSzPts val="3600"/>
              <a:buFont typeface="Arial Black"/>
              <a:buNone/>
            </a:pPr>
            <a:r>
              <a:rPr b="0" i="0" lang="en-US" sz="3600" u="none" cap="none" strike="noStrike">
                <a:solidFill>
                  <a:srgbClr val="6CB255"/>
                </a:solidFill>
                <a:latin typeface="Arial Black"/>
                <a:ea typeface="Arial Black"/>
                <a:cs typeface="Arial Black"/>
                <a:sym typeface="Arial Black"/>
              </a:rPr>
              <a:t>PSYCHOLOGY</a:t>
            </a:r>
            <a:endParaRPr/>
          </a:p>
          <a:p>
            <a:pPr indent="0" lvl="0" marL="0" marR="0" rtl="0" algn="ctr">
              <a:spcBef>
                <a:spcPts val="0"/>
              </a:spcBef>
              <a:spcAft>
                <a:spcPts val="0"/>
              </a:spcAft>
              <a:buClr>
                <a:srgbClr val="6CB255"/>
              </a:buClr>
              <a:buSzPts val="1800"/>
              <a:buFont typeface="Arial Black"/>
              <a:buNone/>
            </a:pPr>
            <a:r>
              <a:t/>
            </a:r>
            <a:endParaRPr b="0" i="0" sz="1800" u="none" cap="none" strike="noStrike">
              <a:solidFill>
                <a:srgbClr val="EAF1DD"/>
              </a:solidFill>
              <a:latin typeface="Arial"/>
              <a:ea typeface="Arial"/>
              <a:cs typeface="Arial"/>
              <a:sym typeface="Arial"/>
            </a:endParaRPr>
          </a:p>
          <a:p>
            <a:pPr indent="0" lvl="0" marL="0" marR="0" rtl="0" algn="ctr">
              <a:spcBef>
                <a:spcPts val="0"/>
              </a:spcBef>
              <a:spcAft>
                <a:spcPts val="0"/>
              </a:spcAft>
              <a:buClr>
                <a:srgbClr val="212F62"/>
              </a:buClr>
              <a:buSzPts val="2000"/>
              <a:buFont typeface="Arial"/>
              <a:buNone/>
            </a:pPr>
            <a:r>
              <a:rPr b="1" i="0" lang="en-US" sz="2000" u="none" cap="none" strike="noStrike">
                <a:solidFill>
                  <a:srgbClr val="212F62"/>
                </a:solidFill>
                <a:latin typeface="Arial"/>
                <a:ea typeface="Arial"/>
                <a:cs typeface="Arial"/>
                <a:sym typeface="Arial"/>
              </a:rPr>
              <a:t>Chapter 16 THERAPY AND TREATMENT</a:t>
            </a:r>
            <a:endParaRPr/>
          </a:p>
          <a:p>
            <a:pPr indent="0" lvl="0" marL="0" marR="0" rtl="0" algn="ctr">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PowerPoint Image Slideshow</a:t>
            </a:r>
            <a:endParaRPr b="0" i="0" sz="1600" u="none" cap="none" strike="noStrike">
              <a:solidFill>
                <a:schemeClr val="dk1"/>
              </a:solidFill>
              <a:latin typeface="Arial"/>
              <a:ea typeface="Arial"/>
              <a:cs typeface="Arial"/>
              <a:sym typeface="Arial"/>
            </a:endParaRPr>
          </a:p>
        </p:txBody>
      </p:sp>
      <p:pic>
        <p:nvPicPr>
          <p:cNvPr descr="OSC-Stacked-TM-RGB-1.png" id="46" name="Google Shape;46;p6"/>
          <p:cNvPicPr preferRelativeResize="0"/>
          <p:nvPr/>
        </p:nvPicPr>
        <p:blipFill rotWithShape="1">
          <a:blip r:embed="rId3">
            <a:alphaModFix/>
          </a:blip>
          <a:srcRect b="0" l="0" r="0" t="0"/>
          <a:stretch/>
        </p:blipFill>
        <p:spPr>
          <a:xfrm>
            <a:off x="7317311" y="5507235"/>
            <a:ext cx="1507110" cy="1077181"/>
          </a:xfrm>
          <a:prstGeom prst="rect">
            <a:avLst/>
          </a:prstGeom>
          <a:noFill/>
          <a:ln>
            <a:noFill/>
          </a:ln>
        </p:spPr>
      </p:pic>
      <p:pic>
        <p:nvPicPr>
          <p:cNvPr id="47" name="Google Shape;47;p6"/>
          <p:cNvPicPr preferRelativeResize="0"/>
          <p:nvPr/>
        </p:nvPicPr>
        <p:blipFill rotWithShape="1">
          <a:blip r:embed="rId4">
            <a:alphaModFix/>
          </a:blip>
          <a:srcRect b="0" l="0" r="0" t="0"/>
          <a:stretch/>
        </p:blipFill>
        <p:spPr>
          <a:xfrm>
            <a:off x="3562758" y="2518312"/>
            <a:ext cx="2010682" cy="2602059"/>
          </a:xfrm>
          <a:prstGeom prst="rect">
            <a:avLst/>
          </a:prstGeom>
          <a:noFill/>
          <a:ln>
            <a:noFill/>
          </a:ln>
          <a:effectLst>
            <a:reflection blurRad="0" dir="0" dist="0" endA="300" endPos="35000" fadeDir="5400000" kx="0" rotWithShape="0" algn="bl" stA="52000" stPos="0" sy="-100000" ky="0"/>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 name="Shape 51"/>
        <p:cNvGrpSpPr/>
        <p:nvPr/>
      </p:nvGrpSpPr>
      <p:grpSpPr>
        <a:xfrm>
          <a:off x="0" y="0"/>
          <a:ext cx="0" cy="0"/>
          <a:chOff x="0" y="0"/>
          <a:chExt cx="0" cy="0"/>
        </a:xfrm>
      </p:grpSpPr>
      <p:sp>
        <p:nvSpPr>
          <p:cNvPr id="52" name="Google Shape;52;p7"/>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THERAPY &amp; TREATMENT</a:t>
            </a:r>
            <a:endParaRPr/>
          </a:p>
        </p:txBody>
      </p:sp>
      <p:pic>
        <p:nvPicPr>
          <p:cNvPr descr="CNX_Psych_16_00_Therapy.jpg" id="53" name="Google Shape;53;p7"/>
          <p:cNvPicPr preferRelativeResize="0"/>
          <p:nvPr>
            <p:ph idx="2" type="pic"/>
          </p:nvPr>
        </p:nvPicPr>
        <p:blipFill rotWithShape="1">
          <a:blip r:embed="rId3">
            <a:alphaModFix/>
          </a:blip>
          <a:srcRect b="0" l="-13911" r="-13910" t="0"/>
          <a:stretch/>
        </p:blipFill>
        <p:spPr>
          <a:xfrm>
            <a:off x="457199" y="1122386"/>
            <a:ext cx="8062913" cy="3500071"/>
          </a:xfrm>
          <a:prstGeom prst="rect">
            <a:avLst/>
          </a:prstGeom>
          <a:noFill/>
          <a:ln>
            <a:noFill/>
          </a:ln>
        </p:spPr>
      </p:pic>
      <p:sp>
        <p:nvSpPr>
          <p:cNvPr id="54" name="Google Shape;54;p7"/>
          <p:cNvSpPr txBox="1"/>
          <p:nvPr>
            <p:ph idx="1" type="body"/>
          </p:nvPr>
        </p:nvSpPr>
        <p:spPr>
          <a:xfrm>
            <a:off x="457200" y="4843981"/>
            <a:ext cx="8062912" cy="169397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Many forms of therapy have been developed to treat a wide array of problems. These marines who served in Iraq and Afghanistan, together with community mental health volunteers, are part of the Ocean Therapy program at Camp Pendleton, a program in which learning to surf is combined with group discussions. The program helps vets recover, especially vets who suffer from post-traumatic stress disorder (PTSD).</a:t>
            </a:r>
            <a:endParaRPr/>
          </a:p>
        </p:txBody>
      </p:sp>
      <p:pic>
        <p:nvPicPr>
          <p:cNvPr descr="OSC-Stacked-TM-RGB-1.png" id="55" name="Google Shape;55;p7"/>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56" name="Google Shape;56;p7"/>
          <p:cNvSpPr txBox="1"/>
          <p:nvPr/>
        </p:nvSpPr>
        <p:spPr>
          <a:xfrm>
            <a:off x="7902892" y="6369049"/>
            <a:ext cx="123444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00" u="none" cap="none" strike="noStrike">
                <a:solidFill>
                  <a:schemeClr val="dk1"/>
                </a:solidFill>
                <a:latin typeface="Arial"/>
                <a:ea typeface="Arial"/>
                <a:cs typeface="Arial"/>
                <a:sym typeface="Arial"/>
              </a:rPr>
              <a:t>Figure 16.1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8"/>
          <p:cNvSpPr txBox="1"/>
          <p:nvPr>
            <p:ph idx="1" type="body"/>
          </p:nvPr>
        </p:nvSpPr>
        <p:spPr>
          <a:xfrm>
            <a:off x="426720" y="1154243"/>
            <a:ext cx="8260080" cy="5441429"/>
          </a:xfrm>
          <a:prstGeom prst="rect">
            <a:avLst/>
          </a:prstGeom>
          <a:noFill/>
          <a:ln cap="flat" cmpd="sng" w="76200">
            <a:solidFill>
              <a:srgbClr val="6CB255"/>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2000"/>
              <a:buNone/>
            </a:pPr>
            <a:r>
              <a:t/>
            </a:r>
            <a:endParaRPr b="1">
              <a:solidFill>
                <a:srgbClr val="6CB255"/>
              </a:solidFill>
            </a:endParaRPr>
          </a:p>
          <a:p>
            <a:pPr indent="0" lvl="0" marL="0" rtl="0" algn="ctr">
              <a:spcBef>
                <a:spcPts val="1320"/>
              </a:spcBef>
              <a:spcAft>
                <a:spcPts val="0"/>
              </a:spcAft>
              <a:buSzPts val="3600"/>
              <a:buNone/>
            </a:pPr>
            <a:r>
              <a:rPr b="1" lang="en-US" sz="3600">
                <a:solidFill>
                  <a:srgbClr val="6CB255"/>
                </a:solidFill>
              </a:rPr>
              <a:t>MENTAL HEALTH TREATMENT</a:t>
            </a:r>
            <a:endParaRPr>
              <a:solidFill>
                <a:srgbClr val="6CB255"/>
              </a:solidFill>
            </a:endParaRPr>
          </a:p>
          <a:p>
            <a:pPr indent="0" lvl="0" marL="0" rtl="0" algn="ctr">
              <a:spcBef>
                <a:spcPts val="1000"/>
              </a:spcBef>
              <a:spcAft>
                <a:spcPts val="0"/>
              </a:spcAft>
              <a:buSzPts val="2000"/>
              <a:buNone/>
            </a:pPr>
            <a:r>
              <a:t/>
            </a:r>
            <a:endParaRPr b="1">
              <a:solidFill>
                <a:srgbClr val="6CB255"/>
              </a:solidFill>
            </a:endParaRPr>
          </a:p>
          <a:p>
            <a:pPr indent="0" lvl="0" marL="0" rtl="0" algn="ctr">
              <a:spcBef>
                <a:spcPts val="1000"/>
              </a:spcBef>
              <a:spcAft>
                <a:spcPts val="0"/>
              </a:spcAft>
              <a:buSzPts val="2000"/>
              <a:buNone/>
            </a:pPr>
            <a:r>
              <a:rPr b="1" lang="en-US">
                <a:solidFill>
                  <a:srgbClr val="6CB255"/>
                </a:solidFill>
              </a:rPr>
              <a:t>TREATMENT IN THE PAST:</a:t>
            </a:r>
            <a:endParaRPr/>
          </a:p>
          <a:p>
            <a:pPr indent="0" lvl="0" marL="0" rtl="0" algn="ctr">
              <a:spcBef>
                <a:spcPts val="1000"/>
              </a:spcBef>
              <a:spcAft>
                <a:spcPts val="0"/>
              </a:spcAft>
              <a:buSzPts val="2000"/>
              <a:buNone/>
            </a:pPr>
            <a:r>
              <a:rPr lang="en-US">
                <a:solidFill>
                  <a:srgbClr val="6CB255"/>
                </a:solidFill>
              </a:rPr>
              <a:t>SUPERNATURAL PERSPECTIVE</a:t>
            </a:r>
            <a:endParaRPr/>
          </a:p>
          <a:p>
            <a:pPr indent="0" lvl="0" marL="0" rtl="0" algn="ctr">
              <a:spcBef>
                <a:spcPts val="1000"/>
              </a:spcBef>
              <a:spcAft>
                <a:spcPts val="0"/>
              </a:spcAft>
              <a:buSzPts val="2000"/>
              <a:buNone/>
            </a:pPr>
            <a:r>
              <a:rPr lang="en-US">
                <a:solidFill>
                  <a:srgbClr val="6CB255"/>
                </a:solidFill>
              </a:rPr>
              <a:t>ASYLUMS</a:t>
            </a:r>
            <a:endParaRPr/>
          </a:p>
          <a:p>
            <a:pPr indent="0" lvl="0" marL="0" rtl="0" algn="ctr">
              <a:spcBef>
                <a:spcPts val="1000"/>
              </a:spcBef>
              <a:spcAft>
                <a:spcPts val="0"/>
              </a:spcAft>
              <a:buSzPts val="2000"/>
              <a:buNone/>
            </a:pPr>
            <a:r>
              <a:rPr lang="en-US">
                <a:solidFill>
                  <a:srgbClr val="6CB255"/>
                </a:solidFill>
              </a:rPr>
              <a:t>PHILLIPE PINEL</a:t>
            </a:r>
            <a:endParaRPr/>
          </a:p>
          <a:p>
            <a:pPr indent="0" lvl="0" marL="0" rtl="0" algn="ctr">
              <a:spcBef>
                <a:spcPts val="1000"/>
              </a:spcBef>
              <a:spcAft>
                <a:spcPts val="0"/>
              </a:spcAft>
              <a:buSzPts val="2000"/>
              <a:buNone/>
            </a:pPr>
            <a:r>
              <a:rPr lang="en-US">
                <a:solidFill>
                  <a:srgbClr val="6CB255"/>
                </a:solidFill>
              </a:rPr>
              <a:t>DOREOTHEA DIX</a:t>
            </a:r>
            <a:endParaRPr/>
          </a:p>
          <a:p>
            <a:pPr indent="0" lvl="0" marL="0" rtl="0" algn="ctr">
              <a:spcBef>
                <a:spcPts val="1000"/>
              </a:spcBef>
              <a:spcAft>
                <a:spcPts val="0"/>
              </a:spcAft>
              <a:buSzPts val="2000"/>
              <a:buNone/>
            </a:pPr>
            <a:r>
              <a:rPr lang="en-US">
                <a:solidFill>
                  <a:srgbClr val="6CB255"/>
                </a:solidFill>
              </a:rPr>
              <a:t>20</a:t>
            </a:r>
            <a:r>
              <a:rPr baseline="30000" lang="en-US">
                <a:solidFill>
                  <a:srgbClr val="6CB255"/>
                </a:solidFill>
              </a:rPr>
              <a:t>TH</a:t>
            </a:r>
            <a:r>
              <a:rPr lang="en-US">
                <a:solidFill>
                  <a:srgbClr val="6CB255"/>
                </a:solidFill>
              </a:rPr>
              <a:t> CENTURY</a:t>
            </a:r>
            <a:endParaRPr>
              <a:solidFill>
                <a:srgbClr val="6CB255"/>
              </a:solidFill>
            </a:endParaRPr>
          </a:p>
          <a:p>
            <a:pPr indent="0" lvl="0" marL="0" rtl="0" algn="ctr">
              <a:spcBef>
                <a:spcPts val="1000"/>
              </a:spcBef>
              <a:spcAft>
                <a:spcPts val="0"/>
              </a:spcAft>
              <a:buSzPts val="2000"/>
              <a:buNone/>
            </a:pPr>
            <a:r>
              <a:rPr b="1" lang="en-US">
                <a:solidFill>
                  <a:srgbClr val="6CB255"/>
                </a:solidFill>
              </a:rPr>
              <a:t>TREATMENT TODAY</a:t>
            </a:r>
            <a:endParaRPr b="1">
              <a:solidFill>
                <a:srgbClr val="6CB255"/>
              </a:solidFill>
            </a:endParaRPr>
          </a:p>
        </p:txBody>
      </p:sp>
      <p:pic>
        <p:nvPicPr>
          <p:cNvPr descr="OSC-Stacked-TM-RGB-1.png" id="62" name="Google Shape;62;p8"/>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 name="Shape 66"/>
        <p:cNvGrpSpPr/>
        <p:nvPr/>
      </p:nvGrpSpPr>
      <p:grpSpPr>
        <a:xfrm>
          <a:off x="0" y="0"/>
          <a:ext cx="0" cy="0"/>
          <a:chOff x="0" y="0"/>
          <a:chExt cx="0" cy="0"/>
        </a:xfrm>
      </p:grpSpPr>
      <p:sp>
        <p:nvSpPr>
          <p:cNvPr id="67" name="Google Shape;67;p9"/>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MENTAL HEALTH TREATMENT</a:t>
            </a:r>
            <a:endParaRPr/>
          </a:p>
        </p:txBody>
      </p:sp>
      <p:pic>
        <p:nvPicPr>
          <p:cNvPr descr="CNX_Psych_16_01_AdultTreat.jpg" id="68" name="Google Shape;68;p9"/>
          <p:cNvPicPr preferRelativeResize="0"/>
          <p:nvPr>
            <p:ph idx="2" type="pic"/>
          </p:nvPr>
        </p:nvPicPr>
        <p:blipFill rotWithShape="1">
          <a:blip r:embed="rId3">
            <a:alphaModFix/>
          </a:blip>
          <a:srcRect b="0" l="-37672" r="-37672" t="0"/>
          <a:stretch/>
        </p:blipFill>
        <p:spPr>
          <a:xfrm>
            <a:off x="-1082041" y="3113009"/>
            <a:ext cx="7147561" cy="3407899"/>
          </a:xfrm>
          <a:prstGeom prst="rect">
            <a:avLst/>
          </a:prstGeom>
          <a:noFill/>
          <a:ln>
            <a:noFill/>
          </a:ln>
        </p:spPr>
      </p:pic>
      <p:sp>
        <p:nvSpPr>
          <p:cNvPr id="69" name="Google Shape;69;p9"/>
          <p:cNvSpPr txBox="1"/>
          <p:nvPr>
            <p:ph idx="1" type="body"/>
          </p:nvPr>
        </p:nvSpPr>
        <p:spPr>
          <a:xfrm>
            <a:off x="457200" y="1159963"/>
            <a:ext cx="8367221" cy="180245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6CB255"/>
              </a:buClr>
              <a:buSzPts val="1600"/>
              <a:buNone/>
            </a:pPr>
            <a:r>
              <a:rPr lang="en-US" sz="1600"/>
              <a:t>Approximately 19% of U.S. adults, and 13% of adolescents (ages 8-15) experience mental illness in a given year.</a:t>
            </a:r>
            <a:endParaRPr/>
          </a:p>
          <a:p>
            <a:pPr indent="0" lvl="0" marL="0" rtl="0" algn="l">
              <a:lnSpc>
                <a:spcPct val="90000"/>
              </a:lnSpc>
              <a:spcBef>
                <a:spcPts val="920"/>
              </a:spcBef>
              <a:spcAft>
                <a:spcPts val="0"/>
              </a:spcAft>
              <a:buClr>
                <a:srgbClr val="6CB255"/>
              </a:buClr>
              <a:buSzPts val="1600"/>
              <a:buNone/>
            </a:pPr>
            <a:r>
              <a:rPr lang="en-US" sz="1600"/>
              <a:t>The percentage of adults who received mental health treatment in 2004–2008 is shown below. Adults seeking treatment increased slightly from 2004 to 2008.</a:t>
            </a:r>
            <a:endParaRPr/>
          </a:p>
          <a:p>
            <a:pPr indent="0" lvl="0" marL="0" rtl="0" algn="l">
              <a:lnSpc>
                <a:spcPct val="90000"/>
              </a:lnSpc>
              <a:spcBef>
                <a:spcPts val="920"/>
              </a:spcBef>
              <a:spcAft>
                <a:spcPts val="0"/>
              </a:spcAft>
              <a:buClr>
                <a:srgbClr val="6CB255"/>
              </a:buClr>
              <a:buSzPts val="1600"/>
              <a:buNone/>
            </a:pPr>
            <a:r>
              <a:rPr lang="en-US" sz="1600"/>
              <a:t>About one-third to one-half of U.S. adolescents with mental disorders receive treatment, with behavior-related disorders more likely to be treated.</a:t>
            </a:r>
            <a:endParaRPr/>
          </a:p>
          <a:p>
            <a:pPr indent="0" lvl="0" marL="0" rtl="0" algn="l">
              <a:lnSpc>
                <a:spcPct val="90000"/>
              </a:lnSpc>
              <a:spcBef>
                <a:spcPts val="920"/>
              </a:spcBef>
              <a:spcAft>
                <a:spcPts val="0"/>
              </a:spcAft>
              <a:buClr>
                <a:srgbClr val="6CB255"/>
              </a:buClr>
              <a:buSzPts val="1600"/>
              <a:buNone/>
            </a:pPr>
            <a:r>
              <a:t/>
            </a:r>
            <a:endParaRPr sz="1600"/>
          </a:p>
        </p:txBody>
      </p:sp>
      <p:pic>
        <p:nvPicPr>
          <p:cNvPr descr="OSC-Stacked-TM-RGB-1.png" id="70" name="Google Shape;70;p9"/>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71" name="Google Shape;71;p9"/>
          <p:cNvSpPr txBox="1"/>
          <p:nvPr/>
        </p:nvSpPr>
        <p:spPr>
          <a:xfrm>
            <a:off x="640080" y="6374714"/>
            <a:ext cx="106680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16.2</a:t>
            </a:r>
            <a:endParaRPr/>
          </a:p>
        </p:txBody>
      </p:sp>
      <p:pic>
        <p:nvPicPr>
          <p:cNvPr descr="CNX_Psych_16_01_ChildTreat.jpg" id="72" name="Google Shape;72;p9"/>
          <p:cNvPicPr preferRelativeResize="0"/>
          <p:nvPr/>
        </p:nvPicPr>
        <p:blipFill rotWithShape="1">
          <a:blip r:embed="rId5">
            <a:alphaModFix/>
          </a:blip>
          <a:srcRect b="0" l="-19015" r="-19015" t="0"/>
          <a:stretch/>
        </p:blipFill>
        <p:spPr>
          <a:xfrm>
            <a:off x="3749041" y="3108615"/>
            <a:ext cx="6019799" cy="3412293"/>
          </a:xfrm>
          <a:prstGeom prst="rect">
            <a:avLst/>
          </a:prstGeom>
          <a:noFill/>
          <a:ln>
            <a:noFill/>
          </a:ln>
        </p:spPr>
      </p:pic>
      <p:sp>
        <p:nvSpPr>
          <p:cNvPr id="73" name="Google Shape;73;p9"/>
          <p:cNvSpPr txBox="1"/>
          <p:nvPr/>
        </p:nvSpPr>
        <p:spPr>
          <a:xfrm>
            <a:off x="7628311" y="6374714"/>
            <a:ext cx="119611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0"/>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TREATMENT IN THE PAST</a:t>
            </a:r>
            <a:endParaRPr/>
          </a:p>
        </p:txBody>
      </p:sp>
      <p:sp>
        <p:nvSpPr>
          <p:cNvPr id="79" name="Google Shape;79;p10"/>
          <p:cNvSpPr txBox="1"/>
          <p:nvPr>
            <p:ph idx="1" type="body"/>
          </p:nvPr>
        </p:nvSpPr>
        <p:spPr>
          <a:xfrm>
            <a:off x="457199" y="1188719"/>
            <a:ext cx="8367221" cy="138958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Throughout most of history, mental illness was believed to be caused by supernatural forces such as witchcraft or demonic possession. People with mental illnesses at this time were often subjected to cruelty and poor treatment.</a:t>
            </a:r>
            <a:endParaRPr/>
          </a:p>
          <a:p>
            <a:pPr indent="0" lvl="0" marL="0" rtl="0" algn="l">
              <a:spcBef>
                <a:spcPts val="920"/>
              </a:spcBef>
              <a:spcAft>
                <a:spcPts val="0"/>
              </a:spcAft>
              <a:buClr>
                <a:srgbClr val="6CB255"/>
              </a:buClr>
              <a:buSzPts val="1600"/>
              <a:buNone/>
            </a:pPr>
            <a:r>
              <a:rPr b="1" lang="en-US" sz="1600"/>
              <a:t>Treatments aimed at supernatural forces:</a:t>
            </a:r>
            <a:endParaRPr b="1" sz="1600"/>
          </a:p>
        </p:txBody>
      </p:sp>
      <p:pic>
        <p:nvPicPr>
          <p:cNvPr descr="OSC-Stacked-TM-RGB-1.png" id="80" name="Google Shape;80;p10"/>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pic>
        <p:nvPicPr>
          <p:cNvPr id="81" name="Google Shape;81;p10"/>
          <p:cNvPicPr preferRelativeResize="0"/>
          <p:nvPr/>
        </p:nvPicPr>
        <p:blipFill rotWithShape="1">
          <a:blip r:embed="rId4">
            <a:alphaModFix/>
          </a:blip>
          <a:srcRect b="0" l="0" r="0" t="0"/>
          <a:stretch/>
        </p:blipFill>
        <p:spPr>
          <a:xfrm>
            <a:off x="5627843" y="1883513"/>
            <a:ext cx="2997200" cy="4432300"/>
          </a:xfrm>
          <a:prstGeom prst="rect">
            <a:avLst/>
          </a:prstGeom>
          <a:noFill/>
          <a:ln>
            <a:noFill/>
          </a:ln>
        </p:spPr>
      </p:pic>
      <p:sp>
        <p:nvSpPr>
          <p:cNvPr id="82" name="Google Shape;82;p10"/>
          <p:cNvSpPr txBox="1"/>
          <p:nvPr/>
        </p:nvSpPr>
        <p:spPr>
          <a:xfrm>
            <a:off x="457199" y="2398426"/>
            <a:ext cx="4534525" cy="256480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6CB255"/>
              </a:buClr>
              <a:buSzPts val="1600"/>
              <a:buFont typeface="Arial"/>
              <a:buChar char="•"/>
            </a:pPr>
            <a:r>
              <a:rPr b="1" lang="en-US" sz="1600">
                <a:solidFill>
                  <a:schemeClr val="dk1"/>
                </a:solidFill>
                <a:latin typeface="Arial"/>
                <a:ea typeface="Arial"/>
                <a:cs typeface="Arial"/>
                <a:sym typeface="Arial"/>
              </a:rPr>
              <a:t>Exorcism</a:t>
            </a:r>
            <a:r>
              <a:rPr lang="en-US" sz="1600">
                <a:solidFill>
                  <a:schemeClr val="dk1"/>
                </a:solidFill>
                <a:latin typeface="Arial"/>
                <a:ea typeface="Arial"/>
                <a:cs typeface="Arial"/>
                <a:sym typeface="Arial"/>
              </a:rPr>
              <a:t> – involving incantations and prayers said over the individual’s body by a priest/religious figure.</a:t>
            </a:r>
            <a:endParaRPr/>
          </a:p>
          <a:p>
            <a:pPr indent="-285750" lvl="0" marL="285750" marR="0" rtl="0" algn="l">
              <a:spcBef>
                <a:spcPts val="984"/>
              </a:spcBef>
              <a:spcAft>
                <a:spcPts val="0"/>
              </a:spcAft>
              <a:buClr>
                <a:srgbClr val="6CB255"/>
              </a:buClr>
              <a:buSzPts val="1600"/>
              <a:buFont typeface="Arial"/>
              <a:buChar char="•"/>
            </a:pPr>
            <a:r>
              <a:rPr b="1" lang="en-US" sz="1600">
                <a:solidFill>
                  <a:schemeClr val="dk1"/>
                </a:solidFill>
                <a:latin typeface="Arial"/>
                <a:ea typeface="Arial"/>
                <a:cs typeface="Arial"/>
                <a:sym typeface="Arial"/>
              </a:rPr>
              <a:t>Trephining </a:t>
            </a:r>
            <a:r>
              <a:rPr lang="en-US" sz="1600">
                <a:solidFill>
                  <a:schemeClr val="dk1"/>
                </a:solidFill>
                <a:latin typeface="Arial"/>
                <a:ea typeface="Arial"/>
                <a:cs typeface="Arial"/>
                <a:sym typeface="Arial"/>
              </a:rPr>
              <a:t>– a hole was made in the skull to release spirits from the body. This often lead to death.</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Execution or imprisonment - many mentally ill people were burnt at the stake after being accused of witchcraft.</a:t>
            </a:r>
            <a:endParaRPr sz="1600">
              <a:solidFill>
                <a:schemeClr val="dk1"/>
              </a:solidFill>
              <a:latin typeface="Arial"/>
              <a:ea typeface="Arial"/>
              <a:cs typeface="Arial"/>
              <a:sym typeface="Arial"/>
            </a:endParaRPr>
          </a:p>
        </p:txBody>
      </p:sp>
      <p:sp>
        <p:nvSpPr>
          <p:cNvPr id="83" name="Google Shape;83;p10"/>
          <p:cNvSpPr txBox="1"/>
          <p:nvPr/>
        </p:nvSpPr>
        <p:spPr>
          <a:xfrm>
            <a:off x="5741233" y="6315813"/>
            <a:ext cx="2883810"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(Credit: Pinterest – Abnormal psychology)</a:t>
            </a:r>
            <a:endParaRPr sz="1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Google Shape;88;p11"/>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18</a:t>
            </a:r>
            <a:r>
              <a:rPr baseline="30000" lang="en-US"/>
              <a:t>TH</a:t>
            </a:r>
            <a:r>
              <a:rPr lang="en-US"/>
              <a:t> CENTURY</a:t>
            </a:r>
            <a:endParaRPr/>
          </a:p>
        </p:txBody>
      </p:sp>
      <p:pic>
        <p:nvPicPr>
          <p:cNvPr descr="CNX_Psych_16_01_Goya.jpg" id="89" name="Google Shape;89;p11"/>
          <p:cNvPicPr preferRelativeResize="0"/>
          <p:nvPr>
            <p:ph idx="2" type="pic"/>
          </p:nvPr>
        </p:nvPicPr>
        <p:blipFill rotWithShape="1">
          <a:blip r:embed="rId3">
            <a:alphaModFix/>
          </a:blip>
          <a:srcRect b="0" l="-46772" r="-46772" t="0"/>
          <a:stretch/>
        </p:blipFill>
        <p:spPr>
          <a:xfrm>
            <a:off x="1098202" y="3784645"/>
            <a:ext cx="6780908" cy="2943559"/>
          </a:xfrm>
          <a:prstGeom prst="rect">
            <a:avLst/>
          </a:prstGeom>
          <a:noFill/>
          <a:ln>
            <a:noFill/>
          </a:ln>
        </p:spPr>
      </p:pic>
      <p:sp>
        <p:nvSpPr>
          <p:cNvPr id="90" name="Google Shape;90;p11"/>
          <p:cNvSpPr txBox="1"/>
          <p:nvPr>
            <p:ph idx="1" type="body"/>
          </p:nvPr>
        </p:nvSpPr>
        <p:spPr>
          <a:xfrm>
            <a:off x="457199" y="3078643"/>
            <a:ext cx="8367221" cy="8038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This painting by Francisco Goya, called </a:t>
            </a:r>
            <a:r>
              <a:rPr i="1" lang="en-US" sz="1600"/>
              <a:t>The Madhouse</a:t>
            </a:r>
            <a:r>
              <a:rPr lang="en-US" sz="1600"/>
              <a:t>, depicts a mental asylum and its inhabitants in the early 1800s. It portrays those with psychological disorders as victims.</a:t>
            </a:r>
            <a:endParaRPr/>
          </a:p>
        </p:txBody>
      </p:sp>
      <p:pic>
        <p:nvPicPr>
          <p:cNvPr descr="OSC-Stacked-TM-RGB-1.png" id="91" name="Google Shape;91;p11"/>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92" name="Google Shape;92;p11"/>
          <p:cNvSpPr txBox="1"/>
          <p:nvPr/>
        </p:nvSpPr>
        <p:spPr>
          <a:xfrm>
            <a:off x="6561023" y="6435816"/>
            <a:ext cx="1100028"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16.4</a:t>
            </a:r>
            <a:endParaRPr/>
          </a:p>
        </p:txBody>
      </p:sp>
      <p:sp>
        <p:nvSpPr>
          <p:cNvPr id="93" name="Google Shape;93;p11"/>
          <p:cNvSpPr txBox="1"/>
          <p:nvPr/>
        </p:nvSpPr>
        <p:spPr>
          <a:xfrm>
            <a:off x="457200" y="1124262"/>
            <a:ext cx="8367221" cy="195438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By the 18</a:t>
            </a:r>
            <a:r>
              <a:rPr baseline="30000" lang="en-US" sz="1600">
                <a:solidFill>
                  <a:schemeClr val="dk1"/>
                </a:solidFill>
                <a:latin typeface="Arial"/>
                <a:ea typeface="Arial"/>
                <a:cs typeface="Arial"/>
                <a:sym typeface="Arial"/>
              </a:rPr>
              <a:t>th</a:t>
            </a:r>
            <a:r>
              <a:rPr lang="en-US" sz="1600">
                <a:solidFill>
                  <a:schemeClr val="dk1"/>
                </a:solidFill>
                <a:latin typeface="Arial"/>
                <a:ea typeface="Arial"/>
                <a:cs typeface="Arial"/>
                <a:sym typeface="Arial"/>
              </a:rPr>
              <a:t> century, people exhibiting unusual behavior began to be institutionalized </a:t>
            </a:r>
            <a:endParaRPr/>
          </a:p>
          <a:p>
            <a:pPr indent="0" lvl="0" marL="0" marR="0" rtl="0" algn="l">
              <a:spcBef>
                <a:spcPts val="984"/>
              </a:spcBef>
              <a:spcAft>
                <a:spcPts val="0"/>
              </a:spcAft>
              <a:buNone/>
            </a:pPr>
            <a:r>
              <a:rPr b="1" lang="en-US" sz="1600">
                <a:solidFill>
                  <a:schemeClr val="dk1"/>
                </a:solidFill>
                <a:latin typeface="Arial"/>
                <a:ea typeface="Arial"/>
                <a:cs typeface="Arial"/>
                <a:sym typeface="Arial"/>
              </a:rPr>
              <a:t>Asylums </a:t>
            </a:r>
            <a:r>
              <a:rPr lang="en-US" sz="1600">
                <a:solidFill>
                  <a:schemeClr val="dk1"/>
                </a:solidFill>
                <a:latin typeface="Arial"/>
                <a:ea typeface="Arial"/>
                <a:cs typeface="Arial"/>
                <a:sym typeface="Arial"/>
              </a:rPr>
              <a:t>– the first institutions created for the specific purpose of housing people with psychological disorders.</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Focus was ostracizing them from society rather than treatment.</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Individuals often kept in windowless dungeons, chained to beds, little to no contact with caregivers.</a:t>
            </a:r>
            <a:endParaRPr sz="16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Google Shape;98;p12"/>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18</a:t>
            </a:r>
            <a:r>
              <a:rPr baseline="30000" lang="en-US"/>
              <a:t>TH</a:t>
            </a:r>
            <a:r>
              <a:rPr lang="en-US"/>
              <a:t> CENTURY</a:t>
            </a:r>
            <a:endParaRPr/>
          </a:p>
        </p:txBody>
      </p:sp>
      <p:pic>
        <p:nvPicPr>
          <p:cNvPr descr="CNX_Psych_16_01_Pinel.jpg" id="99" name="Google Shape;99;p12"/>
          <p:cNvPicPr preferRelativeResize="0"/>
          <p:nvPr>
            <p:ph idx="2" type="pic"/>
          </p:nvPr>
        </p:nvPicPr>
        <p:blipFill rotWithShape="1">
          <a:blip r:embed="rId3">
            <a:alphaModFix/>
          </a:blip>
          <a:srcRect b="0" l="-29942" r="-29941" t="0"/>
          <a:stretch/>
        </p:blipFill>
        <p:spPr>
          <a:xfrm>
            <a:off x="1997594" y="3493135"/>
            <a:ext cx="7146406" cy="3102220"/>
          </a:xfrm>
          <a:prstGeom prst="rect">
            <a:avLst/>
          </a:prstGeom>
          <a:noFill/>
          <a:ln>
            <a:noFill/>
          </a:ln>
        </p:spPr>
      </p:pic>
      <p:sp>
        <p:nvSpPr>
          <p:cNvPr id="100" name="Google Shape;100;p12"/>
          <p:cNvSpPr txBox="1"/>
          <p:nvPr>
            <p:ph idx="1" type="body"/>
          </p:nvPr>
        </p:nvSpPr>
        <p:spPr>
          <a:xfrm>
            <a:off x="606203" y="3493134"/>
            <a:ext cx="2541731" cy="21731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This painting by Tony Robert-Fleury depicts Dr. Philippe Pinel ordering the removal of chains from patients at the Salpêtrière asylum in Paris.</a:t>
            </a:r>
            <a:endParaRPr/>
          </a:p>
        </p:txBody>
      </p:sp>
      <p:pic>
        <p:nvPicPr>
          <p:cNvPr descr="OSC-Stacked-TM-RGB-1.png" id="101" name="Google Shape;101;p12"/>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102" name="Google Shape;102;p12"/>
          <p:cNvSpPr txBox="1"/>
          <p:nvPr/>
        </p:nvSpPr>
        <p:spPr>
          <a:xfrm>
            <a:off x="8011819" y="6449161"/>
            <a:ext cx="1346367"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16.5</a:t>
            </a:r>
            <a:endParaRPr/>
          </a:p>
        </p:txBody>
      </p:sp>
      <p:sp>
        <p:nvSpPr>
          <p:cNvPr id="103" name="Google Shape;103;p12"/>
          <p:cNvSpPr txBox="1"/>
          <p:nvPr/>
        </p:nvSpPr>
        <p:spPr>
          <a:xfrm>
            <a:off x="457200" y="1104301"/>
            <a:ext cx="8254795" cy="22108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u="sng">
                <a:solidFill>
                  <a:srgbClr val="6CB255"/>
                </a:solidFill>
                <a:latin typeface="Arial"/>
                <a:ea typeface="Arial"/>
                <a:cs typeface="Arial"/>
                <a:sym typeface="Arial"/>
              </a:rPr>
              <a:t>Philippe Pinel (Late 1700s)</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French physician.</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Argued for more humane treatment of the mentally ill.</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Suggested that they be unchained and talked to.</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Implemented in Paris, 1975.</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Patients benefited and many were able to be released from hospital.</a:t>
            </a:r>
            <a:endParaRPr sz="16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 name="Shape 107"/>
        <p:cNvGrpSpPr/>
        <p:nvPr/>
      </p:nvGrpSpPr>
      <p:grpSpPr>
        <a:xfrm>
          <a:off x="0" y="0"/>
          <a:ext cx="0" cy="0"/>
          <a:chOff x="0" y="0"/>
          <a:chExt cx="0" cy="0"/>
        </a:xfrm>
      </p:grpSpPr>
      <p:sp>
        <p:nvSpPr>
          <p:cNvPr id="108" name="Google Shape;108;p13"/>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sz="2400">
                <a:solidFill>
                  <a:srgbClr val="6CB255"/>
                </a:solidFill>
              </a:rPr>
              <a:t>19</a:t>
            </a:r>
            <a:r>
              <a:rPr baseline="30000" lang="en-US" sz="2400">
                <a:solidFill>
                  <a:srgbClr val="6CB255"/>
                </a:solidFill>
              </a:rPr>
              <a:t>TH</a:t>
            </a:r>
            <a:r>
              <a:rPr lang="en-US" sz="2400">
                <a:solidFill>
                  <a:srgbClr val="6CB255"/>
                </a:solidFill>
              </a:rPr>
              <a:t> CENTURY</a:t>
            </a:r>
            <a:endParaRPr sz="2400">
              <a:solidFill>
                <a:srgbClr val="6CB255"/>
              </a:solidFill>
            </a:endParaRPr>
          </a:p>
        </p:txBody>
      </p:sp>
      <p:pic>
        <p:nvPicPr>
          <p:cNvPr descr="CNX_Psych_16_01_Dix.jpg" id="109" name="Google Shape;109;p13"/>
          <p:cNvPicPr preferRelativeResize="0"/>
          <p:nvPr>
            <p:ph idx="2" type="pic"/>
          </p:nvPr>
        </p:nvPicPr>
        <p:blipFill rotWithShape="1">
          <a:blip r:embed="rId3">
            <a:alphaModFix/>
          </a:blip>
          <a:srcRect b="-1802" l="0" r="0" t="-1801"/>
          <a:stretch/>
        </p:blipFill>
        <p:spPr>
          <a:xfrm>
            <a:off x="457200" y="1108075"/>
            <a:ext cx="3500203" cy="5256213"/>
          </a:xfrm>
          <a:prstGeom prst="rect">
            <a:avLst/>
          </a:prstGeom>
          <a:noFill/>
          <a:ln>
            <a:noFill/>
          </a:ln>
        </p:spPr>
      </p:pic>
      <p:sp>
        <p:nvSpPr>
          <p:cNvPr id="110" name="Google Shape;110;p13"/>
          <p:cNvSpPr txBox="1"/>
          <p:nvPr>
            <p:ph idx="1" type="body"/>
          </p:nvPr>
        </p:nvSpPr>
        <p:spPr>
          <a:xfrm>
            <a:off x="4137285" y="1244184"/>
            <a:ext cx="4687136" cy="51204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u="sng">
                <a:solidFill>
                  <a:srgbClr val="6CB255"/>
                </a:solidFill>
              </a:rPr>
              <a:t>Dorothea Dix </a:t>
            </a:r>
            <a:endParaRPr b="1" sz="1600" u="sng">
              <a:solidFill>
                <a:srgbClr val="6CB255"/>
              </a:solidFill>
            </a:endParaRPr>
          </a:p>
          <a:p>
            <a:pPr indent="-285750" lvl="0" marL="285750" rtl="0" algn="l">
              <a:spcBef>
                <a:spcPts val="920"/>
              </a:spcBef>
              <a:spcAft>
                <a:spcPts val="0"/>
              </a:spcAft>
              <a:buSzPts val="1600"/>
              <a:buFont typeface="Arial"/>
              <a:buChar char="•"/>
            </a:pPr>
            <a:r>
              <a:rPr lang="en-US" sz="1600">
                <a:solidFill>
                  <a:schemeClr val="dk1"/>
                </a:solidFill>
              </a:rPr>
              <a:t>A social reformer who became an advocate for the indigent insane.</a:t>
            </a:r>
            <a:endParaRPr/>
          </a:p>
          <a:p>
            <a:pPr indent="-285750" lvl="0" marL="285750" rtl="0" algn="l">
              <a:spcBef>
                <a:spcPts val="920"/>
              </a:spcBef>
              <a:spcAft>
                <a:spcPts val="0"/>
              </a:spcAft>
              <a:buSzPts val="1600"/>
              <a:buFont typeface="Arial"/>
              <a:buChar char="•"/>
            </a:pPr>
            <a:r>
              <a:rPr lang="en-US" sz="1600">
                <a:solidFill>
                  <a:schemeClr val="dk1"/>
                </a:solidFill>
              </a:rPr>
              <a:t>Investigated the state of care for the mentally ill and poor.</a:t>
            </a:r>
            <a:endParaRPr/>
          </a:p>
          <a:p>
            <a:pPr indent="-285750" lvl="0" marL="285750" rtl="0" algn="l">
              <a:spcBef>
                <a:spcPts val="920"/>
              </a:spcBef>
              <a:spcAft>
                <a:spcPts val="0"/>
              </a:spcAft>
              <a:buSzPts val="1600"/>
              <a:buFont typeface="Arial"/>
              <a:buChar char="•"/>
            </a:pPr>
            <a:r>
              <a:rPr lang="en-US" sz="1600">
                <a:solidFill>
                  <a:schemeClr val="dk1"/>
                </a:solidFill>
              </a:rPr>
              <a:t>Discovered an underfunded and unregulated system that perpetuated abuse of the mentally ill.</a:t>
            </a:r>
            <a:endParaRPr/>
          </a:p>
          <a:p>
            <a:pPr indent="-285750" lvl="0" marL="285750" rtl="0" algn="l">
              <a:spcBef>
                <a:spcPts val="920"/>
              </a:spcBef>
              <a:spcAft>
                <a:spcPts val="0"/>
              </a:spcAft>
              <a:buSzPts val="1600"/>
              <a:buFont typeface="Arial"/>
              <a:buChar char="•"/>
            </a:pPr>
            <a:r>
              <a:rPr lang="en-US" sz="1600">
                <a:solidFill>
                  <a:schemeClr val="dk1"/>
                </a:solidFill>
              </a:rPr>
              <a:t>Instrumental in creating the first American mental asylum - by relentlessly lobbying state legislatures and Congress to set up and fund such institutions.</a:t>
            </a:r>
            <a:endParaRPr/>
          </a:p>
        </p:txBody>
      </p:sp>
      <p:pic>
        <p:nvPicPr>
          <p:cNvPr descr="OSC-Stacked-TM-RGB-1.png" id="111" name="Google Shape;111;p13"/>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112" name="Google Shape;112;p13"/>
          <p:cNvSpPr txBox="1"/>
          <p:nvPr/>
        </p:nvSpPr>
        <p:spPr>
          <a:xfrm>
            <a:off x="457200" y="6364288"/>
            <a:ext cx="134112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14"/>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19</a:t>
            </a:r>
            <a:r>
              <a:rPr baseline="30000" lang="en-US"/>
              <a:t>TH</a:t>
            </a:r>
            <a:r>
              <a:rPr lang="en-US"/>
              <a:t> CENTURY</a:t>
            </a:r>
            <a:endParaRPr/>
          </a:p>
        </p:txBody>
      </p:sp>
      <p:sp>
        <p:nvSpPr>
          <p:cNvPr id="118" name="Google Shape;118;p14"/>
          <p:cNvSpPr txBox="1"/>
          <p:nvPr>
            <p:ph idx="1" type="body"/>
          </p:nvPr>
        </p:nvSpPr>
        <p:spPr>
          <a:xfrm>
            <a:off x="457200" y="1201371"/>
            <a:ext cx="8367221" cy="440494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u="sng">
                <a:solidFill>
                  <a:srgbClr val="6CB255"/>
                </a:solidFill>
              </a:rPr>
              <a:t>American Asylums</a:t>
            </a:r>
            <a:endParaRPr/>
          </a:p>
          <a:p>
            <a:pPr indent="-285750" lvl="0" marL="285750" rtl="0" algn="l">
              <a:spcBef>
                <a:spcPts val="920"/>
              </a:spcBef>
              <a:spcAft>
                <a:spcPts val="0"/>
              </a:spcAft>
              <a:buSzPts val="1600"/>
              <a:buFont typeface="Arial"/>
              <a:buChar char="•"/>
            </a:pPr>
            <a:r>
              <a:rPr lang="en-US" sz="1600"/>
              <a:t>Usually filthy.</a:t>
            </a:r>
            <a:endParaRPr/>
          </a:p>
          <a:p>
            <a:pPr indent="-285750" lvl="0" marL="285750" rtl="0" algn="l">
              <a:spcBef>
                <a:spcPts val="920"/>
              </a:spcBef>
              <a:spcAft>
                <a:spcPts val="0"/>
              </a:spcAft>
              <a:buSzPts val="1600"/>
              <a:buFont typeface="Arial"/>
              <a:buChar char="•"/>
            </a:pPr>
            <a:r>
              <a:rPr lang="en-US" sz="1600"/>
              <a:t>Offered little treatment.</a:t>
            </a:r>
            <a:endParaRPr/>
          </a:p>
          <a:p>
            <a:pPr indent="-285750" lvl="0" marL="285750" rtl="0" algn="l">
              <a:spcBef>
                <a:spcPts val="920"/>
              </a:spcBef>
              <a:spcAft>
                <a:spcPts val="0"/>
              </a:spcAft>
              <a:buSzPts val="1600"/>
              <a:buFont typeface="Arial"/>
              <a:buChar char="•"/>
            </a:pPr>
            <a:r>
              <a:rPr lang="en-US" sz="1600"/>
              <a:t>Individuals were often institutionalized for decades.</a:t>
            </a:r>
            <a:endParaRPr/>
          </a:p>
          <a:p>
            <a:pPr indent="0" lvl="0" marL="0" rtl="0" algn="l">
              <a:spcBef>
                <a:spcPts val="920"/>
              </a:spcBef>
              <a:spcAft>
                <a:spcPts val="0"/>
              </a:spcAft>
              <a:buClr>
                <a:srgbClr val="6CB255"/>
              </a:buClr>
              <a:buSzPts val="1600"/>
              <a:buNone/>
            </a:pPr>
            <a:r>
              <a:rPr b="1" lang="en-US" sz="1600"/>
              <a:t>Treatment:</a:t>
            </a:r>
            <a:endParaRPr/>
          </a:p>
          <a:p>
            <a:pPr indent="-285750" lvl="0" marL="285750" rtl="0" algn="l">
              <a:spcBef>
                <a:spcPts val="920"/>
              </a:spcBef>
              <a:spcAft>
                <a:spcPts val="0"/>
              </a:spcAft>
              <a:buSzPts val="1600"/>
              <a:buFont typeface="Arial"/>
              <a:buChar char="•"/>
            </a:pPr>
            <a:r>
              <a:rPr lang="en-US" sz="1600"/>
              <a:t>Submersion into cold baths for long periods of time.</a:t>
            </a:r>
            <a:endParaRPr/>
          </a:p>
          <a:p>
            <a:pPr indent="-285750" lvl="0" marL="285750" rtl="0" algn="l">
              <a:spcBef>
                <a:spcPts val="920"/>
              </a:spcBef>
              <a:spcAft>
                <a:spcPts val="0"/>
              </a:spcAft>
              <a:buSzPts val="1600"/>
              <a:buFont typeface="Arial"/>
              <a:buChar char="•"/>
            </a:pPr>
            <a:r>
              <a:rPr lang="en-US" sz="1600"/>
              <a:t>Electroshock treatment (now called electroconvulsive therapy) – involves a brief application of electric stimulus to produce a generalized seizure.</a:t>
            </a:r>
            <a:endParaRPr/>
          </a:p>
          <a:p>
            <a:pPr indent="0" lvl="0" marL="0" rtl="0" algn="l">
              <a:spcBef>
                <a:spcPts val="920"/>
              </a:spcBef>
              <a:spcAft>
                <a:spcPts val="0"/>
              </a:spcAft>
              <a:buClr>
                <a:srgbClr val="6CB255"/>
              </a:buClr>
              <a:buSzPts val="1600"/>
              <a:buNone/>
            </a:pPr>
            <a:r>
              <a:rPr lang="en-US" sz="1600"/>
              <a:t>Conditions such us these were common until well into the 20</a:t>
            </a:r>
            <a:r>
              <a:rPr baseline="30000" lang="en-US" sz="1600"/>
              <a:t>th</a:t>
            </a:r>
            <a:r>
              <a:rPr lang="en-US" sz="1600"/>
              <a:t> century.</a:t>
            </a:r>
            <a:endParaRPr sz="1600"/>
          </a:p>
        </p:txBody>
      </p:sp>
      <p:pic>
        <p:nvPicPr>
          <p:cNvPr descr="OSC-Stacked-TM-RGB-1.png" id="119" name="Google Shape;119;p14"/>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sp>
        <p:nvSpPr>
          <p:cNvPr id="124" name="Google Shape;124;p15"/>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20</a:t>
            </a:r>
            <a:r>
              <a:rPr baseline="30000" lang="en-US"/>
              <a:t>TH</a:t>
            </a:r>
            <a:r>
              <a:rPr lang="en-US"/>
              <a:t> CENTURY</a:t>
            </a:r>
            <a:endParaRPr/>
          </a:p>
        </p:txBody>
      </p:sp>
      <p:sp>
        <p:nvSpPr>
          <p:cNvPr id="125" name="Google Shape;125;p15"/>
          <p:cNvSpPr txBox="1"/>
          <p:nvPr>
            <p:ph idx="1" type="body"/>
          </p:nvPr>
        </p:nvSpPr>
        <p:spPr>
          <a:xfrm>
            <a:off x="457199" y="1124262"/>
            <a:ext cx="8367221" cy="505168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a:t>1954</a:t>
            </a:r>
            <a:r>
              <a:rPr lang="en-US" sz="1600"/>
              <a:t> - antipsychotic medications were introduced.</a:t>
            </a:r>
            <a:endParaRPr/>
          </a:p>
          <a:p>
            <a:pPr indent="-285750" lvl="0" marL="285750" rtl="0" algn="l">
              <a:spcBef>
                <a:spcPts val="920"/>
              </a:spcBef>
              <a:spcAft>
                <a:spcPts val="0"/>
              </a:spcAft>
              <a:buSzPts val="1600"/>
              <a:buFont typeface="Arial"/>
              <a:buChar char="•"/>
            </a:pPr>
            <a:r>
              <a:rPr lang="en-US" sz="1600"/>
              <a:t>Proved successful in treating symptoms of psychosis.</a:t>
            </a:r>
            <a:endParaRPr/>
          </a:p>
          <a:p>
            <a:pPr indent="-285750" lvl="0" marL="285750" rtl="0" algn="l">
              <a:spcBef>
                <a:spcPts val="920"/>
              </a:spcBef>
              <a:spcAft>
                <a:spcPts val="0"/>
              </a:spcAft>
              <a:buSzPts val="1600"/>
              <a:buFont typeface="Arial"/>
              <a:buChar char="•"/>
            </a:pPr>
            <a:r>
              <a:rPr lang="en-US" sz="1600"/>
              <a:t>Psychosis was a common diagnosis, evidenced by symptoms such as hallucinations and delusions, indicating a loss of contact with reality.</a:t>
            </a:r>
            <a:endParaRPr/>
          </a:p>
          <a:p>
            <a:pPr indent="0" lvl="0" marL="0" rtl="0" algn="l">
              <a:spcBef>
                <a:spcPts val="920"/>
              </a:spcBef>
              <a:spcAft>
                <a:spcPts val="0"/>
              </a:spcAft>
              <a:buClr>
                <a:srgbClr val="6CB255"/>
              </a:buClr>
              <a:buSzPts val="1600"/>
              <a:buNone/>
            </a:pPr>
            <a:r>
              <a:rPr b="1" lang="en-US" sz="1600"/>
              <a:t>1975</a:t>
            </a:r>
            <a:r>
              <a:rPr lang="en-US" sz="1600"/>
              <a:t> - Mental Retardation Facilities &amp; Community Mental Health Centers Construction Act</a:t>
            </a:r>
            <a:endParaRPr/>
          </a:p>
          <a:p>
            <a:pPr indent="-285750" lvl="0" marL="285750" rtl="0" algn="l">
              <a:spcBef>
                <a:spcPts val="920"/>
              </a:spcBef>
              <a:spcAft>
                <a:spcPts val="0"/>
              </a:spcAft>
              <a:buSzPts val="1600"/>
              <a:buFont typeface="Arial"/>
              <a:buChar char="•"/>
            </a:pPr>
            <a:r>
              <a:rPr lang="en-US" sz="1600"/>
              <a:t>Provided federal support and funding for community mental health centers.</a:t>
            </a:r>
            <a:endParaRPr/>
          </a:p>
          <a:p>
            <a:pPr indent="-285750" lvl="0" marL="285750" rtl="0" algn="l">
              <a:spcBef>
                <a:spcPts val="920"/>
              </a:spcBef>
              <a:spcAft>
                <a:spcPts val="0"/>
              </a:spcAft>
              <a:buSzPts val="1600"/>
              <a:buFont typeface="Arial"/>
              <a:buChar char="•"/>
            </a:pPr>
            <a:r>
              <a:rPr lang="en-US" sz="1600"/>
              <a:t>Started the process of deinstitutionalization.</a:t>
            </a:r>
            <a:endParaRPr/>
          </a:p>
          <a:p>
            <a:pPr indent="0" lvl="0" marL="0" rtl="0" algn="l">
              <a:spcBef>
                <a:spcPts val="920"/>
              </a:spcBef>
              <a:spcAft>
                <a:spcPts val="0"/>
              </a:spcAft>
              <a:buClr>
                <a:srgbClr val="6CB255"/>
              </a:buClr>
              <a:buSzPts val="1600"/>
              <a:buNone/>
            </a:pPr>
            <a:r>
              <a:rPr b="1" lang="en-US" sz="1600"/>
              <a:t>Deinstitutionalization</a:t>
            </a:r>
            <a:r>
              <a:rPr lang="en-US" sz="1600"/>
              <a:t> – the closing of large asylums, by providing for people to stay in their communities and be treated locally </a:t>
            </a:r>
            <a:endParaRPr/>
          </a:p>
          <a:p>
            <a:pPr indent="-285750" lvl="0" marL="285750" rtl="0" algn="l">
              <a:spcBef>
                <a:spcPts val="920"/>
              </a:spcBef>
              <a:spcAft>
                <a:spcPts val="0"/>
              </a:spcAft>
              <a:buSzPts val="1600"/>
              <a:buFont typeface="Arial"/>
              <a:buChar char="•"/>
            </a:pPr>
            <a:r>
              <a:rPr lang="en-US" sz="1600"/>
              <a:t>Patients were released but the new system was not set up effectively.</a:t>
            </a:r>
            <a:endParaRPr/>
          </a:p>
          <a:p>
            <a:pPr indent="-285750" lvl="0" marL="285750" rtl="0" algn="l">
              <a:spcBef>
                <a:spcPts val="920"/>
              </a:spcBef>
              <a:spcAft>
                <a:spcPts val="0"/>
              </a:spcAft>
              <a:buSzPts val="1600"/>
              <a:buFont typeface="Arial"/>
              <a:buChar char="•"/>
            </a:pPr>
            <a:r>
              <a:rPr lang="en-US" sz="1600"/>
              <a:t>Centers were underfunded, staff untrained to handle severe mental illnesses.</a:t>
            </a:r>
            <a:endParaRPr/>
          </a:p>
          <a:p>
            <a:pPr indent="-285750" lvl="0" marL="285750" rtl="0" algn="l">
              <a:spcBef>
                <a:spcPts val="920"/>
              </a:spcBef>
              <a:spcAft>
                <a:spcPts val="0"/>
              </a:spcAft>
              <a:buSzPts val="1600"/>
              <a:buFont typeface="Arial"/>
              <a:buChar char="•"/>
            </a:pPr>
            <a:r>
              <a:rPr lang="en-US" sz="1600"/>
              <a:t>Lead to an increase in homelessness.</a:t>
            </a:r>
            <a:endParaRPr/>
          </a:p>
        </p:txBody>
      </p:sp>
      <p:pic>
        <p:nvPicPr>
          <p:cNvPr descr="OSC-Stacked-TM-RGB-1.png" id="126" name="Google Shape;126;p15"/>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MENTAL HEALTH TREATMENT TODAY</a:t>
            </a:r>
            <a:endParaRPr/>
          </a:p>
        </p:txBody>
      </p:sp>
      <p:pic>
        <p:nvPicPr>
          <p:cNvPr descr="CNX_Psych_16_01_Homeless.jpg" id="132" name="Google Shape;132;p16"/>
          <p:cNvPicPr preferRelativeResize="0"/>
          <p:nvPr>
            <p:ph idx="2" type="pic"/>
          </p:nvPr>
        </p:nvPicPr>
        <p:blipFill rotWithShape="1">
          <a:blip r:embed="rId3">
            <a:alphaModFix/>
          </a:blip>
          <a:srcRect b="0" l="-8300" r="-8299" t="0"/>
          <a:stretch/>
        </p:blipFill>
        <p:spPr>
          <a:xfrm>
            <a:off x="508766" y="2852261"/>
            <a:ext cx="8062913" cy="3500071"/>
          </a:xfrm>
          <a:prstGeom prst="rect">
            <a:avLst/>
          </a:prstGeom>
          <a:noFill/>
          <a:ln>
            <a:noFill/>
          </a:ln>
        </p:spPr>
      </p:pic>
      <p:sp>
        <p:nvSpPr>
          <p:cNvPr id="133" name="Google Shape;133;p16"/>
          <p:cNvSpPr txBox="1"/>
          <p:nvPr>
            <p:ph idx="1" type="body"/>
          </p:nvPr>
        </p:nvSpPr>
        <p:spPr>
          <a:xfrm>
            <a:off x="508765" y="1176015"/>
            <a:ext cx="8315655" cy="158407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Mental illness among the homeless population is still common today.</a:t>
            </a:r>
            <a:endParaRPr/>
          </a:p>
          <a:p>
            <a:pPr indent="-342900" lvl="0" marL="342900" rtl="0" algn="l">
              <a:spcBef>
                <a:spcPts val="920"/>
              </a:spcBef>
              <a:spcAft>
                <a:spcPts val="0"/>
              </a:spcAft>
              <a:buSzPts val="1600"/>
              <a:buAutoNum type="alphaLcParenBoth"/>
            </a:pPr>
            <a:r>
              <a:rPr lang="en-US" sz="1600"/>
              <a:t>Of the homeless individuals in U.S. shelters, about one-quarter have a severe mental illness (HUD, 2011).</a:t>
            </a:r>
            <a:endParaRPr sz="1600">
              <a:solidFill>
                <a:srgbClr val="72A510"/>
              </a:solidFill>
            </a:endParaRPr>
          </a:p>
          <a:p>
            <a:pPr indent="-342900" lvl="0" marL="342900" rtl="0" algn="l">
              <a:spcBef>
                <a:spcPts val="920"/>
              </a:spcBef>
              <a:spcAft>
                <a:spcPts val="0"/>
              </a:spcAft>
              <a:buSzPts val="1600"/>
              <a:buAutoNum type="alphaLcParenBoth"/>
            </a:pPr>
            <a:r>
              <a:rPr lang="en-US" sz="1600"/>
              <a:t>Correctional institutions also report a high number of individuals living with mental illness. </a:t>
            </a:r>
            <a:endParaRPr/>
          </a:p>
        </p:txBody>
      </p:sp>
      <p:pic>
        <p:nvPicPr>
          <p:cNvPr descr="OSC-Stacked-TM-RGB-1.png" id="134" name="Google Shape;134;p16"/>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135" name="Google Shape;135;p16"/>
          <p:cNvSpPr txBox="1"/>
          <p:nvPr/>
        </p:nvSpPr>
        <p:spPr>
          <a:xfrm>
            <a:off x="457199" y="6352332"/>
            <a:ext cx="8062913"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16.7 (credit a: modification of work by C.G.P. Grey; credit b: modification of work by Bart Everson)</a:t>
            </a:r>
            <a:endParaRPr sz="13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7"/>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MENTAL HEALTH TREATMENT TODAY</a:t>
            </a:r>
            <a:endParaRPr/>
          </a:p>
        </p:txBody>
      </p:sp>
      <p:sp>
        <p:nvSpPr>
          <p:cNvPr id="141" name="Google Shape;141;p17"/>
          <p:cNvSpPr txBox="1"/>
          <p:nvPr>
            <p:ph idx="1" type="body"/>
          </p:nvPr>
        </p:nvSpPr>
        <p:spPr>
          <a:xfrm>
            <a:off x="457199" y="1109273"/>
            <a:ext cx="8367221" cy="56213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Asylums have since been replaced with psychiatric hospitals and local community hospitals focused on short-term care.</a:t>
            </a:r>
            <a:endParaRPr/>
          </a:p>
          <a:p>
            <a:pPr indent="-285750" lvl="0" marL="285750" rtl="0" algn="l">
              <a:spcBef>
                <a:spcPts val="920"/>
              </a:spcBef>
              <a:spcAft>
                <a:spcPts val="0"/>
              </a:spcAft>
              <a:buSzPts val="1600"/>
              <a:buFont typeface="Arial"/>
              <a:buChar char="•"/>
            </a:pPr>
            <a:r>
              <a:rPr lang="en-US" sz="1600"/>
              <a:t>Emphasis on short-term stays (average stay is less than two weeks).</a:t>
            </a:r>
            <a:endParaRPr/>
          </a:p>
          <a:p>
            <a:pPr indent="-285750" lvl="1" marL="1017270" rtl="0" algn="l">
              <a:spcBef>
                <a:spcPts val="920"/>
              </a:spcBef>
              <a:spcAft>
                <a:spcPts val="0"/>
              </a:spcAft>
              <a:buSzPts val="1600"/>
              <a:buFont typeface="Arial"/>
              <a:buChar char="•"/>
            </a:pPr>
            <a:r>
              <a:rPr lang="en-US" sz="1600"/>
              <a:t>Due to high costs of psychiatric hospitalization - Insurance coverage often limits length of time individuals can be hospitalized.</a:t>
            </a:r>
            <a:endParaRPr/>
          </a:p>
          <a:p>
            <a:pPr indent="-285750" lvl="0" marL="285750" rtl="0" algn="l">
              <a:spcBef>
                <a:spcPts val="320"/>
              </a:spcBef>
              <a:spcAft>
                <a:spcPts val="0"/>
              </a:spcAft>
              <a:buSzPts val="1600"/>
              <a:buFont typeface="Arial"/>
              <a:buChar char="•"/>
            </a:pPr>
            <a:r>
              <a:rPr lang="en-US" sz="1600"/>
              <a:t>Individuals are usually only hospitalized if they are an imminent threat to themselves or others.</a:t>
            </a:r>
            <a:endParaRPr/>
          </a:p>
          <a:p>
            <a:pPr indent="0" lvl="0" marL="0" rtl="0" algn="l">
              <a:spcBef>
                <a:spcPts val="920"/>
              </a:spcBef>
              <a:spcAft>
                <a:spcPts val="0"/>
              </a:spcAft>
              <a:buClr>
                <a:srgbClr val="6CB255"/>
              </a:buClr>
              <a:buSzPts val="1600"/>
              <a:buNone/>
            </a:pPr>
            <a:r>
              <a:rPr lang="en-US" sz="1600"/>
              <a:t>Most people are not hospitalized but can still seek psychological treatment.</a:t>
            </a:r>
            <a:endParaRPr/>
          </a:p>
          <a:p>
            <a:pPr indent="0" lvl="0" marL="0" rtl="0" algn="l">
              <a:spcBef>
                <a:spcPts val="920"/>
              </a:spcBef>
              <a:spcAft>
                <a:spcPts val="0"/>
              </a:spcAft>
              <a:buClr>
                <a:srgbClr val="6CB255"/>
              </a:buClr>
              <a:buSzPts val="1600"/>
              <a:buNone/>
            </a:pPr>
            <a:r>
              <a:rPr b="1" lang="en-US" sz="1600"/>
              <a:t>Involuntary treatment </a:t>
            </a:r>
            <a:r>
              <a:rPr lang="en-US" sz="1600"/>
              <a:t>– therapy that is not the individuals choice.</a:t>
            </a:r>
            <a:endParaRPr/>
          </a:p>
          <a:p>
            <a:pPr indent="-285750" lvl="0" marL="285750" rtl="0" algn="l">
              <a:spcBef>
                <a:spcPts val="920"/>
              </a:spcBef>
              <a:spcAft>
                <a:spcPts val="0"/>
              </a:spcAft>
              <a:buSzPts val="1600"/>
              <a:buFont typeface="Arial"/>
              <a:buChar char="•"/>
            </a:pPr>
            <a:r>
              <a:rPr lang="en-US" sz="1600"/>
              <a:t>E.g. weekly counseling sessions might be a condition of parole.</a:t>
            </a:r>
            <a:endParaRPr/>
          </a:p>
          <a:p>
            <a:pPr indent="0" lvl="0" marL="0" rtl="0" algn="l">
              <a:spcBef>
                <a:spcPts val="920"/>
              </a:spcBef>
              <a:spcAft>
                <a:spcPts val="0"/>
              </a:spcAft>
              <a:buClr>
                <a:srgbClr val="6CB255"/>
              </a:buClr>
              <a:buSzPts val="1600"/>
              <a:buNone/>
            </a:pPr>
            <a:r>
              <a:rPr b="1" lang="en-US" sz="1600"/>
              <a:t>Voluntary treatment </a:t>
            </a:r>
            <a:r>
              <a:rPr lang="en-US" sz="1600"/>
              <a:t>– the person chooses to attend therapy to obtain relief from symptoms.</a:t>
            </a:r>
            <a:endParaRPr/>
          </a:p>
          <a:p>
            <a:pPr indent="0" lvl="0" marL="0" rtl="0" algn="l">
              <a:spcBef>
                <a:spcPts val="920"/>
              </a:spcBef>
              <a:spcAft>
                <a:spcPts val="0"/>
              </a:spcAft>
              <a:buClr>
                <a:srgbClr val="6CB255"/>
              </a:buClr>
              <a:buSzPts val="1600"/>
              <a:buNone/>
            </a:pPr>
            <a:r>
              <a:rPr b="1" lang="en-US" sz="1600"/>
              <a:t>Sources of psychological treatment </a:t>
            </a:r>
            <a:r>
              <a:rPr lang="en-US" sz="1600"/>
              <a:t>– community mental health centers, private or community practitioners, school counselors, school psychologists or school social workers, group therapy.</a:t>
            </a:r>
            <a:endParaRPr/>
          </a:p>
          <a:p>
            <a:pPr indent="0" lvl="0" marL="0" rtl="0" algn="l">
              <a:spcBef>
                <a:spcPts val="920"/>
              </a:spcBef>
              <a:spcAft>
                <a:spcPts val="0"/>
              </a:spcAft>
              <a:buClr>
                <a:srgbClr val="6CB255"/>
              </a:buClr>
              <a:buSzPts val="1600"/>
              <a:buNone/>
            </a:pPr>
            <a:r>
              <a:rPr lang="en-US" sz="1600"/>
              <a:t>Treatment providers include psychologists, psychiatrists, clinical social workers, marriage and family therapists.</a:t>
            </a:r>
            <a:endParaRPr/>
          </a:p>
        </p:txBody>
      </p:sp>
      <p:pic>
        <p:nvPicPr>
          <p:cNvPr descr="OSC-Stacked-TM-RGB-1.png" id="142" name="Google Shape;142;p17"/>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sp>
        <p:nvSpPr>
          <p:cNvPr id="147" name="Google Shape;147;p18"/>
          <p:cNvSpPr txBox="1"/>
          <p:nvPr>
            <p:ph idx="1" type="body"/>
          </p:nvPr>
        </p:nvSpPr>
        <p:spPr>
          <a:xfrm>
            <a:off x="441959" y="1127760"/>
            <a:ext cx="8382461" cy="5410200"/>
          </a:xfrm>
          <a:prstGeom prst="rect">
            <a:avLst/>
          </a:prstGeom>
          <a:noFill/>
          <a:ln cap="flat" cmpd="sng" w="76200">
            <a:solidFill>
              <a:srgbClr val="6CB255"/>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2000"/>
              <a:buNone/>
            </a:pPr>
            <a:r>
              <a:t/>
            </a:r>
            <a:endParaRPr b="1">
              <a:solidFill>
                <a:srgbClr val="6CB255"/>
              </a:solidFill>
            </a:endParaRPr>
          </a:p>
          <a:p>
            <a:pPr indent="0" lvl="0" marL="0" rtl="0" algn="ctr">
              <a:spcBef>
                <a:spcPts val="1320"/>
              </a:spcBef>
              <a:spcAft>
                <a:spcPts val="0"/>
              </a:spcAft>
              <a:buSzPts val="3600"/>
              <a:buNone/>
            </a:pPr>
            <a:r>
              <a:rPr b="1" lang="en-US" sz="3600">
                <a:solidFill>
                  <a:srgbClr val="6CB255"/>
                </a:solidFill>
              </a:rPr>
              <a:t>TYPES OF TREATMENT</a:t>
            </a:r>
            <a:endParaRPr/>
          </a:p>
          <a:p>
            <a:pPr indent="0" lvl="0" marL="0" rtl="0" algn="ctr">
              <a:spcBef>
                <a:spcPts val="1000"/>
              </a:spcBef>
              <a:spcAft>
                <a:spcPts val="0"/>
              </a:spcAft>
              <a:buSzPts val="2000"/>
              <a:buNone/>
            </a:pPr>
            <a:r>
              <a:t/>
            </a:r>
            <a:endParaRPr>
              <a:solidFill>
                <a:srgbClr val="6CB255"/>
              </a:solidFill>
            </a:endParaRPr>
          </a:p>
          <a:p>
            <a:pPr indent="0" lvl="0" marL="0" rtl="0" algn="ctr">
              <a:spcBef>
                <a:spcPts val="1000"/>
              </a:spcBef>
              <a:spcAft>
                <a:spcPts val="0"/>
              </a:spcAft>
              <a:buSzPts val="2000"/>
              <a:buNone/>
            </a:pPr>
            <a:r>
              <a:rPr lang="en-US">
                <a:solidFill>
                  <a:srgbClr val="6CB255"/>
                </a:solidFill>
              </a:rPr>
              <a:t>PSYCHOANALYSIS</a:t>
            </a:r>
            <a:endParaRPr/>
          </a:p>
          <a:p>
            <a:pPr indent="0" lvl="0" marL="0" rtl="0" algn="ctr">
              <a:spcBef>
                <a:spcPts val="1000"/>
              </a:spcBef>
              <a:spcAft>
                <a:spcPts val="0"/>
              </a:spcAft>
              <a:buSzPts val="2000"/>
              <a:buNone/>
            </a:pPr>
            <a:r>
              <a:rPr lang="en-US">
                <a:solidFill>
                  <a:srgbClr val="6CB255"/>
                </a:solidFill>
              </a:rPr>
              <a:t>PLAY THERAPY</a:t>
            </a:r>
            <a:endParaRPr/>
          </a:p>
          <a:p>
            <a:pPr indent="0" lvl="0" marL="0" rtl="0" algn="ctr">
              <a:spcBef>
                <a:spcPts val="1000"/>
              </a:spcBef>
              <a:spcAft>
                <a:spcPts val="0"/>
              </a:spcAft>
              <a:buSzPts val="2000"/>
              <a:buNone/>
            </a:pPr>
            <a:r>
              <a:rPr lang="en-US">
                <a:solidFill>
                  <a:srgbClr val="6CB255"/>
                </a:solidFill>
              </a:rPr>
              <a:t>BEHAVIOR THERAPY</a:t>
            </a:r>
            <a:endParaRPr/>
          </a:p>
          <a:p>
            <a:pPr indent="0" lvl="0" marL="0" rtl="0" algn="ctr">
              <a:spcBef>
                <a:spcPts val="1000"/>
              </a:spcBef>
              <a:spcAft>
                <a:spcPts val="0"/>
              </a:spcAft>
              <a:buSzPts val="2000"/>
              <a:buNone/>
            </a:pPr>
            <a:r>
              <a:rPr lang="en-US">
                <a:solidFill>
                  <a:srgbClr val="6CB255"/>
                </a:solidFill>
              </a:rPr>
              <a:t>COGNITIVE THERAPY</a:t>
            </a:r>
            <a:endParaRPr/>
          </a:p>
          <a:p>
            <a:pPr indent="0" lvl="0" marL="0" rtl="0" algn="ctr">
              <a:spcBef>
                <a:spcPts val="1000"/>
              </a:spcBef>
              <a:spcAft>
                <a:spcPts val="0"/>
              </a:spcAft>
              <a:buSzPts val="2000"/>
              <a:buNone/>
            </a:pPr>
            <a:r>
              <a:rPr lang="en-US">
                <a:solidFill>
                  <a:srgbClr val="6CB255"/>
                </a:solidFill>
              </a:rPr>
              <a:t>COGNITIVE-BEHAVIORAL THERAPY</a:t>
            </a:r>
            <a:endParaRPr/>
          </a:p>
          <a:p>
            <a:pPr indent="0" lvl="0" marL="0" rtl="0" algn="ctr">
              <a:spcBef>
                <a:spcPts val="1000"/>
              </a:spcBef>
              <a:spcAft>
                <a:spcPts val="0"/>
              </a:spcAft>
              <a:buSzPts val="2000"/>
              <a:buNone/>
            </a:pPr>
            <a:r>
              <a:rPr lang="en-US">
                <a:solidFill>
                  <a:srgbClr val="6CB255"/>
                </a:solidFill>
              </a:rPr>
              <a:t>HUMANISTIC THERAPY</a:t>
            </a:r>
            <a:endParaRPr/>
          </a:p>
          <a:p>
            <a:pPr indent="0" lvl="0" marL="0" rtl="0" algn="ctr">
              <a:spcBef>
                <a:spcPts val="1000"/>
              </a:spcBef>
              <a:spcAft>
                <a:spcPts val="0"/>
              </a:spcAft>
              <a:buSzPts val="2000"/>
              <a:buNone/>
            </a:pPr>
            <a:r>
              <a:rPr lang="en-US">
                <a:solidFill>
                  <a:srgbClr val="6CB255"/>
                </a:solidFill>
              </a:rPr>
              <a:t>BIOMEDICAL THERAPIES</a:t>
            </a:r>
            <a:endParaRPr>
              <a:solidFill>
                <a:srgbClr val="6CB255"/>
              </a:solidFill>
            </a:endParaRPr>
          </a:p>
        </p:txBody>
      </p:sp>
      <p:pic>
        <p:nvPicPr>
          <p:cNvPr descr="OSC-Stacked-TM-RGB-1.png" id="148" name="Google Shape;148;p18"/>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TYPES OF TREATMENT</a:t>
            </a:r>
            <a:endParaRPr/>
          </a:p>
        </p:txBody>
      </p:sp>
      <p:sp>
        <p:nvSpPr>
          <p:cNvPr id="154" name="Google Shape;154;p19"/>
          <p:cNvSpPr txBox="1"/>
          <p:nvPr>
            <p:ph idx="1" type="body"/>
          </p:nvPr>
        </p:nvSpPr>
        <p:spPr>
          <a:xfrm>
            <a:off x="457200" y="1109272"/>
            <a:ext cx="8351520" cy="4590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a:t>Psychotherapy</a:t>
            </a:r>
            <a:r>
              <a:rPr lang="en-US" sz="1600"/>
              <a:t> – psychological treatment that employs various methods to help someone overcome personal problems, or to attain personal growth.</a:t>
            </a:r>
            <a:endParaRPr/>
          </a:p>
          <a:p>
            <a:pPr indent="0" lvl="0" marL="0" rtl="0" algn="l">
              <a:spcBef>
                <a:spcPts val="920"/>
              </a:spcBef>
              <a:spcAft>
                <a:spcPts val="0"/>
              </a:spcAft>
              <a:buClr>
                <a:srgbClr val="6CB255"/>
              </a:buClr>
              <a:buSzPts val="1600"/>
              <a:buNone/>
            </a:pPr>
            <a:r>
              <a:rPr lang="en-US" sz="1600"/>
              <a:t>Biologically based treatments or medications can also be used to treat mental disorders. </a:t>
            </a:r>
            <a:endParaRPr sz="1600"/>
          </a:p>
          <a:p>
            <a:pPr indent="0" lvl="0" marL="0" rtl="0" algn="l">
              <a:spcBef>
                <a:spcPts val="920"/>
              </a:spcBef>
              <a:spcAft>
                <a:spcPts val="0"/>
              </a:spcAft>
              <a:buClr>
                <a:srgbClr val="6CB255"/>
              </a:buClr>
              <a:buSzPts val="1600"/>
              <a:buNone/>
            </a:pPr>
            <a:r>
              <a:rPr b="1" lang="en-US" sz="1600"/>
              <a:t>Biomedical therapy </a:t>
            </a:r>
            <a:r>
              <a:rPr lang="en-US" sz="1600"/>
              <a:t>– involves medication and/or medical procedures to treat psychological disorders.</a:t>
            </a:r>
            <a:endParaRPr sz="1600"/>
          </a:p>
          <a:p>
            <a:pPr indent="-285750" lvl="0" marL="285750" rtl="0" algn="l">
              <a:spcBef>
                <a:spcPts val="920"/>
              </a:spcBef>
              <a:spcAft>
                <a:spcPts val="0"/>
              </a:spcAft>
              <a:buSzPts val="1600"/>
              <a:buFont typeface="Arial"/>
              <a:buChar char="•"/>
            </a:pPr>
            <a:r>
              <a:rPr lang="en-US" sz="1600"/>
              <a:t>Most often used in combination with psychotherapy.</a:t>
            </a:r>
            <a:endParaRPr sz="1600"/>
          </a:p>
        </p:txBody>
      </p:sp>
      <p:pic>
        <p:nvPicPr>
          <p:cNvPr descr="OSC-Stacked-TM-RGB-1.png" id="155" name="Google Shape;155;p19"/>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pic>
        <p:nvPicPr>
          <p:cNvPr id="156" name="Google Shape;156;p19"/>
          <p:cNvPicPr preferRelativeResize="0"/>
          <p:nvPr/>
        </p:nvPicPr>
        <p:blipFill rotWithShape="1">
          <a:blip r:embed="rId4">
            <a:alphaModFix/>
          </a:blip>
          <a:srcRect b="0" l="0" r="0" t="0"/>
          <a:stretch/>
        </p:blipFill>
        <p:spPr>
          <a:xfrm>
            <a:off x="1738859" y="3105309"/>
            <a:ext cx="5609670" cy="3248933"/>
          </a:xfrm>
          <a:prstGeom prst="rect">
            <a:avLst/>
          </a:prstGeom>
          <a:noFill/>
          <a:ln>
            <a:noFill/>
          </a:ln>
        </p:spPr>
      </p:pic>
      <p:sp>
        <p:nvSpPr>
          <p:cNvPr id="157" name="Google Shape;157;p19"/>
          <p:cNvSpPr txBox="1"/>
          <p:nvPr/>
        </p:nvSpPr>
        <p:spPr>
          <a:xfrm>
            <a:off x="3422504" y="6354242"/>
            <a:ext cx="2420911"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(Credit: Cadabams Hospitals)</a:t>
            </a:r>
            <a:endParaRPr sz="12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20"/>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PSYCHOANALYSIS</a:t>
            </a:r>
            <a:endParaRPr/>
          </a:p>
        </p:txBody>
      </p:sp>
      <p:sp>
        <p:nvSpPr>
          <p:cNvPr id="163" name="Google Shape;163;p20"/>
          <p:cNvSpPr txBox="1"/>
          <p:nvPr>
            <p:ph idx="1" type="body"/>
          </p:nvPr>
        </p:nvSpPr>
        <p:spPr>
          <a:xfrm>
            <a:off x="457200" y="1184222"/>
            <a:ext cx="8367221" cy="5673777"/>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Arial"/>
              <a:buChar char="•"/>
            </a:pPr>
            <a:r>
              <a:rPr lang="en-US" sz="1600"/>
              <a:t>First form of psychotherapy, developed by Sigmund Freud in the early 20</a:t>
            </a:r>
            <a:r>
              <a:rPr baseline="30000" lang="en-US" sz="1600"/>
              <a:t>th</a:t>
            </a:r>
            <a:r>
              <a:rPr lang="en-US" sz="1600"/>
              <a:t> century.</a:t>
            </a:r>
            <a:endParaRPr/>
          </a:p>
          <a:p>
            <a:pPr indent="-285750" lvl="0" marL="285750" rtl="0" algn="l">
              <a:spcBef>
                <a:spcPts val="920"/>
              </a:spcBef>
              <a:spcAft>
                <a:spcPts val="0"/>
              </a:spcAft>
              <a:buSzPts val="1600"/>
              <a:buFont typeface="Arial"/>
              <a:buChar char="•"/>
            </a:pPr>
            <a:r>
              <a:rPr lang="en-US" sz="1600"/>
              <a:t>Aimed to help uncover repressed feelings.</a:t>
            </a:r>
            <a:endParaRPr/>
          </a:p>
          <a:p>
            <a:pPr indent="0" lvl="0" marL="0" rtl="0" algn="l">
              <a:spcBef>
                <a:spcPts val="920"/>
              </a:spcBef>
              <a:spcAft>
                <a:spcPts val="0"/>
              </a:spcAft>
              <a:buClr>
                <a:srgbClr val="6CB255"/>
              </a:buClr>
              <a:buSzPts val="1600"/>
              <a:buNone/>
            </a:pPr>
            <a:r>
              <a:rPr b="1" lang="en-US" sz="1600">
                <a:solidFill>
                  <a:srgbClr val="6CB255"/>
                </a:solidFill>
              </a:rPr>
              <a:t>Techniques:</a:t>
            </a:r>
            <a:endParaRPr/>
          </a:p>
          <a:p>
            <a:pPr indent="0" lvl="0" marL="0" rtl="0" algn="l">
              <a:spcBef>
                <a:spcPts val="920"/>
              </a:spcBef>
              <a:spcAft>
                <a:spcPts val="0"/>
              </a:spcAft>
              <a:buClr>
                <a:srgbClr val="6CB255"/>
              </a:buClr>
              <a:buSzPts val="1600"/>
              <a:buNone/>
            </a:pPr>
            <a:r>
              <a:rPr b="1" lang="en-US" sz="1600"/>
              <a:t>Free association </a:t>
            </a:r>
            <a:r>
              <a:rPr lang="en-US" sz="1600"/>
              <a:t>– patient relaxes and then says whatever comes to mind at the moment.</a:t>
            </a:r>
            <a:endParaRPr/>
          </a:p>
          <a:p>
            <a:pPr indent="-285750" lvl="0" marL="285750" rtl="0" algn="l">
              <a:spcBef>
                <a:spcPts val="920"/>
              </a:spcBef>
              <a:spcAft>
                <a:spcPts val="0"/>
              </a:spcAft>
              <a:buSzPts val="1600"/>
              <a:buFont typeface="Arial"/>
              <a:buChar char="•"/>
            </a:pPr>
            <a:r>
              <a:rPr lang="en-US" sz="1600"/>
              <a:t>Freud theorized that the ego would try to block unacceptable urges or painful conflicts during free association causing the patient to demonstrate resistance.</a:t>
            </a:r>
            <a:endParaRPr/>
          </a:p>
          <a:p>
            <a:pPr indent="0" lvl="0" marL="0" rtl="0" algn="l">
              <a:spcBef>
                <a:spcPts val="920"/>
              </a:spcBef>
              <a:spcAft>
                <a:spcPts val="0"/>
              </a:spcAft>
              <a:buClr>
                <a:srgbClr val="6CB255"/>
              </a:buClr>
              <a:buSzPts val="1600"/>
              <a:buNone/>
            </a:pPr>
            <a:r>
              <a:rPr b="1" lang="en-US" sz="1600"/>
              <a:t>Dream analysis </a:t>
            </a:r>
            <a:r>
              <a:rPr lang="en-US" sz="1600"/>
              <a:t>– therapist interprets the underlying meaning of dreams.</a:t>
            </a:r>
            <a:endParaRPr/>
          </a:p>
          <a:p>
            <a:pPr indent="0" lvl="0" marL="0" rtl="0" algn="l">
              <a:spcBef>
                <a:spcPts val="920"/>
              </a:spcBef>
              <a:spcAft>
                <a:spcPts val="0"/>
              </a:spcAft>
              <a:buClr>
                <a:srgbClr val="6CB255"/>
              </a:buClr>
              <a:buSzPts val="1600"/>
              <a:buNone/>
            </a:pPr>
            <a:r>
              <a:rPr b="1" lang="en-US" sz="1600"/>
              <a:t>Transference </a:t>
            </a:r>
            <a:r>
              <a:rPr lang="en-US" sz="1600"/>
              <a:t>– patient transfers all the positive or negative emotions associated with their other relationships to the psychoanalyst.</a:t>
            </a:r>
            <a:endParaRPr/>
          </a:p>
          <a:p>
            <a:pPr indent="0" lvl="0" marL="0" rtl="0" algn="l">
              <a:spcBef>
                <a:spcPts val="920"/>
              </a:spcBef>
              <a:spcAft>
                <a:spcPts val="0"/>
              </a:spcAft>
              <a:buClr>
                <a:srgbClr val="6CB255"/>
              </a:buClr>
              <a:buSzPts val="1600"/>
              <a:buNone/>
            </a:pPr>
            <a:r>
              <a:rPr b="1" lang="en-US" sz="1600">
                <a:solidFill>
                  <a:srgbClr val="6CB255"/>
                </a:solidFill>
              </a:rPr>
              <a:t>Psychoanalysis Today:</a:t>
            </a:r>
            <a:endParaRPr/>
          </a:p>
          <a:p>
            <a:pPr indent="0" lvl="0" marL="0" rtl="0" algn="l">
              <a:spcBef>
                <a:spcPts val="920"/>
              </a:spcBef>
              <a:spcAft>
                <a:spcPts val="0"/>
              </a:spcAft>
              <a:buClr>
                <a:srgbClr val="6CB255"/>
              </a:buClr>
              <a:buSzPts val="1600"/>
              <a:buNone/>
            </a:pPr>
            <a:r>
              <a:rPr lang="en-US" sz="1600"/>
              <a:t>Psychoanalysis is less popular today but Freud’s perspective has been expanded upon by incorporating modern theories and methodology. </a:t>
            </a:r>
            <a:endParaRPr/>
          </a:p>
          <a:p>
            <a:pPr indent="0" lvl="0" marL="0" rtl="0" algn="l">
              <a:spcBef>
                <a:spcPts val="920"/>
              </a:spcBef>
              <a:spcAft>
                <a:spcPts val="0"/>
              </a:spcAft>
              <a:buClr>
                <a:srgbClr val="6CB255"/>
              </a:buClr>
              <a:buSzPts val="1600"/>
              <a:buNone/>
            </a:pPr>
            <a:r>
              <a:rPr b="1" lang="en-US" sz="1600"/>
              <a:t>Psychodynamic psychotherapy </a:t>
            </a:r>
            <a:r>
              <a:rPr lang="en-US" sz="1600"/>
              <a:t>- Talk therapy based on belief that the unconscious and childhood conflicts impact behavior.</a:t>
            </a:r>
            <a:endParaRPr/>
          </a:p>
          <a:p>
            <a:pPr indent="0" lvl="0" marL="0" rtl="0" algn="l">
              <a:spcBef>
                <a:spcPts val="920"/>
              </a:spcBef>
              <a:spcAft>
                <a:spcPts val="0"/>
              </a:spcAft>
              <a:buClr>
                <a:srgbClr val="6CB255"/>
              </a:buClr>
              <a:buSzPts val="1600"/>
              <a:buNone/>
            </a:pPr>
            <a:r>
              <a:t/>
            </a:r>
            <a:endParaRPr sz="1600"/>
          </a:p>
        </p:txBody>
      </p:sp>
      <p:pic>
        <p:nvPicPr>
          <p:cNvPr descr="OSC-Stacked-TM-RGB-1.png" id="164" name="Google Shape;164;p20"/>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21"/>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PSYCHOANALYSIS</a:t>
            </a:r>
            <a:endParaRPr/>
          </a:p>
        </p:txBody>
      </p:sp>
      <p:pic>
        <p:nvPicPr>
          <p:cNvPr descr="CNX_Psych_16_02_FreudCouch.jpg" id="170" name="Google Shape;170;p21"/>
          <p:cNvPicPr preferRelativeResize="0"/>
          <p:nvPr>
            <p:ph idx="2" type="pic"/>
          </p:nvPr>
        </p:nvPicPr>
        <p:blipFill rotWithShape="1">
          <a:blip r:embed="rId3">
            <a:alphaModFix/>
          </a:blip>
          <a:srcRect b="0" l="-36475" r="-36475" t="0"/>
          <a:stretch/>
        </p:blipFill>
        <p:spPr>
          <a:xfrm>
            <a:off x="457199" y="2782347"/>
            <a:ext cx="8062913" cy="3500071"/>
          </a:xfrm>
          <a:prstGeom prst="rect">
            <a:avLst/>
          </a:prstGeom>
          <a:noFill/>
          <a:ln>
            <a:noFill/>
          </a:ln>
        </p:spPr>
      </p:pic>
      <p:sp>
        <p:nvSpPr>
          <p:cNvPr id="171" name="Google Shape;171;p21"/>
          <p:cNvSpPr txBox="1"/>
          <p:nvPr>
            <p:ph idx="1" type="body"/>
          </p:nvPr>
        </p:nvSpPr>
        <p:spPr>
          <a:xfrm>
            <a:off x="457199" y="1122387"/>
            <a:ext cx="8367222" cy="16599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This is the famous couch in Freud’s consulting room. Patients were instructed to lie comfortably on the couch and to face away from Freud in order to feel less inhibited and to help them focus. </a:t>
            </a:r>
            <a:endParaRPr sz="1600"/>
          </a:p>
          <a:p>
            <a:pPr indent="0" lvl="0" marL="0" rtl="0" algn="l">
              <a:spcBef>
                <a:spcPts val="920"/>
              </a:spcBef>
              <a:spcAft>
                <a:spcPts val="0"/>
              </a:spcAft>
              <a:buClr>
                <a:srgbClr val="6CB255"/>
              </a:buClr>
              <a:buSzPts val="1600"/>
              <a:buNone/>
            </a:pPr>
            <a:r>
              <a:rPr lang="en-US" sz="1600"/>
              <a:t>Today, a psychotherapy patient is not likely to lie on a couch; instead he is more likely to sit facing the therapist (Prochaska &amp; Norcross, 2010). </a:t>
            </a:r>
            <a:endParaRPr sz="1600"/>
          </a:p>
        </p:txBody>
      </p:sp>
      <p:pic>
        <p:nvPicPr>
          <p:cNvPr descr="OSC-Stacked-TM-RGB-1.png" id="172" name="Google Shape;172;p21"/>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173" name="Google Shape;173;p21"/>
          <p:cNvSpPr txBox="1"/>
          <p:nvPr/>
        </p:nvSpPr>
        <p:spPr>
          <a:xfrm>
            <a:off x="2980045" y="6411770"/>
            <a:ext cx="3405765"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16.9 (credit: Robert Huffstutter)</a:t>
            </a:r>
            <a:endParaRPr sz="13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sp>
        <p:nvSpPr>
          <p:cNvPr id="178" name="Google Shape;178;p22"/>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PLAY THERAPY</a:t>
            </a:r>
            <a:endParaRPr/>
          </a:p>
        </p:txBody>
      </p:sp>
      <p:pic>
        <p:nvPicPr>
          <p:cNvPr descr="CNX_Psych_16_02_Sandtray.jpg" id="179" name="Google Shape;179;p22"/>
          <p:cNvPicPr preferRelativeResize="0"/>
          <p:nvPr>
            <p:ph idx="2" type="pic"/>
          </p:nvPr>
        </p:nvPicPr>
        <p:blipFill rotWithShape="1">
          <a:blip r:embed="rId3">
            <a:alphaModFix/>
          </a:blip>
          <a:srcRect b="0" l="-26906" r="-26905" t="0"/>
          <a:stretch/>
        </p:blipFill>
        <p:spPr>
          <a:xfrm>
            <a:off x="4250012" y="3707547"/>
            <a:ext cx="5675885" cy="2463874"/>
          </a:xfrm>
          <a:prstGeom prst="rect">
            <a:avLst/>
          </a:prstGeom>
          <a:noFill/>
          <a:ln>
            <a:noFill/>
          </a:ln>
        </p:spPr>
      </p:pic>
      <p:sp>
        <p:nvSpPr>
          <p:cNvPr id="180" name="Google Shape;180;p22"/>
          <p:cNvSpPr txBox="1"/>
          <p:nvPr>
            <p:ph idx="1" type="body"/>
          </p:nvPr>
        </p:nvSpPr>
        <p:spPr>
          <a:xfrm>
            <a:off x="457199" y="1124261"/>
            <a:ext cx="8367221" cy="251834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lang="en-US" sz="1600"/>
              <a:t>Psychoanalytical therapy wherein interaction with toys is used instead of talk; used in child therapy.</a:t>
            </a:r>
            <a:endParaRPr/>
          </a:p>
          <a:p>
            <a:pPr indent="-285750" lvl="0" marL="285750" rtl="0" algn="l">
              <a:spcBef>
                <a:spcPts val="700"/>
              </a:spcBef>
              <a:spcAft>
                <a:spcPts val="0"/>
              </a:spcAft>
              <a:buSzPts val="1600"/>
              <a:buFont typeface="Arial"/>
              <a:buChar char="•"/>
            </a:pPr>
            <a:r>
              <a:rPr lang="en-US" sz="1600"/>
              <a:t>Used to help clients prevent/resolve psychosocial difficulties &amp; achieve optimal growth.</a:t>
            </a:r>
            <a:endParaRPr/>
          </a:p>
          <a:p>
            <a:pPr indent="0" lvl="0" marL="0" rtl="0" algn="l">
              <a:spcBef>
                <a:spcPts val="700"/>
              </a:spcBef>
              <a:spcAft>
                <a:spcPts val="0"/>
              </a:spcAft>
              <a:buSzPts val="1600"/>
              <a:buNone/>
            </a:pPr>
            <a:r>
              <a:rPr b="1" lang="en-US" sz="1600">
                <a:solidFill>
                  <a:srgbClr val="6CB255"/>
                </a:solidFill>
              </a:rPr>
              <a:t>Techniques:</a:t>
            </a:r>
            <a:endParaRPr/>
          </a:p>
          <a:p>
            <a:pPr indent="-285750" lvl="0" marL="285750" rtl="0" algn="l">
              <a:spcBef>
                <a:spcPts val="700"/>
              </a:spcBef>
              <a:spcAft>
                <a:spcPts val="0"/>
              </a:spcAft>
              <a:buSzPts val="1600"/>
              <a:buFont typeface="Arial"/>
              <a:buChar char="•"/>
            </a:pPr>
            <a:r>
              <a:rPr lang="en-US" sz="1600"/>
              <a:t>Toys, such as dolls, stuffed animals, and sandbox figurines are used to help children play out their hopes, fantasies and traumas.</a:t>
            </a:r>
            <a:endParaRPr/>
          </a:p>
          <a:p>
            <a:pPr indent="-285750" lvl="0" marL="285750" rtl="0" algn="l">
              <a:spcBef>
                <a:spcPts val="700"/>
              </a:spcBef>
              <a:spcAft>
                <a:spcPts val="0"/>
              </a:spcAft>
              <a:buSzPts val="1600"/>
              <a:buFont typeface="Arial"/>
              <a:buChar char="•"/>
            </a:pPr>
            <a:r>
              <a:rPr b="1" lang="en-US" sz="1600"/>
              <a:t>Sandplay or sandtray therapy </a:t>
            </a:r>
            <a:r>
              <a:rPr lang="en-US" sz="1600"/>
              <a:t>- children can set up a three dimensional world using various figures and objects that correspond to their inner state (Kalff, 1991). </a:t>
            </a:r>
            <a:endParaRPr sz="1600"/>
          </a:p>
        </p:txBody>
      </p:sp>
      <p:pic>
        <p:nvPicPr>
          <p:cNvPr descr="OSC-Stacked-TM-RGB-1.png" id="181" name="Google Shape;181;p22"/>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182" name="Google Shape;182;p22"/>
          <p:cNvSpPr txBox="1"/>
          <p:nvPr/>
        </p:nvSpPr>
        <p:spPr>
          <a:xfrm>
            <a:off x="6293657" y="6449296"/>
            <a:ext cx="2958059"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16.10 (credit: Kristina Walter)</a:t>
            </a:r>
            <a:endParaRPr sz="1300">
              <a:solidFill>
                <a:schemeClr val="dk1"/>
              </a:solidFill>
              <a:latin typeface="Arial"/>
              <a:ea typeface="Arial"/>
              <a:cs typeface="Arial"/>
              <a:sym typeface="Arial"/>
            </a:endParaRPr>
          </a:p>
        </p:txBody>
      </p:sp>
      <p:sp>
        <p:nvSpPr>
          <p:cNvPr id="183" name="Google Shape;183;p22"/>
          <p:cNvSpPr txBox="1"/>
          <p:nvPr/>
        </p:nvSpPr>
        <p:spPr>
          <a:xfrm>
            <a:off x="457199" y="3533113"/>
            <a:ext cx="4684427" cy="3062377"/>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6CB255"/>
              </a:buClr>
              <a:buSzPts val="1600"/>
              <a:buFont typeface="Arial"/>
              <a:buChar char="•"/>
            </a:pPr>
            <a:r>
              <a:rPr lang="en-US" sz="1600">
                <a:solidFill>
                  <a:schemeClr val="dk1"/>
                </a:solidFill>
                <a:latin typeface="Arial"/>
                <a:ea typeface="Arial"/>
                <a:cs typeface="Arial"/>
                <a:sym typeface="Arial"/>
              </a:rPr>
              <a:t>Therapist observes how child interacts with toys in order to understand the roots of the child’s disturbed behavior. Can be used to make a diagnosis.</a:t>
            </a:r>
            <a:endParaRPr/>
          </a:p>
          <a:p>
            <a:pPr indent="-285750" lvl="0" marL="285750" marR="0" rtl="0" algn="l">
              <a:spcBef>
                <a:spcPts val="700"/>
              </a:spcBef>
              <a:spcAft>
                <a:spcPts val="0"/>
              </a:spcAft>
              <a:buClr>
                <a:srgbClr val="6CB255"/>
              </a:buClr>
              <a:buSzPts val="1600"/>
              <a:buFont typeface="Arial"/>
              <a:buChar char="•"/>
            </a:pPr>
            <a:r>
              <a:rPr b="1" lang="en-US" sz="1600">
                <a:solidFill>
                  <a:schemeClr val="dk1"/>
                </a:solidFill>
                <a:latin typeface="Arial"/>
                <a:ea typeface="Arial"/>
                <a:cs typeface="Arial"/>
                <a:sym typeface="Arial"/>
              </a:rPr>
              <a:t>Nondirective play therapy </a:t>
            </a:r>
            <a:r>
              <a:rPr lang="en-US" sz="1600">
                <a:solidFill>
                  <a:schemeClr val="dk1"/>
                </a:solidFill>
                <a:latin typeface="Arial"/>
                <a:ea typeface="Arial"/>
                <a:cs typeface="Arial"/>
                <a:sym typeface="Arial"/>
              </a:rPr>
              <a:t>– children are encouraged to work through problems by playing freely while therapist observes.</a:t>
            </a:r>
            <a:endParaRPr/>
          </a:p>
          <a:p>
            <a:pPr indent="-285750" lvl="0" marL="285750" marR="0" rtl="0" algn="l">
              <a:spcBef>
                <a:spcPts val="700"/>
              </a:spcBef>
              <a:spcAft>
                <a:spcPts val="0"/>
              </a:spcAft>
              <a:buClr>
                <a:srgbClr val="6CB255"/>
              </a:buClr>
              <a:buSzPts val="1600"/>
              <a:buFont typeface="Arial"/>
              <a:buChar char="•"/>
            </a:pPr>
            <a:r>
              <a:rPr b="1" lang="en-US" sz="1600">
                <a:solidFill>
                  <a:schemeClr val="dk1"/>
                </a:solidFill>
                <a:latin typeface="Arial"/>
                <a:ea typeface="Arial"/>
                <a:cs typeface="Arial"/>
                <a:sym typeface="Arial"/>
              </a:rPr>
              <a:t>Directive play therapy </a:t>
            </a:r>
            <a:r>
              <a:rPr lang="en-US" sz="1600">
                <a:solidFill>
                  <a:schemeClr val="dk1"/>
                </a:solidFill>
                <a:latin typeface="Arial"/>
                <a:ea typeface="Arial"/>
                <a:cs typeface="Arial"/>
                <a:sym typeface="Arial"/>
              </a:rPr>
              <a:t>– therapist provides structure/guidance by suggesting topics, asking questions, and playing with the child.</a:t>
            </a:r>
            <a:endParaRPr/>
          </a:p>
          <a:p>
            <a:pPr indent="-171450" lvl="0" marL="285750" marR="0" rtl="0" algn="l">
              <a:spcBef>
                <a:spcPts val="400"/>
              </a:spcBef>
              <a:spcAft>
                <a:spcPts val="0"/>
              </a:spcAft>
              <a:buClr>
                <a:srgbClr val="6CB255"/>
              </a:buClr>
              <a:buSzPts val="1800"/>
              <a:buFont typeface="Arial"/>
              <a:buNone/>
            </a:pPr>
            <a:r>
              <a:t/>
            </a:r>
            <a:endParaRPr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BEHAVIOR THERAPY</a:t>
            </a:r>
            <a:endParaRPr/>
          </a:p>
        </p:txBody>
      </p:sp>
      <p:sp>
        <p:nvSpPr>
          <p:cNvPr id="189" name="Google Shape;189;p23"/>
          <p:cNvSpPr txBox="1"/>
          <p:nvPr>
            <p:ph idx="1" type="body"/>
          </p:nvPr>
        </p:nvSpPr>
        <p:spPr>
          <a:xfrm>
            <a:off x="457200" y="1109271"/>
            <a:ext cx="8367222" cy="560632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lang="en-US" sz="1600"/>
              <a:t>Principles of learning are applied to change undesirable behaviors. Based on the belief that dysfunctional behaviors can be changed by teaching clients more constructive behaviors.</a:t>
            </a:r>
            <a:endParaRPr/>
          </a:p>
          <a:p>
            <a:pPr indent="0" lvl="0" marL="0" rtl="0" algn="l">
              <a:spcBef>
                <a:spcPts val="700"/>
              </a:spcBef>
              <a:spcAft>
                <a:spcPts val="0"/>
              </a:spcAft>
              <a:buSzPts val="1600"/>
              <a:buNone/>
            </a:pPr>
            <a:r>
              <a:rPr b="1" lang="en-US" sz="1600" u="sng">
                <a:solidFill>
                  <a:srgbClr val="6CB255"/>
                </a:solidFill>
              </a:rPr>
              <a:t>Classical Conditioning</a:t>
            </a:r>
            <a:endParaRPr/>
          </a:p>
          <a:p>
            <a:pPr indent="0" lvl="0" marL="0" rtl="0" algn="l">
              <a:spcBef>
                <a:spcPts val="700"/>
              </a:spcBef>
              <a:spcAft>
                <a:spcPts val="0"/>
              </a:spcAft>
              <a:buSzPts val="1600"/>
              <a:buNone/>
            </a:pPr>
            <a:r>
              <a:rPr lang="en-US" sz="1600"/>
              <a:t>Conditioning principles are applied to recondition clients and change their behavior.</a:t>
            </a:r>
            <a:endParaRPr/>
          </a:p>
          <a:p>
            <a:pPr indent="0" lvl="0" marL="0" rtl="0" algn="l">
              <a:spcBef>
                <a:spcPts val="700"/>
              </a:spcBef>
              <a:spcAft>
                <a:spcPts val="0"/>
              </a:spcAft>
              <a:buSzPts val="1600"/>
              <a:buNone/>
            </a:pPr>
            <a:r>
              <a:rPr b="1" lang="en-US" sz="1600">
                <a:solidFill>
                  <a:srgbClr val="6CB255"/>
                </a:solidFill>
              </a:rPr>
              <a:t>Counterconditioning - </a:t>
            </a:r>
            <a:r>
              <a:rPr lang="en-US" sz="1600"/>
              <a:t>Client learns a new response to a stimulus that has previously elicited an undesirable behavior. Includes </a:t>
            </a:r>
            <a:r>
              <a:rPr lang="en-US" sz="1600" u="sng"/>
              <a:t>aversive conditioning</a:t>
            </a:r>
            <a:r>
              <a:rPr lang="en-US" sz="1600"/>
              <a:t> and </a:t>
            </a:r>
            <a:r>
              <a:rPr lang="en-US" sz="1600" u="sng"/>
              <a:t>exposure therapy</a:t>
            </a:r>
            <a:r>
              <a:rPr lang="en-US" sz="1600"/>
              <a:t>.</a:t>
            </a:r>
            <a:endParaRPr/>
          </a:p>
          <a:p>
            <a:pPr indent="0" lvl="0" marL="0" rtl="0" algn="l">
              <a:spcBef>
                <a:spcPts val="700"/>
              </a:spcBef>
              <a:spcAft>
                <a:spcPts val="0"/>
              </a:spcAft>
              <a:buSzPts val="1600"/>
              <a:buNone/>
            </a:pPr>
            <a:r>
              <a:rPr b="1" lang="en-US" sz="1600"/>
              <a:t>Aversive conditioning </a:t>
            </a:r>
            <a:r>
              <a:rPr lang="en-US" sz="1600"/>
              <a:t>– uses an unpleasant stimulus to stop an undesirable behavior.</a:t>
            </a:r>
            <a:endParaRPr/>
          </a:p>
          <a:p>
            <a:pPr indent="-285750" lvl="0" marL="285750" rtl="0" algn="l">
              <a:spcBef>
                <a:spcPts val="700"/>
              </a:spcBef>
              <a:spcAft>
                <a:spcPts val="0"/>
              </a:spcAft>
              <a:buSzPts val="1600"/>
              <a:buFont typeface="Arial"/>
              <a:buChar char="•"/>
            </a:pPr>
            <a:r>
              <a:rPr lang="en-US" sz="1600"/>
              <a:t>Used to eliminate addictive behaviors.</a:t>
            </a:r>
            <a:endParaRPr/>
          </a:p>
          <a:p>
            <a:pPr indent="-285750" lvl="0" marL="285750" rtl="0" algn="l">
              <a:spcBef>
                <a:spcPts val="700"/>
              </a:spcBef>
              <a:spcAft>
                <a:spcPts val="0"/>
              </a:spcAft>
              <a:buSzPts val="1600"/>
              <a:buFont typeface="Arial"/>
              <a:buChar char="•"/>
            </a:pPr>
            <a:r>
              <a:rPr lang="en-US" sz="1600"/>
              <a:t>Client is repeatedly exposed to something unpleasant, such as a mild electric shock or bad taste while they engage in a specific behavior → client learns to associate the unpleasant stimulus and unwanted behavior.</a:t>
            </a:r>
            <a:endParaRPr/>
          </a:p>
          <a:p>
            <a:pPr indent="-285750" lvl="0" marL="285750" rtl="0" algn="l">
              <a:spcBef>
                <a:spcPts val="700"/>
              </a:spcBef>
              <a:spcAft>
                <a:spcPts val="0"/>
              </a:spcAft>
              <a:buSzPts val="1600"/>
              <a:buFont typeface="Arial"/>
              <a:buChar char="•"/>
            </a:pPr>
            <a:r>
              <a:rPr lang="en-US" sz="1600" u="sng"/>
              <a:t>Antabuse</a:t>
            </a:r>
            <a:r>
              <a:rPr lang="en-US" sz="1600"/>
              <a:t> (substance that causes negative side effects such as vomiting when combined with alcohol) has been used effectively to treat alcoholism.</a:t>
            </a:r>
            <a:endParaRPr/>
          </a:p>
          <a:p>
            <a:pPr indent="0" lvl="0" marL="0" rtl="0" algn="l">
              <a:spcBef>
                <a:spcPts val="700"/>
              </a:spcBef>
              <a:spcAft>
                <a:spcPts val="0"/>
              </a:spcAft>
              <a:buSzPts val="1600"/>
              <a:buNone/>
            </a:pPr>
            <a:r>
              <a:rPr b="1" lang="en-US" sz="1600">
                <a:solidFill>
                  <a:schemeClr val="dk1"/>
                </a:solidFill>
              </a:rPr>
              <a:t>Exposure therapy </a:t>
            </a:r>
            <a:r>
              <a:rPr lang="en-US" sz="1600">
                <a:solidFill>
                  <a:schemeClr val="dk1"/>
                </a:solidFill>
              </a:rPr>
              <a:t>– seeks to change the response to a conditioned stimulus. </a:t>
            </a:r>
            <a:endParaRPr/>
          </a:p>
          <a:p>
            <a:pPr indent="-285750" lvl="0" marL="285750" rtl="0" algn="l">
              <a:spcBef>
                <a:spcPts val="700"/>
              </a:spcBef>
              <a:spcAft>
                <a:spcPts val="0"/>
              </a:spcAft>
              <a:buSzPts val="1600"/>
              <a:buFont typeface="Arial"/>
              <a:buChar char="•"/>
            </a:pPr>
            <a:r>
              <a:rPr lang="en-US" sz="1600">
                <a:solidFill>
                  <a:schemeClr val="dk1"/>
                </a:solidFill>
              </a:rPr>
              <a:t>Used to treat fears or anxiety.</a:t>
            </a:r>
            <a:endParaRPr/>
          </a:p>
          <a:p>
            <a:pPr indent="-285750" lvl="0" marL="285750" rtl="0" algn="l">
              <a:spcBef>
                <a:spcPts val="700"/>
              </a:spcBef>
              <a:spcAft>
                <a:spcPts val="0"/>
              </a:spcAft>
              <a:buSzPts val="1600"/>
              <a:buFont typeface="Arial"/>
              <a:buChar char="•"/>
            </a:pPr>
            <a:r>
              <a:rPr lang="en-US" sz="1600">
                <a:solidFill>
                  <a:schemeClr val="dk1"/>
                </a:solidFill>
              </a:rPr>
              <a:t>Client is repeatedly exposed to the object/situation that causes their problem, with the idea that they will eventually get used to it.</a:t>
            </a:r>
            <a:endParaRPr sz="1600">
              <a:solidFill>
                <a:schemeClr val="dk1"/>
              </a:solidFill>
            </a:endParaRPr>
          </a:p>
        </p:txBody>
      </p:sp>
      <p:pic>
        <p:nvPicPr>
          <p:cNvPr descr="OSC-Stacked-TM-RGB-1.png" id="190" name="Google Shape;190;p23"/>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6CB255"/>
              </a:buClr>
              <a:buSzPts val="2400"/>
              <a:buFont typeface="Arial Black"/>
              <a:buNone/>
            </a:pPr>
            <a:r>
              <a:rPr lang="en-US" sz="2400">
                <a:solidFill>
                  <a:srgbClr val="6CB255"/>
                </a:solidFill>
              </a:rPr>
              <a:t>EXPOSURE THERAPY</a:t>
            </a:r>
            <a:endParaRPr sz="2400">
              <a:solidFill>
                <a:srgbClr val="6CB255"/>
              </a:solidFill>
            </a:endParaRPr>
          </a:p>
        </p:txBody>
      </p:sp>
      <p:pic>
        <p:nvPicPr>
          <p:cNvPr descr="CNX_Psych_16_02_Conditioning.jpg" id="196" name="Google Shape;196;p24"/>
          <p:cNvPicPr preferRelativeResize="0"/>
          <p:nvPr>
            <p:ph idx="2" type="pic"/>
          </p:nvPr>
        </p:nvPicPr>
        <p:blipFill rotWithShape="1">
          <a:blip r:embed="rId3">
            <a:alphaModFix/>
          </a:blip>
          <a:srcRect b="-4348" l="0" r="0" t="-4348"/>
          <a:stretch/>
        </p:blipFill>
        <p:spPr>
          <a:xfrm>
            <a:off x="4736892" y="1107617"/>
            <a:ext cx="4202945" cy="5480878"/>
          </a:xfrm>
          <a:prstGeom prst="rect">
            <a:avLst/>
          </a:prstGeom>
          <a:noFill/>
          <a:ln>
            <a:noFill/>
          </a:ln>
        </p:spPr>
      </p:pic>
      <p:sp>
        <p:nvSpPr>
          <p:cNvPr id="197" name="Google Shape;197;p24"/>
          <p:cNvSpPr txBox="1"/>
          <p:nvPr>
            <p:ph idx="1" type="body"/>
          </p:nvPr>
        </p:nvSpPr>
        <p:spPr>
          <a:xfrm>
            <a:off x="457199" y="1107617"/>
            <a:ext cx="4279693" cy="55490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u="sng">
                <a:solidFill>
                  <a:srgbClr val="6CB255"/>
                </a:solidFill>
              </a:rPr>
              <a:t>Mary Cover Jones</a:t>
            </a:r>
            <a:endParaRPr b="1" sz="1600" u="sng">
              <a:solidFill>
                <a:srgbClr val="6CB255"/>
              </a:solidFill>
            </a:endParaRPr>
          </a:p>
          <a:p>
            <a:pPr indent="0" lvl="0" marL="0" rtl="0" algn="l">
              <a:spcBef>
                <a:spcPts val="700"/>
              </a:spcBef>
              <a:spcAft>
                <a:spcPts val="0"/>
              </a:spcAft>
              <a:buSzPts val="1600"/>
              <a:buNone/>
            </a:pPr>
            <a:r>
              <a:rPr lang="en-US" sz="1600">
                <a:solidFill>
                  <a:schemeClr val="dk1"/>
                </a:solidFill>
              </a:rPr>
              <a:t>Developed the first type of exposure therapy.</a:t>
            </a:r>
            <a:endParaRPr/>
          </a:p>
          <a:p>
            <a:pPr indent="-285750" lvl="0" marL="285750" rtl="0" algn="l">
              <a:spcBef>
                <a:spcPts val="700"/>
              </a:spcBef>
              <a:spcAft>
                <a:spcPts val="0"/>
              </a:spcAft>
              <a:buSzPts val="1600"/>
              <a:buFont typeface="Arial"/>
              <a:buChar char="•"/>
            </a:pPr>
            <a:r>
              <a:rPr lang="en-US" sz="1600">
                <a:solidFill>
                  <a:schemeClr val="dk1"/>
                </a:solidFill>
              </a:rPr>
              <a:t>An unconditioned stimulus is presented over and over just after the presentation of the conditioned stimulus. </a:t>
            </a:r>
            <a:endParaRPr sz="1600">
              <a:solidFill>
                <a:schemeClr val="dk1"/>
              </a:solidFill>
            </a:endParaRPr>
          </a:p>
          <a:p>
            <a:pPr indent="0" lvl="0" marL="0" rtl="0" algn="l">
              <a:spcBef>
                <a:spcPts val="700"/>
              </a:spcBef>
              <a:spcAft>
                <a:spcPts val="0"/>
              </a:spcAft>
              <a:buSzPts val="1600"/>
              <a:buNone/>
            </a:pPr>
            <a:r>
              <a:rPr b="1" lang="en-US" sz="1600">
                <a:solidFill>
                  <a:schemeClr val="dk1"/>
                </a:solidFill>
              </a:rPr>
              <a:t>Jones’ Study (1924):</a:t>
            </a:r>
            <a:endParaRPr/>
          </a:p>
          <a:p>
            <a:pPr indent="0" lvl="0" marL="0" rtl="0" algn="l">
              <a:spcBef>
                <a:spcPts val="700"/>
              </a:spcBef>
              <a:spcAft>
                <a:spcPts val="0"/>
              </a:spcAft>
              <a:buSzPts val="1600"/>
              <a:buNone/>
            </a:pPr>
            <a:r>
              <a:rPr lang="en-US" sz="1600">
                <a:solidFill>
                  <a:schemeClr val="dk1"/>
                </a:solidFill>
              </a:rPr>
              <a:t>Aimed to replace Peter’s fear of rabbits with a conditioned response of relaxation.</a:t>
            </a:r>
            <a:endParaRPr/>
          </a:p>
          <a:p>
            <a:pPr indent="-285750" lvl="0" marL="285750" rtl="0" algn="l">
              <a:spcBef>
                <a:spcPts val="700"/>
              </a:spcBef>
              <a:spcAft>
                <a:spcPts val="0"/>
              </a:spcAft>
              <a:buSzPts val="1600"/>
              <a:buFont typeface="Arial"/>
              <a:buChar char="•"/>
            </a:pPr>
            <a:r>
              <a:rPr lang="en-US" sz="1600">
                <a:solidFill>
                  <a:schemeClr val="dk1"/>
                </a:solidFill>
              </a:rPr>
              <a:t>Repeatedly exposed Peter to a rabbit, while he was eating a snack (in a relaxed state).</a:t>
            </a:r>
            <a:endParaRPr/>
          </a:p>
          <a:p>
            <a:pPr indent="-285750" lvl="0" marL="285750" rtl="0" algn="l">
              <a:spcBef>
                <a:spcPts val="700"/>
              </a:spcBef>
              <a:spcAft>
                <a:spcPts val="0"/>
              </a:spcAft>
              <a:buSzPts val="1600"/>
              <a:buFont typeface="Arial"/>
              <a:buChar char="•"/>
            </a:pPr>
            <a:r>
              <a:rPr lang="en-US" sz="1600">
                <a:solidFill>
                  <a:schemeClr val="dk1"/>
                </a:solidFill>
              </a:rPr>
              <a:t>Rabbit started in a cage on the other side of the room and over several days was gradually moved closer to Peter while he ate his snack.</a:t>
            </a:r>
            <a:endParaRPr sz="1600">
              <a:solidFill>
                <a:schemeClr val="dk1"/>
              </a:solidFill>
            </a:endParaRPr>
          </a:p>
          <a:p>
            <a:pPr indent="-285750" lvl="0" marL="285750" rtl="0" algn="l">
              <a:spcBef>
                <a:spcPts val="700"/>
              </a:spcBef>
              <a:spcAft>
                <a:spcPts val="0"/>
              </a:spcAft>
              <a:buSzPts val="1600"/>
              <a:buFont typeface="Arial"/>
              <a:buChar char="•"/>
            </a:pPr>
            <a:r>
              <a:rPr lang="en-US" sz="1600">
                <a:solidFill>
                  <a:schemeClr val="dk1"/>
                </a:solidFill>
              </a:rPr>
              <a:t>After 2 months, Peter was able to pet the rabbit while eating his snack.</a:t>
            </a:r>
            <a:endParaRPr sz="1600">
              <a:solidFill>
                <a:schemeClr val="dk1"/>
              </a:solidFill>
            </a:endParaRPr>
          </a:p>
        </p:txBody>
      </p:sp>
      <p:pic>
        <p:nvPicPr>
          <p:cNvPr descr="OSC-Stacked-TM-RGB-1.png" id="198" name="Google Shape;198;p24"/>
          <p:cNvPicPr preferRelativeResize="0"/>
          <p:nvPr/>
        </p:nvPicPr>
        <p:blipFill rotWithShape="1">
          <a:blip r:embed="rId4">
            <a:alphaModFix/>
          </a:blip>
          <a:srcRect b="0" l="0" r="0" t="0"/>
          <a:stretch/>
        </p:blipFill>
        <p:spPr>
          <a:xfrm>
            <a:off x="380695" y="241326"/>
            <a:ext cx="1051734" cy="751709"/>
          </a:xfrm>
          <a:prstGeom prst="rect">
            <a:avLst/>
          </a:prstGeom>
          <a:noFill/>
          <a:ln>
            <a:noFill/>
          </a:ln>
        </p:spPr>
      </p:pic>
      <p:sp>
        <p:nvSpPr>
          <p:cNvPr id="199" name="Google Shape;199;p24"/>
          <p:cNvSpPr txBox="1"/>
          <p:nvPr/>
        </p:nvSpPr>
        <p:spPr>
          <a:xfrm>
            <a:off x="7781290" y="6364288"/>
            <a:ext cx="136271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EXPOSURE THERAPY</a:t>
            </a:r>
            <a:endParaRPr/>
          </a:p>
        </p:txBody>
      </p:sp>
      <p:pic>
        <p:nvPicPr>
          <p:cNvPr descr="CNX_Psych_16_02_Spider.jpg" id="205" name="Google Shape;205;p25"/>
          <p:cNvPicPr preferRelativeResize="0"/>
          <p:nvPr>
            <p:ph idx="2" type="pic"/>
          </p:nvPr>
        </p:nvPicPr>
        <p:blipFill rotWithShape="1">
          <a:blip r:embed="rId3">
            <a:alphaModFix/>
          </a:blip>
          <a:srcRect b="0" l="-26906" r="-26905" t="0"/>
          <a:stretch/>
        </p:blipFill>
        <p:spPr>
          <a:xfrm>
            <a:off x="4243659" y="2239954"/>
            <a:ext cx="5627823" cy="2766761"/>
          </a:xfrm>
          <a:prstGeom prst="rect">
            <a:avLst/>
          </a:prstGeom>
          <a:noFill/>
          <a:ln>
            <a:noFill/>
          </a:ln>
        </p:spPr>
      </p:pic>
      <p:sp>
        <p:nvSpPr>
          <p:cNvPr id="206" name="Google Shape;206;p25"/>
          <p:cNvSpPr txBox="1"/>
          <p:nvPr>
            <p:ph idx="1" type="body"/>
          </p:nvPr>
        </p:nvSpPr>
        <p:spPr>
          <a:xfrm>
            <a:off x="457199" y="900861"/>
            <a:ext cx="8367222" cy="157251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u="sng">
                <a:solidFill>
                  <a:srgbClr val="6CB255"/>
                </a:solidFill>
              </a:rPr>
              <a:t>Joseph Wolpe (1958)</a:t>
            </a:r>
            <a:endParaRPr/>
          </a:p>
          <a:p>
            <a:pPr indent="0" lvl="0" marL="0" rtl="0" algn="l">
              <a:spcBef>
                <a:spcPts val="700"/>
              </a:spcBef>
              <a:spcAft>
                <a:spcPts val="0"/>
              </a:spcAft>
              <a:buSzPts val="1600"/>
              <a:buNone/>
            </a:pPr>
            <a:r>
              <a:rPr lang="en-US" sz="1600"/>
              <a:t>Refined Jones’s techniques and developed the version of exposure therapy used today.</a:t>
            </a:r>
            <a:endParaRPr/>
          </a:p>
          <a:p>
            <a:pPr indent="0" lvl="0" marL="0" rtl="0" algn="l">
              <a:spcBef>
                <a:spcPts val="700"/>
              </a:spcBef>
              <a:spcAft>
                <a:spcPts val="0"/>
              </a:spcAft>
              <a:buSzPts val="1600"/>
              <a:buNone/>
            </a:pPr>
            <a:r>
              <a:rPr b="1" lang="en-US" sz="1600"/>
              <a:t>Systematic desensitization </a:t>
            </a:r>
            <a:r>
              <a:rPr lang="en-US" sz="1600"/>
              <a:t>– type of exposure therapy wherein a calm and pleasant state is gradually associated with increasing levels of anxiety-inducing stimuli.</a:t>
            </a:r>
            <a:endParaRPr/>
          </a:p>
        </p:txBody>
      </p:sp>
      <p:pic>
        <p:nvPicPr>
          <p:cNvPr descr="OSC-Stacked-TM-RGB-1.png" id="207" name="Google Shape;207;p25"/>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208" name="Google Shape;208;p25"/>
          <p:cNvSpPr txBox="1"/>
          <p:nvPr/>
        </p:nvSpPr>
        <p:spPr>
          <a:xfrm>
            <a:off x="457198" y="2239954"/>
            <a:ext cx="4684428" cy="4390946"/>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6CB255"/>
              </a:buClr>
              <a:buSzPts val="1600"/>
              <a:buFont typeface="Arial"/>
              <a:buChar char="•"/>
            </a:pPr>
            <a:r>
              <a:rPr lang="en-US" sz="1600">
                <a:solidFill>
                  <a:schemeClr val="dk1"/>
                </a:solidFill>
                <a:latin typeface="Arial"/>
                <a:ea typeface="Arial"/>
                <a:cs typeface="Arial"/>
                <a:sym typeface="Arial"/>
              </a:rPr>
              <a:t>Fear and relaxation are incompatible – if client can relax around fear-inducing stimuli, the unwanted fear response will eventually be eliminated.</a:t>
            </a:r>
            <a:endParaRPr/>
          </a:p>
          <a:p>
            <a:pPr indent="-285750" lvl="0" marL="285750" marR="0" rtl="0" algn="l">
              <a:spcBef>
                <a:spcPts val="700"/>
              </a:spcBef>
              <a:spcAft>
                <a:spcPts val="0"/>
              </a:spcAft>
              <a:buClr>
                <a:srgbClr val="6CB255"/>
              </a:buClr>
              <a:buSzPts val="1600"/>
              <a:buFont typeface="Arial"/>
              <a:buChar char="•"/>
            </a:pPr>
            <a:r>
              <a:rPr lang="en-US" sz="1600">
                <a:solidFill>
                  <a:schemeClr val="dk1"/>
                </a:solidFill>
                <a:latin typeface="Arial"/>
                <a:ea typeface="Arial"/>
                <a:cs typeface="Arial"/>
                <a:sym typeface="Arial"/>
              </a:rPr>
              <a:t>Client is taught progressive relaxation – how to relax each muscle group to achieve a relaxed and comfortable state of mind.</a:t>
            </a:r>
            <a:endParaRPr/>
          </a:p>
          <a:p>
            <a:pPr indent="-285750" lvl="0" marL="285750" marR="0" rtl="0" algn="l">
              <a:spcBef>
                <a:spcPts val="700"/>
              </a:spcBef>
              <a:spcAft>
                <a:spcPts val="0"/>
              </a:spcAft>
              <a:buClr>
                <a:srgbClr val="6CB255"/>
              </a:buClr>
              <a:buSzPts val="1600"/>
              <a:buFont typeface="Arial"/>
              <a:buChar char="•"/>
            </a:pPr>
            <a:r>
              <a:rPr lang="en-US" sz="1600">
                <a:solidFill>
                  <a:schemeClr val="dk1"/>
                </a:solidFill>
                <a:latin typeface="Arial"/>
                <a:ea typeface="Arial"/>
                <a:cs typeface="Arial"/>
                <a:sym typeface="Arial"/>
              </a:rPr>
              <a:t>Progressive relaxation is used while client imagines anxiety-inducing situations.</a:t>
            </a:r>
            <a:endParaRPr/>
          </a:p>
          <a:p>
            <a:pPr indent="-285750" lvl="0" marL="285750" marR="0" rtl="0" algn="l">
              <a:spcBef>
                <a:spcPts val="700"/>
              </a:spcBef>
              <a:spcAft>
                <a:spcPts val="0"/>
              </a:spcAft>
              <a:buClr>
                <a:srgbClr val="6CB255"/>
              </a:buClr>
              <a:buSzPts val="1600"/>
              <a:buFont typeface="Arial"/>
              <a:buChar char="•"/>
            </a:pPr>
            <a:r>
              <a:rPr lang="en-US" sz="1600">
                <a:solidFill>
                  <a:schemeClr val="dk1"/>
                </a:solidFill>
                <a:latin typeface="Arial"/>
                <a:ea typeface="Arial"/>
                <a:cs typeface="Arial"/>
                <a:sym typeface="Arial"/>
              </a:rPr>
              <a:t>Overtime, progressive relaxation helps the client become desensitized to the anxiety inducing stimuli.</a:t>
            </a:r>
            <a:endParaRPr/>
          </a:p>
          <a:p>
            <a:pPr indent="0" lvl="0" marL="0" marR="0" rtl="0" algn="l">
              <a:spcBef>
                <a:spcPts val="700"/>
              </a:spcBef>
              <a:spcAft>
                <a:spcPts val="0"/>
              </a:spcAft>
              <a:buNone/>
            </a:pPr>
            <a:r>
              <a:rPr b="1" lang="en-US" sz="1600">
                <a:solidFill>
                  <a:schemeClr val="dk1"/>
                </a:solidFill>
                <a:latin typeface="Arial"/>
                <a:ea typeface="Arial"/>
                <a:cs typeface="Arial"/>
                <a:sym typeface="Arial"/>
              </a:rPr>
              <a:t>Virtual reality exposure therapy </a:t>
            </a:r>
            <a:r>
              <a:rPr lang="en-US" sz="1600">
                <a:solidFill>
                  <a:schemeClr val="dk1"/>
                </a:solidFill>
                <a:latin typeface="Arial"/>
                <a:ea typeface="Arial"/>
                <a:cs typeface="Arial"/>
                <a:sym typeface="Arial"/>
              </a:rPr>
              <a:t>– uses a stimulation to help conquer fears when it’s too impractical, expensive or embarrassing to recreate anxiety-inducing situations.</a:t>
            </a:r>
            <a:endParaRPr sz="1300">
              <a:solidFill>
                <a:schemeClr val="dk1"/>
              </a:solidFill>
              <a:latin typeface="Arial"/>
              <a:ea typeface="Arial"/>
              <a:cs typeface="Arial"/>
              <a:sym typeface="Arial"/>
            </a:endParaRPr>
          </a:p>
        </p:txBody>
      </p:sp>
      <p:sp>
        <p:nvSpPr>
          <p:cNvPr id="209" name="Google Shape;209;p25"/>
          <p:cNvSpPr txBox="1"/>
          <p:nvPr/>
        </p:nvSpPr>
        <p:spPr>
          <a:xfrm>
            <a:off x="5141626" y="5157088"/>
            <a:ext cx="3852472" cy="153888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This person suffers from arachnophobia (fear of spiders). Through exposure therapy he is learning how to face his fear in a controlled, therapeutic setting. </a:t>
            </a:r>
            <a:endParaRPr sz="1400">
              <a:solidFill>
                <a:schemeClr val="dk1"/>
              </a:solidFill>
              <a:latin typeface="Arial"/>
              <a:ea typeface="Arial"/>
              <a:cs typeface="Arial"/>
              <a:sym typeface="Arial"/>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Figure 16.12 (credit: “GollyGforce – Living My Worst Nightmare”/Flickr)</a:t>
            </a:r>
            <a:endParaRPr sz="12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BEHAVIOR THERAPY</a:t>
            </a:r>
            <a:endParaRPr/>
          </a:p>
        </p:txBody>
      </p:sp>
      <p:sp>
        <p:nvSpPr>
          <p:cNvPr id="215" name="Google Shape;215;p26"/>
          <p:cNvSpPr txBox="1"/>
          <p:nvPr>
            <p:ph idx="1" type="body"/>
          </p:nvPr>
        </p:nvSpPr>
        <p:spPr>
          <a:xfrm>
            <a:off x="457199" y="1109272"/>
            <a:ext cx="8367221" cy="553137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u="sng">
                <a:solidFill>
                  <a:srgbClr val="6CB255"/>
                </a:solidFill>
              </a:rPr>
              <a:t>Operant Conditioning</a:t>
            </a:r>
            <a:endParaRPr/>
          </a:p>
          <a:p>
            <a:pPr indent="0" lvl="0" marL="0" rtl="0" algn="l">
              <a:spcBef>
                <a:spcPts val="700"/>
              </a:spcBef>
              <a:spcAft>
                <a:spcPts val="0"/>
              </a:spcAft>
              <a:buSzPts val="1600"/>
              <a:buNone/>
            </a:pPr>
            <a:r>
              <a:rPr lang="en-US" sz="1600"/>
              <a:t>Based on the principle that behaviors become extinguished when not reinforced.</a:t>
            </a:r>
            <a:endParaRPr/>
          </a:p>
          <a:p>
            <a:pPr indent="0" lvl="0" marL="0" rtl="0" algn="l">
              <a:spcBef>
                <a:spcPts val="700"/>
              </a:spcBef>
              <a:spcAft>
                <a:spcPts val="0"/>
              </a:spcAft>
              <a:buSzPts val="1600"/>
              <a:buNone/>
            </a:pPr>
            <a:r>
              <a:rPr b="1" lang="en-US" sz="1600"/>
              <a:t>Applied behavior analysis:</a:t>
            </a:r>
            <a:endParaRPr/>
          </a:p>
          <a:p>
            <a:pPr indent="0" lvl="0" marL="0" rtl="0" algn="l">
              <a:spcBef>
                <a:spcPts val="700"/>
              </a:spcBef>
              <a:spcAft>
                <a:spcPts val="0"/>
              </a:spcAft>
              <a:buSzPts val="1600"/>
              <a:buNone/>
            </a:pPr>
            <a:r>
              <a:rPr lang="en-US" sz="1600"/>
              <a:t>Operant conditioning technique designed to reinforce positive behaviors and punish unwanted behaviors.</a:t>
            </a:r>
            <a:endParaRPr/>
          </a:p>
          <a:p>
            <a:pPr indent="-285750" lvl="0" marL="285750" rtl="0" algn="l">
              <a:spcBef>
                <a:spcPts val="700"/>
              </a:spcBef>
              <a:spcAft>
                <a:spcPts val="0"/>
              </a:spcAft>
              <a:buSzPts val="1600"/>
              <a:buFont typeface="Arial"/>
              <a:buChar char="•"/>
            </a:pPr>
            <a:r>
              <a:rPr lang="en-US" sz="1600"/>
              <a:t>Effective in helping children with autism.</a:t>
            </a:r>
            <a:endParaRPr/>
          </a:p>
          <a:p>
            <a:pPr indent="-285750" lvl="0" marL="285750" rtl="0" algn="l">
              <a:spcBef>
                <a:spcPts val="700"/>
              </a:spcBef>
              <a:spcAft>
                <a:spcPts val="0"/>
              </a:spcAft>
              <a:buSzPts val="1600"/>
              <a:buFont typeface="Arial"/>
              <a:buChar char="•"/>
            </a:pPr>
            <a:r>
              <a:rPr lang="en-US" sz="1600"/>
              <a:t>Child-specific reinforcers (e.g., stickers, praise, candy) are used to reward and motivate autistic children when they demonstrate desired behaviors.</a:t>
            </a:r>
            <a:endParaRPr/>
          </a:p>
          <a:p>
            <a:pPr indent="-285750" lvl="0" marL="285750" rtl="0" algn="l">
              <a:spcBef>
                <a:spcPts val="700"/>
              </a:spcBef>
              <a:spcAft>
                <a:spcPts val="0"/>
              </a:spcAft>
              <a:buSzPts val="1600"/>
              <a:buFont typeface="Arial"/>
              <a:buChar char="•"/>
            </a:pPr>
            <a:r>
              <a:rPr lang="en-US" sz="1600"/>
              <a:t>Punishment (e.g., timeout) might be used to discourage undesirable behaviors.</a:t>
            </a:r>
            <a:endParaRPr/>
          </a:p>
          <a:p>
            <a:pPr indent="0" lvl="0" marL="0" rtl="0" algn="l">
              <a:spcBef>
                <a:spcPts val="700"/>
              </a:spcBef>
              <a:spcAft>
                <a:spcPts val="0"/>
              </a:spcAft>
              <a:buSzPts val="1600"/>
              <a:buNone/>
            </a:pPr>
            <a:r>
              <a:rPr b="1" lang="en-US" sz="1600"/>
              <a:t>Token economy:</a:t>
            </a:r>
            <a:endParaRPr/>
          </a:p>
          <a:p>
            <a:pPr indent="-285750" lvl="0" marL="285750" rtl="0" algn="l">
              <a:spcBef>
                <a:spcPts val="700"/>
              </a:spcBef>
              <a:spcAft>
                <a:spcPts val="0"/>
              </a:spcAft>
              <a:buSzPts val="1600"/>
              <a:buFont typeface="Arial"/>
              <a:buChar char="•"/>
            </a:pPr>
            <a:r>
              <a:rPr lang="en-US" sz="1600"/>
              <a:t>Used in controlled settings such as psychiatric hospitals.</a:t>
            </a:r>
            <a:endParaRPr sz="1600"/>
          </a:p>
          <a:p>
            <a:pPr indent="-285750" lvl="0" marL="285750" rtl="0" algn="l">
              <a:spcBef>
                <a:spcPts val="700"/>
              </a:spcBef>
              <a:spcAft>
                <a:spcPts val="0"/>
              </a:spcAft>
              <a:buSzPts val="1600"/>
              <a:buFont typeface="Arial"/>
              <a:buChar char="•"/>
            </a:pPr>
            <a:r>
              <a:rPr lang="en-US" sz="1600"/>
              <a:t>Individuals are reinforced for desired behaviors with tokens (e.g., a poker chip), that can be exchanged for items or privileges.</a:t>
            </a:r>
            <a:endParaRPr/>
          </a:p>
          <a:p>
            <a:pPr indent="-285750" lvl="0" marL="285750" rtl="0" algn="l">
              <a:spcBef>
                <a:spcPts val="700"/>
              </a:spcBef>
              <a:spcAft>
                <a:spcPts val="0"/>
              </a:spcAft>
              <a:buSzPts val="1600"/>
              <a:buFont typeface="Arial"/>
              <a:buChar char="•"/>
            </a:pPr>
            <a:r>
              <a:rPr lang="en-US" sz="1600"/>
              <a:t>Often used in psychiatric hospitals or prisons to increase cooperation.</a:t>
            </a:r>
            <a:endParaRPr/>
          </a:p>
        </p:txBody>
      </p:sp>
      <p:pic>
        <p:nvPicPr>
          <p:cNvPr descr="OSC-Stacked-TM-RGB-1.png" id="216" name="Google Shape;216;p26"/>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0" name="Shape 220"/>
        <p:cNvGrpSpPr/>
        <p:nvPr/>
      </p:nvGrpSpPr>
      <p:grpSpPr>
        <a:xfrm>
          <a:off x="0" y="0"/>
          <a:ext cx="0" cy="0"/>
          <a:chOff x="0" y="0"/>
          <a:chExt cx="0" cy="0"/>
        </a:xfrm>
      </p:grpSpPr>
      <p:sp>
        <p:nvSpPr>
          <p:cNvPr id="221" name="Google Shape;221;p27"/>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COGNITIVE THERAPY</a:t>
            </a:r>
            <a:endParaRPr/>
          </a:p>
        </p:txBody>
      </p:sp>
      <p:sp>
        <p:nvSpPr>
          <p:cNvPr id="222" name="Google Shape;222;p27"/>
          <p:cNvSpPr txBox="1"/>
          <p:nvPr>
            <p:ph idx="1" type="body"/>
          </p:nvPr>
        </p:nvSpPr>
        <p:spPr>
          <a:xfrm>
            <a:off x="457199" y="1169233"/>
            <a:ext cx="8367221" cy="5381469"/>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Arial"/>
              <a:buChar char="•"/>
            </a:pPr>
            <a:r>
              <a:rPr lang="en-US" sz="1600"/>
              <a:t>Developed by Aaron Beck in the 1960’s.</a:t>
            </a:r>
            <a:endParaRPr sz="1600"/>
          </a:p>
          <a:p>
            <a:pPr indent="-285750" lvl="0" marL="285750" rtl="0" algn="l">
              <a:spcBef>
                <a:spcPts val="920"/>
              </a:spcBef>
              <a:spcAft>
                <a:spcPts val="0"/>
              </a:spcAft>
              <a:buSzPts val="1600"/>
              <a:buFont typeface="Arial"/>
              <a:buChar char="•"/>
            </a:pPr>
            <a:r>
              <a:rPr lang="en-US" sz="1600"/>
              <a:t>Based on the idea that how you think determines how you feel and act - cognitive therapy focuses on how thoughts lead to feelings of distress.</a:t>
            </a:r>
            <a:endParaRPr/>
          </a:p>
          <a:p>
            <a:pPr indent="-285750" lvl="0" marL="285750" rtl="0" algn="l">
              <a:spcBef>
                <a:spcPts val="920"/>
              </a:spcBef>
              <a:spcAft>
                <a:spcPts val="0"/>
              </a:spcAft>
              <a:buSzPts val="1600"/>
              <a:buFont typeface="Arial"/>
              <a:buChar char="•"/>
            </a:pPr>
            <a:r>
              <a:rPr lang="en-US" sz="1600"/>
              <a:t>Emotional reactions are the result of your thoughts about the situation rather than the situation itself. </a:t>
            </a:r>
            <a:endParaRPr/>
          </a:p>
          <a:p>
            <a:pPr indent="-285750" lvl="0" marL="285750" rtl="0" algn="l">
              <a:spcBef>
                <a:spcPts val="920"/>
              </a:spcBef>
              <a:spcAft>
                <a:spcPts val="0"/>
              </a:spcAft>
              <a:buSzPts val="1600"/>
              <a:buFont typeface="Arial"/>
              <a:buChar char="•"/>
            </a:pPr>
            <a:r>
              <a:rPr lang="en-US" sz="1600"/>
              <a:t>Encourages clients to find more logical ways of interpreting situations and positive ways of thinking.</a:t>
            </a:r>
            <a:endParaRPr/>
          </a:p>
          <a:p>
            <a:pPr indent="-342900" lvl="0" marL="342900" rtl="0" algn="l">
              <a:spcBef>
                <a:spcPts val="920"/>
              </a:spcBef>
              <a:spcAft>
                <a:spcPts val="0"/>
              </a:spcAft>
              <a:buSzPts val="1600"/>
              <a:buFont typeface="Arial Black"/>
              <a:buAutoNum type="arabicPeriod"/>
            </a:pPr>
            <a:r>
              <a:rPr lang="en-US" sz="1600"/>
              <a:t>Cognitive therapists help clients become aware of their cognitive distortions (thinking errors).</a:t>
            </a:r>
            <a:endParaRPr/>
          </a:p>
          <a:p>
            <a:pPr indent="0" lvl="1" marL="731520" rtl="0" algn="l">
              <a:spcBef>
                <a:spcPts val="920"/>
              </a:spcBef>
              <a:spcAft>
                <a:spcPts val="0"/>
              </a:spcAft>
              <a:buSzPts val="1600"/>
              <a:buNone/>
            </a:pPr>
            <a:r>
              <a:rPr lang="en-US" sz="1600"/>
              <a:t>Examples:</a:t>
            </a:r>
            <a:endParaRPr/>
          </a:p>
          <a:p>
            <a:pPr indent="-342900" lvl="1" marL="1074420" rtl="0" algn="l">
              <a:spcBef>
                <a:spcPts val="320"/>
              </a:spcBef>
              <a:spcAft>
                <a:spcPts val="0"/>
              </a:spcAft>
              <a:buSzPts val="1600"/>
              <a:buFont typeface="Arial"/>
              <a:buChar char="•"/>
            </a:pPr>
            <a:r>
              <a:rPr b="1" lang="en-US" sz="1600"/>
              <a:t>Overgeneralizing</a:t>
            </a:r>
            <a:r>
              <a:rPr lang="en-US" sz="1600"/>
              <a:t> – taking a small situation and making it huge.</a:t>
            </a:r>
            <a:endParaRPr/>
          </a:p>
          <a:p>
            <a:pPr indent="-342900" lvl="1" marL="1074420" rtl="0" algn="l">
              <a:spcBef>
                <a:spcPts val="320"/>
              </a:spcBef>
              <a:spcAft>
                <a:spcPts val="0"/>
              </a:spcAft>
              <a:buSzPts val="1600"/>
              <a:buFont typeface="Arial"/>
              <a:buChar char="•"/>
            </a:pPr>
            <a:r>
              <a:rPr b="1" lang="en-US" sz="1600"/>
              <a:t>Polarized (“black &amp; white”) thinking </a:t>
            </a:r>
            <a:r>
              <a:rPr lang="en-US" sz="1600"/>
              <a:t>– Seeing things in absolutes, ”I am either perfect, or a failure”. (Common in depression).</a:t>
            </a:r>
            <a:endParaRPr/>
          </a:p>
          <a:p>
            <a:pPr indent="-342900" lvl="1" marL="1074420" rtl="0" algn="l">
              <a:spcBef>
                <a:spcPts val="320"/>
              </a:spcBef>
              <a:spcAft>
                <a:spcPts val="0"/>
              </a:spcAft>
              <a:buSzPts val="1600"/>
              <a:buFont typeface="Arial"/>
              <a:buChar char="•"/>
            </a:pPr>
            <a:r>
              <a:rPr b="1" lang="en-US" sz="1600"/>
              <a:t>Jumping to conclusions </a:t>
            </a:r>
            <a:r>
              <a:rPr lang="en-US" sz="1600"/>
              <a:t>– assuming that people are thinking negatively about you or reacting negatively to you, without evidence.</a:t>
            </a:r>
            <a:endParaRPr/>
          </a:p>
          <a:p>
            <a:pPr indent="-342900" lvl="0" marL="342900" rtl="0" algn="l">
              <a:spcBef>
                <a:spcPts val="320"/>
              </a:spcBef>
              <a:spcAft>
                <a:spcPts val="0"/>
              </a:spcAft>
              <a:buSzPts val="1600"/>
              <a:buFont typeface="Arial Black"/>
              <a:buAutoNum type="arabicPeriod"/>
            </a:pPr>
            <a:r>
              <a:rPr lang="en-US" sz="1600"/>
              <a:t>Clients are helped to change dysfunctional thinking patterns by challenging irrational beliefs, focusing on their illogical basis, and correcting them with more logical and rational thoughts/beliefs.</a:t>
            </a:r>
            <a:endParaRPr/>
          </a:p>
        </p:txBody>
      </p:sp>
      <p:pic>
        <p:nvPicPr>
          <p:cNvPr descr="OSC-Stacked-TM-RGB-1.png" id="223" name="Google Shape;223;p27"/>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COGNITIVE THERAPY</a:t>
            </a:r>
            <a:endParaRPr/>
          </a:p>
        </p:txBody>
      </p:sp>
      <p:pic>
        <p:nvPicPr>
          <p:cNvPr id="229" name="Google Shape;229;p28"/>
          <p:cNvPicPr preferRelativeResize="0"/>
          <p:nvPr>
            <p:ph idx="2" type="pic"/>
          </p:nvPr>
        </p:nvPicPr>
        <p:blipFill rotWithShape="1">
          <a:blip r:embed="rId3">
            <a:alphaModFix/>
          </a:blip>
          <a:srcRect b="0" l="0" r="0" t="0"/>
          <a:stretch/>
        </p:blipFill>
        <p:spPr>
          <a:xfrm>
            <a:off x="322288" y="2347314"/>
            <a:ext cx="8643895" cy="3559251"/>
          </a:xfrm>
          <a:prstGeom prst="rect">
            <a:avLst/>
          </a:prstGeom>
          <a:noFill/>
          <a:ln>
            <a:noFill/>
          </a:ln>
        </p:spPr>
      </p:pic>
      <p:sp>
        <p:nvSpPr>
          <p:cNvPr id="230" name="Google Shape;230;p28"/>
          <p:cNvSpPr txBox="1"/>
          <p:nvPr>
            <p:ph idx="1" type="body"/>
          </p:nvPr>
        </p:nvSpPr>
        <p:spPr>
          <a:xfrm>
            <a:off x="457199" y="1120236"/>
            <a:ext cx="8367221" cy="154958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If you consistently interpret events and emotions around the themes of loss and defeat, then you are likely to be depressed. </a:t>
            </a:r>
            <a:endParaRPr sz="1600"/>
          </a:p>
        </p:txBody>
      </p:sp>
      <p:pic>
        <p:nvPicPr>
          <p:cNvPr descr="OSC-Stacked-TM-RGB-1.png" id="231" name="Google Shape;231;p28"/>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232" name="Google Shape;232;p28"/>
          <p:cNvSpPr txBox="1"/>
          <p:nvPr/>
        </p:nvSpPr>
        <p:spPr>
          <a:xfrm>
            <a:off x="7826692" y="6373042"/>
            <a:ext cx="138684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COGNITIVE-BEHAVIORAL THERAPY</a:t>
            </a:r>
            <a:endParaRPr/>
          </a:p>
        </p:txBody>
      </p:sp>
      <p:sp>
        <p:nvSpPr>
          <p:cNvPr id="238" name="Google Shape;238;p29"/>
          <p:cNvSpPr txBox="1"/>
          <p:nvPr>
            <p:ph idx="1" type="body"/>
          </p:nvPr>
        </p:nvSpPr>
        <p:spPr>
          <a:xfrm>
            <a:off x="457200" y="1169232"/>
            <a:ext cx="8491928" cy="54264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lang="en-US" sz="1600"/>
              <a:t>Unlike other forms of psychotherapy, cognitive behavioral therapy focuses more on present issues rather than on a patient’s past.</a:t>
            </a:r>
            <a:endParaRPr/>
          </a:p>
          <a:p>
            <a:pPr indent="0" lvl="0" marL="0" rtl="0" algn="l">
              <a:spcBef>
                <a:spcPts val="700"/>
              </a:spcBef>
              <a:spcAft>
                <a:spcPts val="0"/>
              </a:spcAft>
              <a:buSzPts val="1600"/>
              <a:buNone/>
            </a:pPr>
            <a:r>
              <a:rPr b="1" lang="en-US" sz="1600">
                <a:solidFill>
                  <a:schemeClr val="dk1"/>
                </a:solidFill>
              </a:rPr>
              <a:t>Rational-Emotive Therapy (RET) - </a:t>
            </a:r>
            <a:r>
              <a:rPr lang="en-US" sz="1600"/>
              <a:t>one of the first forms of cognitive-behavioral therapy, founded by Albert Ellis.</a:t>
            </a:r>
            <a:endParaRPr/>
          </a:p>
          <a:p>
            <a:pPr indent="0" lvl="0" marL="0" rtl="0" algn="l">
              <a:spcBef>
                <a:spcPts val="700"/>
              </a:spcBef>
              <a:spcAft>
                <a:spcPts val="0"/>
              </a:spcAft>
              <a:buSzPts val="1600"/>
              <a:buNone/>
            </a:pPr>
            <a:r>
              <a:rPr b="1" lang="en-US" sz="1600"/>
              <a:t>Cognitive-behavioral therapy (CBT) </a:t>
            </a:r>
            <a:r>
              <a:rPr lang="en-US" sz="1600"/>
              <a:t>– works to change cognitive distortions and self-defeating behaviors. (Aims to change both how people think and how they act).</a:t>
            </a:r>
            <a:endParaRPr/>
          </a:p>
          <a:p>
            <a:pPr indent="-285750" lvl="0" marL="285750" rtl="0" algn="l">
              <a:spcBef>
                <a:spcPts val="700"/>
              </a:spcBef>
              <a:spcAft>
                <a:spcPts val="0"/>
              </a:spcAft>
              <a:buSzPts val="1600"/>
              <a:buFont typeface="Arial"/>
              <a:buChar char="•"/>
            </a:pPr>
            <a:r>
              <a:rPr lang="en-US" sz="1600"/>
              <a:t>Helps clients examine how their thoughts affect their behavior.</a:t>
            </a:r>
            <a:endParaRPr/>
          </a:p>
          <a:p>
            <a:pPr indent="-285750" lvl="0" marL="285750" rtl="0" algn="l">
              <a:spcBef>
                <a:spcPts val="700"/>
              </a:spcBef>
              <a:spcAft>
                <a:spcPts val="0"/>
              </a:spcAft>
              <a:buSzPts val="1600"/>
              <a:buFont typeface="Arial"/>
              <a:buChar char="•"/>
            </a:pPr>
            <a:r>
              <a:rPr lang="en-US" sz="1600"/>
              <a:t>Combination of </a:t>
            </a:r>
            <a:r>
              <a:rPr lang="en-US" sz="1600" u="sng"/>
              <a:t>cognitive therapy</a:t>
            </a:r>
            <a:r>
              <a:rPr lang="en-US" sz="1600"/>
              <a:t> (making individuals aware of irrational, negative thoughts and replacing them with positive ways of thinking) and </a:t>
            </a:r>
            <a:r>
              <a:rPr lang="en-US" sz="1600" u="sng"/>
              <a:t>behavior therapies</a:t>
            </a:r>
            <a:r>
              <a:rPr lang="en-US" sz="1600"/>
              <a:t> (teaches people to to practice and engage in more positive, healthy approaches to situations).</a:t>
            </a:r>
            <a:endParaRPr/>
          </a:p>
          <a:p>
            <a:pPr indent="-285750" lvl="0" marL="285750" rtl="0" algn="l">
              <a:spcBef>
                <a:spcPts val="700"/>
              </a:spcBef>
              <a:spcAft>
                <a:spcPts val="0"/>
              </a:spcAft>
              <a:buSzPts val="1600"/>
              <a:buFont typeface="Arial"/>
              <a:buChar char="•"/>
            </a:pPr>
            <a:r>
              <a:rPr lang="en-US" sz="1600"/>
              <a:t>Uses the ABC model to reveal cognitive distortions (e.g., overgeneralizing, black and white thinking, jumping to conclusions). </a:t>
            </a:r>
            <a:endParaRPr/>
          </a:p>
          <a:p>
            <a:pPr indent="-285750" lvl="1" marL="1017270" rtl="0" algn="l">
              <a:spcBef>
                <a:spcPts val="700"/>
              </a:spcBef>
              <a:spcAft>
                <a:spcPts val="0"/>
              </a:spcAft>
              <a:buSzPts val="1600"/>
              <a:buFont typeface="Arial"/>
              <a:buChar char="•"/>
            </a:pPr>
            <a:r>
              <a:rPr lang="en-US" sz="1600"/>
              <a:t>Action – activating event.</a:t>
            </a:r>
            <a:endParaRPr/>
          </a:p>
          <a:p>
            <a:pPr indent="-285750" lvl="1" marL="1017270" rtl="0" algn="l">
              <a:spcBef>
                <a:spcPts val="700"/>
              </a:spcBef>
              <a:spcAft>
                <a:spcPts val="0"/>
              </a:spcAft>
              <a:buSzPts val="1600"/>
              <a:buFont typeface="Arial"/>
              <a:buChar char="•"/>
            </a:pPr>
            <a:r>
              <a:rPr lang="en-US" sz="1600"/>
              <a:t>Belief about the event.</a:t>
            </a:r>
            <a:endParaRPr/>
          </a:p>
          <a:p>
            <a:pPr indent="-285750" lvl="1" marL="1017270" rtl="0" algn="l">
              <a:spcBef>
                <a:spcPts val="700"/>
              </a:spcBef>
              <a:spcAft>
                <a:spcPts val="0"/>
              </a:spcAft>
              <a:buSzPts val="1600"/>
              <a:buFont typeface="Arial"/>
              <a:buChar char="•"/>
            </a:pPr>
            <a:r>
              <a:rPr lang="en-US" sz="1600"/>
              <a:t>Consequences of the belief.</a:t>
            </a:r>
            <a:endParaRPr sz="1600"/>
          </a:p>
        </p:txBody>
      </p:sp>
      <p:pic>
        <p:nvPicPr>
          <p:cNvPr descr="OSC-Stacked-TM-RGB-1.png" id="239" name="Google Shape;239;p29"/>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HUMANISTIC THERAPY</a:t>
            </a:r>
            <a:endParaRPr/>
          </a:p>
        </p:txBody>
      </p:sp>
      <p:sp>
        <p:nvSpPr>
          <p:cNvPr id="245" name="Google Shape;245;p30"/>
          <p:cNvSpPr txBox="1"/>
          <p:nvPr>
            <p:ph idx="1" type="body"/>
          </p:nvPr>
        </p:nvSpPr>
        <p:spPr>
          <a:xfrm>
            <a:off x="457200" y="993035"/>
            <a:ext cx="8367221" cy="5864965"/>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Arial"/>
              <a:buChar char="•"/>
            </a:pPr>
            <a:r>
              <a:rPr lang="en-US" sz="1600"/>
              <a:t>Focuses on helping people achieve their potential.</a:t>
            </a:r>
            <a:endParaRPr sz="1600"/>
          </a:p>
          <a:p>
            <a:pPr indent="-285750" lvl="0" marL="285750" rtl="0" algn="l">
              <a:spcBef>
                <a:spcPts val="920"/>
              </a:spcBef>
              <a:spcAft>
                <a:spcPts val="0"/>
              </a:spcAft>
              <a:buSzPts val="1600"/>
              <a:buFont typeface="Arial"/>
              <a:buChar char="•"/>
            </a:pPr>
            <a:r>
              <a:rPr lang="en-US" sz="1600"/>
              <a:t>Goal is to increases self-awareness and acceptance through focus on conscious thoughts.</a:t>
            </a:r>
            <a:endParaRPr/>
          </a:p>
          <a:p>
            <a:pPr indent="0" lvl="0" marL="0" rtl="0" algn="l">
              <a:spcBef>
                <a:spcPts val="920"/>
              </a:spcBef>
              <a:spcAft>
                <a:spcPts val="0"/>
              </a:spcAft>
              <a:buClr>
                <a:srgbClr val="6CB255"/>
              </a:buClr>
              <a:buSzPts val="1600"/>
              <a:buNone/>
            </a:pPr>
            <a:r>
              <a:rPr b="1" lang="en-US" sz="1600" u="sng">
                <a:solidFill>
                  <a:srgbClr val="6CB255"/>
                </a:solidFill>
              </a:rPr>
              <a:t>Rogerian/Client-centered Therapy</a:t>
            </a:r>
            <a:endParaRPr/>
          </a:p>
          <a:p>
            <a:pPr indent="-285750" lvl="0" marL="285750" rtl="0" algn="l">
              <a:spcBef>
                <a:spcPts val="920"/>
              </a:spcBef>
              <a:spcAft>
                <a:spcPts val="0"/>
              </a:spcAft>
              <a:buSzPts val="1600"/>
              <a:buFont typeface="Arial"/>
              <a:buChar char="•"/>
            </a:pPr>
            <a:r>
              <a:rPr lang="en-US" sz="1600"/>
              <a:t>Developed by Carl Rogers.</a:t>
            </a:r>
            <a:endParaRPr/>
          </a:p>
          <a:p>
            <a:pPr indent="-285750" lvl="0" marL="285750" rtl="0" algn="l">
              <a:spcBef>
                <a:spcPts val="920"/>
              </a:spcBef>
              <a:spcAft>
                <a:spcPts val="0"/>
              </a:spcAft>
              <a:buSzPts val="1600"/>
              <a:buFont typeface="Arial"/>
              <a:buChar char="•"/>
            </a:pPr>
            <a:r>
              <a:rPr lang="en-US" sz="1600"/>
              <a:t>Emphasized the importance of the person taking control of his own life to overcome life’s challenges.</a:t>
            </a:r>
            <a:endParaRPr/>
          </a:p>
          <a:p>
            <a:pPr indent="-285750" lvl="0" marL="285750" rtl="0" algn="l">
              <a:spcBef>
                <a:spcPts val="920"/>
              </a:spcBef>
              <a:spcAft>
                <a:spcPts val="0"/>
              </a:spcAft>
              <a:buSzPts val="1600"/>
              <a:buFont typeface="Arial"/>
              <a:buChar char="•"/>
            </a:pPr>
            <a:r>
              <a:rPr b="1" lang="en-US" sz="1600"/>
              <a:t>Non-directive therapy </a:t>
            </a:r>
            <a:r>
              <a:rPr lang="en-US" sz="1600"/>
              <a:t>– therapist does not give advice or provide interpretations but helps client identify conflicts and understand feelings.</a:t>
            </a:r>
            <a:endParaRPr/>
          </a:p>
          <a:p>
            <a:pPr indent="0" lvl="0" marL="0" rtl="0" algn="l">
              <a:spcBef>
                <a:spcPts val="920"/>
              </a:spcBef>
              <a:spcAft>
                <a:spcPts val="0"/>
              </a:spcAft>
              <a:buClr>
                <a:srgbClr val="6CB255"/>
              </a:buClr>
              <a:buSzPts val="1600"/>
              <a:buNone/>
            </a:pPr>
            <a:r>
              <a:rPr b="1" lang="en-US" sz="1600"/>
              <a:t>Techniques:</a:t>
            </a:r>
            <a:endParaRPr b="1" sz="1600"/>
          </a:p>
          <a:p>
            <a:pPr indent="-285750" lvl="0" marL="285750" rtl="0" algn="l">
              <a:spcBef>
                <a:spcPts val="920"/>
              </a:spcBef>
              <a:spcAft>
                <a:spcPts val="0"/>
              </a:spcAft>
              <a:buSzPts val="1600"/>
              <a:buFont typeface="Arial"/>
              <a:buChar char="•"/>
            </a:pPr>
            <a:r>
              <a:rPr b="1" lang="en-US" sz="1600"/>
              <a:t>Active listening </a:t>
            </a:r>
            <a:r>
              <a:rPr lang="en-US" sz="1600"/>
              <a:t>– therapist acknowledges, restates, and clarifies what the client expresses.</a:t>
            </a:r>
            <a:endParaRPr/>
          </a:p>
          <a:p>
            <a:pPr indent="-285750" lvl="0" marL="285750" rtl="0" algn="l">
              <a:spcBef>
                <a:spcPts val="920"/>
              </a:spcBef>
              <a:spcAft>
                <a:spcPts val="0"/>
              </a:spcAft>
              <a:buSzPts val="1600"/>
              <a:buFont typeface="Arial"/>
              <a:buChar char="•"/>
            </a:pPr>
            <a:r>
              <a:rPr b="1" lang="en-US" sz="1600"/>
              <a:t>Unconditional positive regard </a:t>
            </a:r>
            <a:r>
              <a:rPr lang="en-US" sz="1600"/>
              <a:t>– therapist does not judge clients and simply accepts them for who they are.</a:t>
            </a:r>
            <a:endParaRPr/>
          </a:p>
          <a:p>
            <a:pPr indent="-285750" lvl="0" marL="285750" rtl="0" algn="l">
              <a:spcBef>
                <a:spcPts val="920"/>
              </a:spcBef>
              <a:spcAft>
                <a:spcPts val="0"/>
              </a:spcAft>
              <a:buSzPts val="1600"/>
              <a:buFont typeface="Arial"/>
              <a:buChar char="•"/>
            </a:pPr>
            <a:r>
              <a:rPr b="1" lang="en-US" sz="1600"/>
              <a:t>Genuineness, empathy, and acceptance towards clients </a:t>
            </a:r>
            <a:r>
              <a:rPr lang="en-US" sz="1600"/>
              <a:t>– Rogers felt that therapists should demonstrate these because it helps the client become more accepting of themselves, which results in personal growth.</a:t>
            </a:r>
            <a:endParaRPr sz="1600"/>
          </a:p>
        </p:txBody>
      </p:sp>
      <p:pic>
        <p:nvPicPr>
          <p:cNvPr descr="OSC-Stacked-TM-RGB-1.png" id="246" name="Google Shape;246;p30"/>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BIOMEDICAL THERAPIES</a:t>
            </a:r>
            <a:endParaRPr/>
          </a:p>
        </p:txBody>
      </p:sp>
      <p:sp>
        <p:nvSpPr>
          <p:cNvPr id="252" name="Google Shape;252;p31"/>
          <p:cNvSpPr txBox="1"/>
          <p:nvPr>
            <p:ph idx="1" type="body"/>
          </p:nvPr>
        </p:nvSpPr>
        <p:spPr>
          <a:xfrm>
            <a:off x="457199" y="993035"/>
            <a:ext cx="8521909" cy="569257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a:t>Psychotropic medications </a:t>
            </a:r>
            <a:r>
              <a:rPr lang="en-US" sz="1600"/>
              <a:t>– medications used to treat psychological disorders.</a:t>
            </a:r>
            <a:endParaRPr/>
          </a:p>
          <a:p>
            <a:pPr indent="-285750" lvl="0" marL="285750" rtl="0" algn="l">
              <a:spcBef>
                <a:spcPts val="800"/>
              </a:spcBef>
              <a:spcAft>
                <a:spcPts val="0"/>
              </a:spcAft>
              <a:buSzPts val="1600"/>
              <a:buFont typeface="Arial"/>
              <a:buChar char="•"/>
            </a:pPr>
            <a:r>
              <a:rPr lang="en-US" sz="1600"/>
              <a:t>Treat the symptoms of psychological disorders but do not cure the disorder.</a:t>
            </a:r>
            <a:endParaRPr sz="1600"/>
          </a:p>
          <a:p>
            <a:pPr indent="0" lvl="0" marL="0" rtl="0" algn="l">
              <a:spcBef>
                <a:spcPts val="800"/>
              </a:spcBef>
              <a:spcAft>
                <a:spcPts val="0"/>
              </a:spcAft>
              <a:buSzPts val="1600"/>
              <a:buNone/>
            </a:pPr>
            <a:r>
              <a:rPr b="1" lang="en-US" sz="1600"/>
              <a:t>Antipsychotics </a:t>
            </a:r>
            <a:r>
              <a:rPr lang="en-US" sz="1600"/>
              <a:t>– treat positive psychotic symptoms such as hallucinations, delusions, and paranoia by blocking dopamine.</a:t>
            </a:r>
            <a:endParaRPr/>
          </a:p>
          <a:p>
            <a:pPr indent="0" lvl="0" marL="0" rtl="0" algn="l">
              <a:spcBef>
                <a:spcPts val="800"/>
              </a:spcBef>
              <a:spcAft>
                <a:spcPts val="0"/>
              </a:spcAft>
              <a:buSzPts val="1600"/>
              <a:buNone/>
            </a:pPr>
            <a:r>
              <a:rPr b="1" lang="en-US" sz="1600"/>
              <a:t>Atypical antipsychotics </a:t>
            </a:r>
            <a:r>
              <a:rPr lang="en-US" sz="1600"/>
              <a:t>– treat the negative symptoms of schizophrenia such as withdrawal and apathy, by targeting both dopamine and serotonin receptors.</a:t>
            </a:r>
            <a:endParaRPr/>
          </a:p>
          <a:p>
            <a:pPr indent="-285750" lvl="0" marL="285750" rtl="0" algn="l">
              <a:spcBef>
                <a:spcPts val="800"/>
              </a:spcBef>
              <a:spcAft>
                <a:spcPts val="0"/>
              </a:spcAft>
              <a:buSzPts val="1600"/>
              <a:buFont typeface="Arial"/>
              <a:buChar char="•"/>
            </a:pPr>
            <a:r>
              <a:rPr lang="en-US" sz="1600"/>
              <a:t>Antipsychotics and atypical antipsychotics both treat schizophrenia and other types of severe thought disorders.</a:t>
            </a:r>
            <a:endParaRPr sz="1600"/>
          </a:p>
          <a:p>
            <a:pPr indent="0" lvl="0" marL="0" rtl="0" algn="l">
              <a:spcBef>
                <a:spcPts val="800"/>
              </a:spcBef>
              <a:spcAft>
                <a:spcPts val="0"/>
              </a:spcAft>
              <a:buSzPts val="1600"/>
              <a:buNone/>
            </a:pPr>
            <a:r>
              <a:rPr b="1" lang="en-US" sz="1600"/>
              <a:t>Anti-depressants </a:t>
            </a:r>
            <a:r>
              <a:rPr lang="en-US" sz="1600"/>
              <a:t>– alter levels of serotonin and norepinephrine.</a:t>
            </a:r>
            <a:endParaRPr/>
          </a:p>
          <a:p>
            <a:pPr indent="-285750" lvl="0" marL="285750" rtl="0" algn="l">
              <a:spcBef>
                <a:spcPts val="800"/>
              </a:spcBef>
              <a:spcAft>
                <a:spcPts val="0"/>
              </a:spcAft>
              <a:buSzPts val="1600"/>
              <a:buFont typeface="Arial"/>
              <a:buChar char="•"/>
            </a:pPr>
            <a:r>
              <a:rPr lang="en-US" sz="1600"/>
              <a:t>Depression and anxiety.</a:t>
            </a:r>
            <a:endParaRPr sz="1600"/>
          </a:p>
          <a:p>
            <a:pPr indent="0" lvl="0" marL="0" rtl="0" algn="l">
              <a:spcBef>
                <a:spcPts val="800"/>
              </a:spcBef>
              <a:spcAft>
                <a:spcPts val="0"/>
              </a:spcAft>
              <a:buSzPts val="1600"/>
              <a:buNone/>
            </a:pPr>
            <a:r>
              <a:rPr b="1" lang="en-US" sz="1600"/>
              <a:t>Anti-anxiety agents </a:t>
            </a:r>
            <a:r>
              <a:rPr lang="en-US" sz="1600"/>
              <a:t>– depress central nervous system activation.</a:t>
            </a:r>
            <a:endParaRPr/>
          </a:p>
          <a:p>
            <a:pPr indent="-285750" lvl="0" marL="285750" rtl="0" algn="l">
              <a:spcBef>
                <a:spcPts val="800"/>
              </a:spcBef>
              <a:spcAft>
                <a:spcPts val="0"/>
              </a:spcAft>
              <a:buSzPts val="1600"/>
              <a:buFont typeface="Arial"/>
              <a:buChar char="•"/>
            </a:pPr>
            <a:r>
              <a:rPr lang="en-US" sz="1600"/>
              <a:t>Anxiety, OCD, PTSD, panic disorder and social phobia.</a:t>
            </a:r>
            <a:endParaRPr sz="1600"/>
          </a:p>
          <a:p>
            <a:pPr indent="0" lvl="0" marL="0" rtl="0" algn="l">
              <a:spcBef>
                <a:spcPts val="800"/>
              </a:spcBef>
              <a:spcAft>
                <a:spcPts val="0"/>
              </a:spcAft>
              <a:buSzPts val="1600"/>
              <a:buNone/>
            </a:pPr>
            <a:r>
              <a:rPr b="1" lang="en-US" sz="1600"/>
              <a:t>Mood stabilizers </a:t>
            </a:r>
            <a:r>
              <a:rPr lang="en-US" sz="1600"/>
              <a:t>– treat episodes of mania as well as depression (Bipolar disorder).</a:t>
            </a:r>
            <a:endParaRPr/>
          </a:p>
          <a:p>
            <a:pPr indent="0" lvl="0" marL="0" rtl="0" algn="l">
              <a:spcBef>
                <a:spcPts val="800"/>
              </a:spcBef>
              <a:spcAft>
                <a:spcPts val="0"/>
              </a:spcAft>
              <a:buSzPts val="1600"/>
              <a:buNone/>
            </a:pPr>
            <a:r>
              <a:rPr b="1" lang="en-US" sz="1600"/>
              <a:t>Stimulants</a:t>
            </a:r>
            <a:r>
              <a:rPr lang="en-US" sz="1600"/>
              <a:t> – improve ability to focus on a task and maintain attention (ADHD).</a:t>
            </a:r>
            <a:endParaRPr sz="1600"/>
          </a:p>
          <a:p>
            <a:pPr indent="0" lvl="0" marL="0" rtl="0" algn="l">
              <a:spcBef>
                <a:spcPts val="800"/>
              </a:spcBef>
              <a:spcAft>
                <a:spcPts val="0"/>
              </a:spcAft>
              <a:buSzPts val="1600"/>
              <a:buNone/>
            </a:pPr>
            <a:r>
              <a:rPr b="1" lang="en-US" sz="1600"/>
              <a:t>Electroconvulsive therapy </a:t>
            </a:r>
            <a:r>
              <a:rPr lang="en-US" sz="1600"/>
              <a:t>– induces seizures to help alleviate severe depression.</a:t>
            </a:r>
            <a:endParaRPr/>
          </a:p>
          <a:p>
            <a:pPr indent="0" lvl="0" marL="0" rtl="0" algn="l">
              <a:spcBef>
                <a:spcPts val="800"/>
              </a:spcBef>
              <a:spcAft>
                <a:spcPts val="0"/>
              </a:spcAft>
              <a:buSzPts val="1600"/>
              <a:buNone/>
            </a:pPr>
            <a:r>
              <a:rPr b="1" lang="en-US" sz="1600"/>
              <a:t>Transcranial magnetic stimulation </a:t>
            </a:r>
            <a:r>
              <a:rPr lang="en-US" sz="1600"/>
              <a:t>– magnetic fields stimulate nerve cells to improve depression symptom.</a:t>
            </a:r>
            <a:endParaRPr sz="1600"/>
          </a:p>
        </p:txBody>
      </p:sp>
      <p:pic>
        <p:nvPicPr>
          <p:cNvPr descr="OSC-Stacked-TM-RGB-1.png" id="253" name="Google Shape;253;p31"/>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7" name="Shape 257"/>
        <p:cNvGrpSpPr/>
        <p:nvPr/>
      </p:nvGrpSpPr>
      <p:grpSpPr>
        <a:xfrm>
          <a:off x="0" y="0"/>
          <a:ext cx="0" cy="0"/>
          <a:chOff x="0" y="0"/>
          <a:chExt cx="0" cy="0"/>
        </a:xfrm>
      </p:grpSpPr>
      <p:sp>
        <p:nvSpPr>
          <p:cNvPr id="258" name="Google Shape;258;p32"/>
          <p:cNvSpPr txBox="1"/>
          <p:nvPr>
            <p:ph idx="1" type="body"/>
          </p:nvPr>
        </p:nvSpPr>
        <p:spPr>
          <a:xfrm>
            <a:off x="487679" y="1384502"/>
            <a:ext cx="8336741" cy="4147618"/>
          </a:xfrm>
          <a:prstGeom prst="rect">
            <a:avLst/>
          </a:prstGeom>
          <a:noFill/>
          <a:ln cap="flat" cmpd="sng" w="76200">
            <a:solidFill>
              <a:srgbClr val="6CB255"/>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2000"/>
              <a:buNone/>
            </a:pPr>
            <a:r>
              <a:t/>
            </a:r>
            <a:endParaRPr b="1">
              <a:solidFill>
                <a:srgbClr val="6CB255"/>
              </a:solidFill>
            </a:endParaRPr>
          </a:p>
          <a:p>
            <a:pPr indent="0" lvl="0" marL="0" rtl="0" algn="ctr">
              <a:spcBef>
                <a:spcPts val="1320"/>
              </a:spcBef>
              <a:spcAft>
                <a:spcPts val="0"/>
              </a:spcAft>
              <a:buSzPts val="3600"/>
              <a:buNone/>
            </a:pPr>
            <a:r>
              <a:rPr b="1" lang="en-US" sz="3600">
                <a:solidFill>
                  <a:srgbClr val="6CB255"/>
                </a:solidFill>
              </a:rPr>
              <a:t>TREATMENT MODALITIES</a:t>
            </a:r>
            <a:endParaRPr>
              <a:solidFill>
                <a:srgbClr val="6CB255"/>
              </a:solidFill>
            </a:endParaRPr>
          </a:p>
          <a:p>
            <a:pPr indent="0" lvl="0" marL="0" rtl="0" algn="ctr">
              <a:spcBef>
                <a:spcPts val="1000"/>
              </a:spcBef>
              <a:spcAft>
                <a:spcPts val="0"/>
              </a:spcAft>
              <a:buSzPts val="2000"/>
              <a:buNone/>
            </a:pPr>
            <a:r>
              <a:t/>
            </a:r>
            <a:endParaRPr>
              <a:solidFill>
                <a:srgbClr val="6CB255"/>
              </a:solidFill>
            </a:endParaRPr>
          </a:p>
          <a:p>
            <a:pPr indent="0" lvl="0" marL="0" rtl="0" algn="ctr">
              <a:spcBef>
                <a:spcPts val="1000"/>
              </a:spcBef>
              <a:spcAft>
                <a:spcPts val="0"/>
              </a:spcAft>
              <a:buSzPts val="2000"/>
              <a:buNone/>
            </a:pPr>
            <a:r>
              <a:rPr lang="en-US">
                <a:solidFill>
                  <a:srgbClr val="6CB255"/>
                </a:solidFill>
              </a:rPr>
              <a:t>INDIVIDUAL THERAPY</a:t>
            </a:r>
            <a:endParaRPr/>
          </a:p>
          <a:p>
            <a:pPr indent="0" lvl="0" marL="0" rtl="0" algn="ctr">
              <a:spcBef>
                <a:spcPts val="1000"/>
              </a:spcBef>
              <a:spcAft>
                <a:spcPts val="0"/>
              </a:spcAft>
              <a:buSzPts val="2000"/>
              <a:buNone/>
            </a:pPr>
            <a:r>
              <a:rPr lang="en-US">
                <a:solidFill>
                  <a:srgbClr val="6CB255"/>
                </a:solidFill>
              </a:rPr>
              <a:t>GROUP THERAPY</a:t>
            </a:r>
            <a:endParaRPr/>
          </a:p>
          <a:p>
            <a:pPr indent="0" lvl="0" marL="0" rtl="0" algn="ctr">
              <a:spcBef>
                <a:spcPts val="1000"/>
              </a:spcBef>
              <a:spcAft>
                <a:spcPts val="0"/>
              </a:spcAft>
              <a:buSzPts val="2000"/>
              <a:buNone/>
            </a:pPr>
            <a:r>
              <a:rPr lang="en-US">
                <a:solidFill>
                  <a:srgbClr val="6CB255"/>
                </a:solidFill>
              </a:rPr>
              <a:t>COUPLES THERAPY</a:t>
            </a:r>
            <a:endParaRPr/>
          </a:p>
          <a:p>
            <a:pPr indent="0" lvl="0" marL="0" rtl="0" algn="ctr">
              <a:spcBef>
                <a:spcPts val="1000"/>
              </a:spcBef>
              <a:spcAft>
                <a:spcPts val="0"/>
              </a:spcAft>
              <a:buSzPts val="2000"/>
              <a:buNone/>
            </a:pPr>
            <a:r>
              <a:rPr lang="en-US">
                <a:solidFill>
                  <a:srgbClr val="6CB255"/>
                </a:solidFill>
              </a:rPr>
              <a:t>FAMILY THERAPY</a:t>
            </a:r>
            <a:endParaRPr>
              <a:solidFill>
                <a:srgbClr val="6CB255"/>
              </a:solidFill>
            </a:endParaRPr>
          </a:p>
          <a:p>
            <a:pPr indent="0" lvl="0" marL="0" rtl="0" algn="ctr">
              <a:spcBef>
                <a:spcPts val="1000"/>
              </a:spcBef>
              <a:spcAft>
                <a:spcPts val="0"/>
              </a:spcAft>
              <a:buSzPts val="2000"/>
              <a:buNone/>
            </a:pPr>
            <a:r>
              <a:t/>
            </a:r>
            <a:endParaRPr>
              <a:solidFill>
                <a:srgbClr val="6CB255"/>
              </a:solidFill>
            </a:endParaRPr>
          </a:p>
        </p:txBody>
      </p:sp>
      <p:pic>
        <p:nvPicPr>
          <p:cNvPr descr="OSC-Stacked-TM-RGB-1.png" id="259" name="Google Shape;259;p32"/>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TREATMENT MODALITIES</a:t>
            </a:r>
            <a:endParaRPr/>
          </a:p>
        </p:txBody>
      </p:sp>
      <p:pic>
        <p:nvPicPr>
          <p:cNvPr descr="CNX_Psych_16_03_OneonOne.jpg" id="265" name="Google Shape;265;p33"/>
          <p:cNvPicPr preferRelativeResize="0"/>
          <p:nvPr>
            <p:ph idx="2" type="pic"/>
          </p:nvPr>
        </p:nvPicPr>
        <p:blipFill rotWithShape="1">
          <a:blip r:embed="rId3">
            <a:alphaModFix/>
          </a:blip>
          <a:srcRect b="-9780" l="0" r="0" t="-9780"/>
          <a:stretch/>
        </p:blipFill>
        <p:spPr>
          <a:xfrm>
            <a:off x="1772419" y="4147079"/>
            <a:ext cx="6000268" cy="2604687"/>
          </a:xfrm>
          <a:prstGeom prst="rect">
            <a:avLst/>
          </a:prstGeom>
          <a:noFill/>
          <a:ln>
            <a:noFill/>
          </a:ln>
        </p:spPr>
      </p:pic>
      <p:sp>
        <p:nvSpPr>
          <p:cNvPr id="266" name="Google Shape;266;p33"/>
          <p:cNvSpPr txBox="1"/>
          <p:nvPr>
            <p:ph idx="1" type="body"/>
          </p:nvPr>
        </p:nvSpPr>
        <p:spPr>
          <a:xfrm>
            <a:off x="457199" y="1109271"/>
            <a:ext cx="8367222" cy="370257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lang="en-US" sz="1600"/>
              <a:t>Once an individual seeks treatment, therapists will arrange an </a:t>
            </a:r>
            <a:r>
              <a:rPr lang="en-US" sz="1600" u="sng"/>
              <a:t>intake</a:t>
            </a:r>
            <a:r>
              <a:rPr lang="en-US" sz="1600"/>
              <a:t>, an initial meeting to assess the clients clinical needs.</a:t>
            </a:r>
            <a:endParaRPr/>
          </a:p>
          <a:p>
            <a:pPr indent="0" lvl="0" marL="0" rtl="0" algn="l">
              <a:spcBef>
                <a:spcPts val="700"/>
              </a:spcBef>
              <a:spcAft>
                <a:spcPts val="0"/>
              </a:spcAft>
              <a:buSzPts val="1600"/>
              <a:buNone/>
            </a:pPr>
            <a:r>
              <a:rPr lang="en-US" sz="1600"/>
              <a:t>1. Therapist gathers specific information to address client’s immediate needs.</a:t>
            </a:r>
            <a:endParaRPr/>
          </a:p>
          <a:p>
            <a:pPr indent="-285750" lvl="0" marL="285750" rtl="0" algn="l">
              <a:spcBef>
                <a:spcPts val="700"/>
              </a:spcBef>
              <a:spcAft>
                <a:spcPts val="0"/>
              </a:spcAft>
              <a:buSzPts val="1600"/>
              <a:buFont typeface="Arial"/>
              <a:buChar char="•"/>
            </a:pPr>
            <a:r>
              <a:rPr lang="en-US" sz="1600"/>
              <a:t>Presenting problem, the client’s support system, insurance status.</a:t>
            </a:r>
            <a:endParaRPr/>
          </a:p>
          <a:p>
            <a:pPr indent="0" lvl="0" marL="0" rtl="0" algn="l">
              <a:spcBef>
                <a:spcPts val="700"/>
              </a:spcBef>
              <a:spcAft>
                <a:spcPts val="0"/>
              </a:spcAft>
              <a:buSzPts val="1600"/>
              <a:buNone/>
            </a:pPr>
            <a:r>
              <a:rPr lang="en-US" sz="1600"/>
              <a:t>2. Therapist informs client about confidentiality, fees, and what to expect in treatment.</a:t>
            </a:r>
            <a:endParaRPr/>
          </a:p>
          <a:p>
            <a:pPr indent="0" lvl="0" marL="0" rtl="0" algn="l">
              <a:spcBef>
                <a:spcPts val="700"/>
              </a:spcBef>
              <a:spcAft>
                <a:spcPts val="0"/>
              </a:spcAft>
              <a:buSzPts val="1600"/>
              <a:buNone/>
            </a:pPr>
            <a:r>
              <a:rPr b="1" lang="en-US" sz="1600"/>
              <a:t>Confidentiality </a:t>
            </a:r>
            <a:r>
              <a:rPr lang="en-US" sz="1600"/>
              <a:t>– the therapist cannot disclose confidential communications to any third party unless mandated or permitted to do so by law.</a:t>
            </a:r>
            <a:endParaRPr/>
          </a:p>
          <a:p>
            <a:pPr indent="0" lvl="0" marL="0" rtl="0" algn="l">
              <a:spcBef>
                <a:spcPts val="700"/>
              </a:spcBef>
              <a:spcAft>
                <a:spcPts val="0"/>
              </a:spcAft>
              <a:buSzPts val="1600"/>
              <a:buNone/>
            </a:pPr>
            <a:r>
              <a:rPr lang="en-US" sz="1600"/>
              <a:t>3. Treatment goals are discussed and a treatment plan is formed.</a:t>
            </a:r>
            <a:endParaRPr sz="1600"/>
          </a:p>
          <a:p>
            <a:pPr indent="0" lvl="0" marL="0" rtl="0" algn="l">
              <a:spcBef>
                <a:spcPts val="700"/>
              </a:spcBef>
              <a:spcAft>
                <a:spcPts val="0"/>
              </a:spcAft>
              <a:buSzPts val="1600"/>
              <a:buNone/>
            </a:pPr>
            <a:r>
              <a:t/>
            </a:r>
            <a:endParaRPr sz="1600"/>
          </a:p>
          <a:p>
            <a:pPr indent="0" lvl="0" marL="0" rtl="0" algn="l">
              <a:spcBef>
                <a:spcPts val="700"/>
              </a:spcBef>
              <a:spcAft>
                <a:spcPts val="0"/>
              </a:spcAft>
              <a:buSzPts val="1600"/>
              <a:buNone/>
            </a:pPr>
            <a:r>
              <a:rPr lang="en-US" sz="1600"/>
              <a:t>Therapy may occur </a:t>
            </a:r>
            <a:r>
              <a:rPr lang="en-US" sz="1600">
                <a:solidFill>
                  <a:srgbClr val="72A510"/>
                </a:solidFill>
              </a:rPr>
              <a:t>(a) </a:t>
            </a:r>
            <a:r>
              <a:rPr lang="en-US" sz="1600"/>
              <a:t>one-on-one between a therapist and client, or </a:t>
            </a:r>
            <a:r>
              <a:rPr lang="en-US" sz="1600">
                <a:solidFill>
                  <a:srgbClr val="72A510"/>
                </a:solidFill>
              </a:rPr>
              <a:t>(b) </a:t>
            </a:r>
            <a:r>
              <a:rPr lang="en-US" sz="1600"/>
              <a:t>in a group setting. </a:t>
            </a:r>
            <a:endParaRPr/>
          </a:p>
        </p:txBody>
      </p:sp>
      <p:pic>
        <p:nvPicPr>
          <p:cNvPr descr="OSC-Stacked-TM-RGB-1.png" id="267" name="Google Shape;267;p33"/>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268" name="Google Shape;268;p33"/>
          <p:cNvSpPr txBox="1"/>
          <p:nvPr/>
        </p:nvSpPr>
        <p:spPr>
          <a:xfrm>
            <a:off x="390030" y="6459378"/>
            <a:ext cx="8521909"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16.14 (credit a: modification of work by Connor Ashleigh, AusAID/Department of Foreign Affairs and Trade)</a:t>
            </a:r>
            <a:endParaRPr sz="13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sz="2400">
                <a:solidFill>
                  <a:srgbClr val="6CB255"/>
                </a:solidFill>
              </a:rPr>
              <a:t>TREATMENT MODALITIES</a:t>
            </a:r>
            <a:endParaRPr sz="2400">
              <a:solidFill>
                <a:srgbClr val="6CB255"/>
              </a:solidFill>
            </a:endParaRPr>
          </a:p>
        </p:txBody>
      </p:sp>
      <p:sp>
        <p:nvSpPr>
          <p:cNvPr id="274" name="Google Shape;274;p34"/>
          <p:cNvSpPr txBox="1"/>
          <p:nvPr>
            <p:ph idx="1" type="body"/>
          </p:nvPr>
        </p:nvSpPr>
        <p:spPr>
          <a:xfrm>
            <a:off x="457199" y="1045499"/>
            <a:ext cx="8367221" cy="328665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u="sng">
                <a:solidFill>
                  <a:srgbClr val="6CB255"/>
                </a:solidFill>
              </a:rPr>
              <a:t>Individual Therapy</a:t>
            </a:r>
            <a:endParaRPr/>
          </a:p>
          <a:p>
            <a:pPr indent="-285750" lvl="0" marL="285750" rtl="0" algn="l">
              <a:spcBef>
                <a:spcPts val="920"/>
              </a:spcBef>
              <a:spcAft>
                <a:spcPts val="0"/>
              </a:spcAft>
              <a:buSzPts val="1600"/>
              <a:buFont typeface="Arial"/>
              <a:buChar char="•"/>
            </a:pPr>
            <a:r>
              <a:rPr lang="en-US" sz="1600">
                <a:solidFill>
                  <a:schemeClr val="dk1"/>
                </a:solidFill>
              </a:rPr>
              <a:t>In an individual therapy session, a client works one-on-one with a trained therapist. </a:t>
            </a:r>
            <a:endParaRPr sz="1600">
              <a:solidFill>
                <a:schemeClr val="dk1"/>
              </a:solidFill>
            </a:endParaRPr>
          </a:p>
          <a:p>
            <a:pPr indent="-285750" lvl="0" marL="285750" rtl="0" algn="l">
              <a:spcBef>
                <a:spcPts val="920"/>
              </a:spcBef>
              <a:spcAft>
                <a:spcPts val="0"/>
              </a:spcAft>
              <a:buSzPts val="1600"/>
              <a:buFont typeface="Arial"/>
              <a:buChar char="•"/>
            </a:pPr>
            <a:r>
              <a:rPr lang="en-US" sz="1600">
                <a:solidFill>
                  <a:schemeClr val="dk1"/>
                </a:solidFill>
              </a:rPr>
              <a:t>Usually lasts 45 minutes – 1 hour and meetings occur in a confidential environment.</a:t>
            </a:r>
            <a:endParaRPr/>
          </a:p>
          <a:p>
            <a:pPr indent="-285750" lvl="0" marL="285750" rtl="0" algn="l">
              <a:spcBef>
                <a:spcPts val="920"/>
              </a:spcBef>
              <a:spcAft>
                <a:spcPts val="0"/>
              </a:spcAft>
              <a:buSzPts val="1600"/>
              <a:buFont typeface="Arial"/>
              <a:buChar char="•"/>
            </a:pPr>
            <a:r>
              <a:rPr lang="en-US" sz="1600">
                <a:solidFill>
                  <a:schemeClr val="dk1"/>
                </a:solidFill>
              </a:rPr>
              <a:t>Clients might explore feelings, work through life challenges, identify aspects of themselves and their lives that they wish to change, and set goals to work towards these changes.</a:t>
            </a:r>
            <a:endParaRPr/>
          </a:p>
          <a:p>
            <a:pPr indent="0" lvl="0" marL="0" rtl="0" algn="l">
              <a:spcBef>
                <a:spcPts val="920"/>
              </a:spcBef>
              <a:spcAft>
                <a:spcPts val="0"/>
              </a:spcAft>
              <a:buClr>
                <a:srgbClr val="6CB255"/>
              </a:buClr>
              <a:buSzPts val="1600"/>
              <a:buNone/>
            </a:pPr>
            <a:r>
              <a:rPr b="1" lang="en-US" sz="1600" u="sng">
                <a:solidFill>
                  <a:srgbClr val="6CB255"/>
                </a:solidFill>
              </a:rPr>
              <a:t>Group Therapy</a:t>
            </a:r>
            <a:endParaRPr/>
          </a:p>
          <a:p>
            <a:pPr indent="-285750" lvl="0" marL="285750" rtl="0" algn="l">
              <a:spcBef>
                <a:spcPts val="920"/>
              </a:spcBef>
              <a:spcAft>
                <a:spcPts val="0"/>
              </a:spcAft>
              <a:buSzPts val="1600"/>
              <a:buFont typeface="Arial"/>
              <a:buChar char="•"/>
            </a:pPr>
            <a:r>
              <a:rPr lang="en-US" sz="1600">
                <a:solidFill>
                  <a:schemeClr val="dk1"/>
                </a:solidFill>
              </a:rPr>
              <a:t>In group therapy, several clients meet with a trained therapist to discuss a common issue such as divorce, grief, an eating disorder, substance abuse, or anger management. </a:t>
            </a:r>
            <a:endParaRPr/>
          </a:p>
          <a:p>
            <a:pPr indent="0" lvl="0" marL="0" rtl="0" algn="l">
              <a:spcBef>
                <a:spcPts val="920"/>
              </a:spcBef>
              <a:spcAft>
                <a:spcPts val="0"/>
              </a:spcAft>
              <a:buClr>
                <a:srgbClr val="6CB255"/>
              </a:buClr>
              <a:buSzPts val="1600"/>
              <a:buNone/>
            </a:pPr>
            <a:r>
              <a:t/>
            </a:r>
            <a:endParaRPr sz="1600">
              <a:solidFill>
                <a:schemeClr val="dk1"/>
              </a:solidFill>
            </a:endParaRPr>
          </a:p>
        </p:txBody>
      </p:sp>
      <p:pic>
        <p:nvPicPr>
          <p:cNvPr descr="OSC-Stacked-TM-RGB-1.png" id="275" name="Google Shape;275;p34"/>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pic>
        <p:nvPicPr>
          <p:cNvPr descr="CNX_Psych_16_03_Group.jpg" id="276" name="Google Shape;276;p34"/>
          <p:cNvPicPr preferRelativeResize="0"/>
          <p:nvPr/>
        </p:nvPicPr>
        <p:blipFill rotWithShape="1">
          <a:blip r:embed="rId4">
            <a:alphaModFix/>
          </a:blip>
          <a:srcRect b="0" l="-26866" r="-26866" t="0"/>
          <a:stretch/>
        </p:blipFill>
        <p:spPr>
          <a:xfrm>
            <a:off x="4488656" y="3958198"/>
            <a:ext cx="5525458" cy="2398574"/>
          </a:xfrm>
          <a:prstGeom prst="rect">
            <a:avLst/>
          </a:prstGeom>
          <a:noFill/>
          <a:ln>
            <a:noFill/>
          </a:ln>
        </p:spPr>
      </p:pic>
      <p:sp>
        <p:nvSpPr>
          <p:cNvPr id="277" name="Google Shape;277;p34"/>
          <p:cNvSpPr txBox="1"/>
          <p:nvPr/>
        </p:nvSpPr>
        <p:spPr>
          <a:xfrm>
            <a:off x="6355366" y="6448946"/>
            <a:ext cx="2834641"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16.16 (credit: Cory Zanker)</a:t>
            </a:r>
            <a:endParaRPr sz="1300">
              <a:solidFill>
                <a:schemeClr val="dk1"/>
              </a:solidFill>
              <a:latin typeface="Arial"/>
              <a:ea typeface="Arial"/>
              <a:cs typeface="Arial"/>
              <a:sym typeface="Arial"/>
            </a:endParaRPr>
          </a:p>
        </p:txBody>
      </p:sp>
      <p:sp>
        <p:nvSpPr>
          <p:cNvPr id="278" name="Google Shape;278;p34"/>
          <p:cNvSpPr txBox="1"/>
          <p:nvPr/>
        </p:nvSpPr>
        <p:spPr>
          <a:xfrm>
            <a:off x="457199" y="4243350"/>
            <a:ext cx="4969239" cy="2352321"/>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rgbClr val="6CB255"/>
              </a:buClr>
              <a:buSzPts val="1600"/>
              <a:buFont typeface="Arial"/>
              <a:buChar char="•"/>
            </a:pPr>
            <a:r>
              <a:rPr b="0" lang="en-US" sz="1600">
                <a:solidFill>
                  <a:schemeClr val="dk1"/>
                </a:solidFill>
                <a:latin typeface="Arial"/>
                <a:ea typeface="Arial"/>
                <a:cs typeface="Arial"/>
                <a:sym typeface="Arial"/>
              </a:rPr>
              <a:t>Can help decrease shame and isolation.</a:t>
            </a:r>
            <a:endParaRPr/>
          </a:p>
          <a:p>
            <a:pPr indent="-285750" lvl="0" marL="285750" marR="0" rtl="0" algn="l">
              <a:spcBef>
                <a:spcPts val="920"/>
              </a:spcBef>
              <a:spcAft>
                <a:spcPts val="0"/>
              </a:spcAft>
              <a:buClr>
                <a:srgbClr val="6CB255"/>
              </a:buClr>
              <a:buSzPts val="1600"/>
              <a:buFont typeface="Arial"/>
              <a:buChar char="•"/>
            </a:pPr>
            <a:r>
              <a:rPr b="0" lang="en-US" sz="1600">
                <a:solidFill>
                  <a:schemeClr val="dk1"/>
                </a:solidFill>
                <a:latin typeface="Arial"/>
                <a:ea typeface="Arial"/>
                <a:cs typeface="Arial"/>
                <a:sym typeface="Arial"/>
              </a:rPr>
              <a:t>Clients may have concerns about confidentiality or feel uncomfortable sharing problems with strangers.</a:t>
            </a:r>
            <a:endParaRPr/>
          </a:p>
          <a:p>
            <a:pPr indent="-285750" lvl="0" marL="285750" marR="0" rtl="0" algn="l">
              <a:spcBef>
                <a:spcPts val="920"/>
              </a:spcBef>
              <a:spcAft>
                <a:spcPts val="0"/>
              </a:spcAft>
              <a:buClr>
                <a:srgbClr val="6CB255"/>
              </a:buClr>
              <a:buSzPts val="1600"/>
              <a:buFont typeface="Arial"/>
              <a:buChar char="•"/>
            </a:pPr>
            <a:r>
              <a:rPr b="1" lang="en-US" sz="1600">
                <a:solidFill>
                  <a:schemeClr val="dk1"/>
                </a:solidFill>
                <a:latin typeface="Arial"/>
                <a:ea typeface="Arial"/>
                <a:cs typeface="Arial"/>
                <a:sym typeface="Arial"/>
              </a:rPr>
              <a:t>Psycho-educational groups </a:t>
            </a:r>
            <a:r>
              <a:rPr b="0" lang="en-US" sz="1600">
                <a:solidFill>
                  <a:schemeClr val="dk1"/>
                </a:solidFill>
                <a:latin typeface="Arial"/>
                <a:ea typeface="Arial"/>
                <a:cs typeface="Arial"/>
                <a:sym typeface="Arial"/>
              </a:rPr>
              <a:t>– groups with a strong educational component. E.g., group for children whose parents have cancer which teaches them about cancer.</a:t>
            </a:r>
            <a:endParaRPr b="0" sz="16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TREATMENT MODALITIES</a:t>
            </a:r>
            <a:endParaRPr/>
          </a:p>
        </p:txBody>
      </p:sp>
      <p:pic>
        <p:nvPicPr>
          <p:cNvPr descr="CNX_Psych_16_03_Couple.jpg" id="284" name="Google Shape;284;p35"/>
          <p:cNvPicPr preferRelativeResize="0"/>
          <p:nvPr>
            <p:ph idx="2" type="pic"/>
          </p:nvPr>
        </p:nvPicPr>
        <p:blipFill rotWithShape="1">
          <a:blip r:embed="rId3">
            <a:alphaModFix/>
          </a:blip>
          <a:srcRect b="0" l="-26729" r="-26729" t="0"/>
          <a:stretch/>
        </p:blipFill>
        <p:spPr>
          <a:xfrm>
            <a:off x="4272197" y="4322647"/>
            <a:ext cx="5738537" cy="2229514"/>
          </a:xfrm>
          <a:prstGeom prst="rect">
            <a:avLst/>
          </a:prstGeom>
          <a:noFill/>
          <a:ln>
            <a:noFill/>
          </a:ln>
        </p:spPr>
      </p:pic>
      <p:sp>
        <p:nvSpPr>
          <p:cNvPr id="285" name="Google Shape;285;p35"/>
          <p:cNvSpPr txBox="1"/>
          <p:nvPr>
            <p:ph idx="1" type="body"/>
          </p:nvPr>
        </p:nvSpPr>
        <p:spPr>
          <a:xfrm>
            <a:off x="307297" y="4230473"/>
            <a:ext cx="5014211" cy="234248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u="sng">
                <a:solidFill>
                  <a:srgbClr val="6CB255"/>
                </a:solidFill>
              </a:rPr>
              <a:t>Couples Therapy</a:t>
            </a:r>
            <a:endParaRPr/>
          </a:p>
          <a:p>
            <a:pPr indent="-285750" lvl="0" marL="285750" rtl="0" algn="l">
              <a:spcBef>
                <a:spcPts val="700"/>
              </a:spcBef>
              <a:spcAft>
                <a:spcPts val="0"/>
              </a:spcAft>
              <a:buSzPts val="1600"/>
              <a:buFont typeface="Arial"/>
              <a:buChar char="•"/>
            </a:pPr>
            <a:r>
              <a:rPr lang="en-US" sz="1600"/>
              <a:t>Therapist helps people work on difficulties in their relationship - aims to help them resolve problems and implement strategies that will lead to a healthier and happier relationship.</a:t>
            </a:r>
            <a:endParaRPr sz="1600"/>
          </a:p>
          <a:p>
            <a:pPr indent="-285750" lvl="0" marL="285750" rtl="0" algn="l">
              <a:spcBef>
                <a:spcPts val="700"/>
              </a:spcBef>
              <a:spcAft>
                <a:spcPts val="0"/>
              </a:spcAft>
              <a:buSzPts val="1600"/>
              <a:buFont typeface="Arial"/>
              <a:buChar char="•"/>
            </a:pPr>
            <a:r>
              <a:rPr lang="en-US" sz="1600"/>
              <a:t>E.g. how to listen, how to argue, and how to express feelings.</a:t>
            </a:r>
            <a:endParaRPr/>
          </a:p>
          <a:p>
            <a:pPr indent="-285750" lvl="0" marL="285750" rtl="0" algn="l">
              <a:spcBef>
                <a:spcPts val="700"/>
              </a:spcBef>
              <a:spcAft>
                <a:spcPts val="0"/>
              </a:spcAft>
              <a:buSzPts val="1600"/>
              <a:buFont typeface="Arial"/>
              <a:buChar char="•"/>
            </a:pPr>
            <a:r>
              <a:rPr lang="en-US" sz="1600"/>
              <a:t>Primarily uses cognitive-behavioral therapy.</a:t>
            </a:r>
            <a:endParaRPr sz="1600"/>
          </a:p>
        </p:txBody>
      </p:sp>
      <p:pic>
        <p:nvPicPr>
          <p:cNvPr descr="OSC-Stacked-TM-RGB-1.png" id="286" name="Google Shape;286;p35"/>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287" name="Google Shape;287;p35"/>
          <p:cNvSpPr txBox="1"/>
          <p:nvPr/>
        </p:nvSpPr>
        <p:spPr>
          <a:xfrm>
            <a:off x="6324887" y="6505636"/>
            <a:ext cx="289560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16.17 (credit: Cory Zanker)</a:t>
            </a:r>
            <a:endParaRPr sz="1300">
              <a:solidFill>
                <a:schemeClr val="dk1"/>
              </a:solidFill>
              <a:latin typeface="Arial"/>
              <a:ea typeface="Arial"/>
              <a:cs typeface="Arial"/>
              <a:sym typeface="Arial"/>
            </a:endParaRPr>
          </a:p>
        </p:txBody>
      </p:sp>
      <p:sp>
        <p:nvSpPr>
          <p:cNvPr id="288" name="Google Shape;288;p35"/>
          <p:cNvSpPr txBox="1"/>
          <p:nvPr/>
        </p:nvSpPr>
        <p:spPr>
          <a:xfrm>
            <a:off x="457200" y="993035"/>
            <a:ext cx="8491928" cy="324960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u="sng">
                <a:solidFill>
                  <a:srgbClr val="6CB255"/>
                </a:solidFill>
                <a:latin typeface="Arial"/>
                <a:ea typeface="Arial"/>
                <a:cs typeface="Arial"/>
                <a:sym typeface="Arial"/>
              </a:rPr>
              <a:t>Family Therapy</a:t>
            </a:r>
            <a:endParaRPr/>
          </a:p>
          <a:p>
            <a:pPr indent="-285750" lvl="0" marL="285750" marR="0" rtl="0" algn="l">
              <a:spcBef>
                <a:spcPts val="700"/>
              </a:spcBef>
              <a:spcAft>
                <a:spcPts val="0"/>
              </a:spcAft>
              <a:buClr>
                <a:srgbClr val="6CB255"/>
              </a:buClr>
              <a:buSzPts val="1600"/>
              <a:buFont typeface="Arial"/>
              <a:buChar char="•"/>
            </a:pPr>
            <a:r>
              <a:rPr lang="en-US" sz="1600">
                <a:solidFill>
                  <a:schemeClr val="dk1"/>
                </a:solidFill>
                <a:latin typeface="Arial"/>
                <a:ea typeface="Arial"/>
                <a:cs typeface="Arial"/>
                <a:sym typeface="Arial"/>
              </a:rPr>
              <a:t>Aims to enhance growth of each family member as well as that of the family as a whole.</a:t>
            </a:r>
            <a:endParaRPr/>
          </a:p>
          <a:p>
            <a:pPr indent="-285750" lvl="0" marL="285750" marR="0" rtl="0" algn="l">
              <a:spcBef>
                <a:spcPts val="700"/>
              </a:spcBef>
              <a:spcAft>
                <a:spcPts val="0"/>
              </a:spcAft>
              <a:buClr>
                <a:srgbClr val="6CB255"/>
              </a:buClr>
              <a:buSzPts val="1600"/>
              <a:buFont typeface="Arial"/>
              <a:buChar char="•"/>
            </a:pPr>
            <a:r>
              <a:rPr b="1" lang="en-US" sz="1600">
                <a:solidFill>
                  <a:schemeClr val="dk1"/>
                </a:solidFill>
                <a:latin typeface="Arial"/>
                <a:ea typeface="Arial"/>
                <a:cs typeface="Arial"/>
                <a:sym typeface="Arial"/>
              </a:rPr>
              <a:t>Systems approach </a:t>
            </a:r>
            <a:r>
              <a:rPr lang="en-US" sz="1600">
                <a:solidFill>
                  <a:schemeClr val="dk1"/>
                </a:solidFill>
                <a:latin typeface="Arial"/>
                <a:ea typeface="Arial"/>
                <a:cs typeface="Arial"/>
                <a:sym typeface="Arial"/>
              </a:rPr>
              <a:t>– family is viewed as an organized system, and each individual is a contributing member who creates and maintains processes within the system that shape behavior. Each member influences and is influenced by the others.</a:t>
            </a:r>
            <a:endParaRPr/>
          </a:p>
          <a:p>
            <a:pPr indent="-285750" lvl="0" marL="285750" marR="0" rtl="0" algn="l">
              <a:spcBef>
                <a:spcPts val="700"/>
              </a:spcBef>
              <a:spcAft>
                <a:spcPts val="0"/>
              </a:spcAft>
              <a:buClr>
                <a:srgbClr val="6CB255"/>
              </a:buClr>
              <a:buSzPts val="1600"/>
              <a:buFont typeface="Arial"/>
              <a:buChar char="•"/>
            </a:pPr>
            <a:r>
              <a:rPr lang="en-US" sz="1600">
                <a:solidFill>
                  <a:schemeClr val="dk1"/>
                </a:solidFill>
                <a:latin typeface="Arial"/>
                <a:ea typeface="Arial"/>
                <a:cs typeface="Arial"/>
                <a:sym typeface="Arial"/>
              </a:rPr>
              <a:t>One member usually has a problem that effects everyone (e.g., alcohol dependence) and the therapist helps them to cope with the issue.</a:t>
            </a:r>
            <a:endParaRPr/>
          </a:p>
          <a:p>
            <a:pPr indent="-285750" lvl="0" marL="285750" marR="0" rtl="0" algn="l">
              <a:spcBef>
                <a:spcPts val="700"/>
              </a:spcBef>
              <a:spcAft>
                <a:spcPts val="0"/>
              </a:spcAft>
              <a:buClr>
                <a:srgbClr val="6CB255"/>
              </a:buClr>
              <a:buSzPts val="1600"/>
              <a:buFont typeface="Arial"/>
              <a:buChar char="•"/>
            </a:pPr>
            <a:r>
              <a:rPr b="1" lang="en-US" sz="1600">
                <a:solidFill>
                  <a:schemeClr val="dk1"/>
                </a:solidFill>
                <a:latin typeface="Arial"/>
                <a:ea typeface="Arial"/>
                <a:cs typeface="Arial"/>
                <a:sym typeface="Arial"/>
              </a:rPr>
              <a:t>Structural family therapy </a:t>
            </a:r>
            <a:r>
              <a:rPr lang="en-US" sz="1600">
                <a:solidFill>
                  <a:schemeClr val="dk1"/>
                </a:solidFill>
                <a:latin typeface="Arial"/>
                <a:ea typeface="Arial"/>
                <a:cs typeface="Arial"/>
                <a:sym typeface="Arial"/>
              </a:rPr>
              <a:t>– examines and discusses the boundaries and structure of the family. Therapist helps them resolve issues and learn to communicate effectively.</a:t>
            </a:r>
            <a:endParaRPr/>
          </a:p>
          <a:p>
            <a:pPr indent="-285750" lvl="0" marL="285750" marR="0" rtl="0" algn="l">
              <a:spcBef>
                <a:spcPts val="700"/>
              </a:spcBef>
              <a:spcAft>
                <a:spcPts val="0"/>
              </a:spcAft>
              <a:buClr>
                <a:srgbClr val="6CB255"/>
              </a:buClr>
              <a:buSzPts val="1600"/>
              <a:buFont typeface="Arial"/>
              <a:buChar char="•"/>
            </a:pPr>
            <a:r>
              <a:rPr b="1" lang="en-US" sz="1600">
                <a:solidFill>
                  <a:schemeClr val="dk1"/>
                </a:solidFill>
                <a:latin typeface="Arial"/>
                <a:ea typeface="Arial"/>
                <a:cs typeface="Arial"/>
                <a:sym typeface="Arial"/>
              </a:rPr>
              <a:t>Strategic family therapy </a:t>
            </a:r>
            <a:r>
              <a:rPr lang="en-US" sz="1600">
                <a:solidFill>
                  <a:schemeClr val="dk1"/>
                </a:solidFill>
                <a:latin typeface="Arial"/>
                <a:ea typeface="Arial"/>
                <a:cs typeface="Arial"/>
                <a:sym typeface="Arial"/>
              </a:rPr>
              <a:t>– aims to address specific problems within the family that can be dealt with in a short amount of time. </a:t>
            </a:r>
            <a:endParaRPr sz="16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2" name="Shape 292"/>
        <p:cNvGrpSpPr/>
        <p:nvPr/>
      </p:nvGrpSpPr>
      <p:grpSpPr>
        <a:xfrm>
          <a:off x="0" y="0"/>
          <a:ext cx="0" cy="0"/>
          <a:chOff x="0" y="0"/>
          <a:chExt cx="0" cy="0"/>
        </a:xfrm>
      </p:grpSpPr>
      <p:sp>
        <p:nvSpPr>
          <p:cNvPr id="293" name="Google Shape;293;p36"/>
          <p:cNvSpPr txBox="1"/>
          <p:nvPr>
            <p:ph idx="1" type="body"/>
          </p:nvPr>
        </p:nvSpPr>
        <p:spPr>
          <a:xfrm>
            <a:off x="472440" y="1521662"/>
            <a:ext cx="8062912" cy="4315258"/>
          </a:xfrm>
          <a:prstGeom prst="rect">
            <a:avLst/>
          </a:prstGeom>
          <a:noFill/>
          <a:ln cap="flat" cmpd="sng" w="76200">
            <a:solidFill>
              <a:srgbClr val="6CB255"/>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2000"/>
              <a:buNone/>
            </a:pPr>
            <a:r>
              <a:t/>
            </a:r>
            <a:endParaRPr b="1">
              <a:solidFill>
                <a:srgbClr val="6CB255"/>
              </a:solidFill>
            </a:endParaRPr>
          </a:p>
          <a:p>
            <a:pPr indent="0" lvl="0" marL="0" rtl="0" algn="ctr">
              <a:spcBef>
                <a:spcPts val="1320"/>
              </a:spcBef>
              <a:spcAft>
                <a:spcPts val="0"/>
              </a:spcAft>
              <a:buSzPts val="3600"/>
              <a:buNone/>
            </a:pPr>
            <a:r>
              <a:rPr b="1" lang="en-US" sz="3600">
                <a:solidFill>
                  <a:srgbClr val="6CB255"/>
                </a:solidFill>
              </a:rPr>
              <a:t>SUBSTANCE-RELATED &amp; ADDICTIVE DISORDERS</a:t>
            </a:r>
            <a:endParaRPr/>
          </a:p>
          <a:p>
            <a:pPr indent="0" lvl="0" marL="0" rtl="0" algn="ctr">
              <a:spcBef>
                <a:spcPts val="1000"/>
              </a:spcBef>
              <a:spcAft>
                <a:spcPts val="0"/>
              </a:spcAft>
              <a:buSzPts val="2000"/>
              <a:buNone/>
            </a:pPr>
            <a:r>
              <a:t/>
            </a:r>
            <a:endParaRPr>
              <a:solidFill>
                <a:srgbClr val="6CB255"/>
              </a:solidFill>
            </a:endParaRPr>
          </a:p>
          <a:p>
            <a:pPr indent="0" lvl="0" marL="0" rtl="0" algn="ctr">
              <a:spcBef>
                <a:spcPts val="1000"/>
              </a:spcBef>
              <a:spcAft>
                <a:spcPts val="0"/>
              </a:spcAft>
              <a:buSzPts val="2000"/>
              <a:buNone/>
            </a:pPr>
            <a:r>
              <a:rPr lang="en-US">
                <a:solidFill>
                  <a:srgbClr val="6CB255"/>
                </a:solidFill>
              </a:rPr>
              <a:t>ADDICTION</a:t>
            </a:r>
            <a:endParaRPr/>
          </a:p>
          <a:p>
            <a:pPr indent="0" lvl="0" marL="0" rtl="0" algn="ctr">
              <a:spcBef>
                <a:spcPts val="1000"/>
              </a:spcBef>
              <a:spcAft>
                <a:spcPts val="0"/>
              </a:spcAft>
              <a:buSzPts val="2000"/>
              <a:buNone/>
            </a:pPr>
            <a:r>
              <a:rPr lang="en-US">
                <a:solidFill>
                  <a:srgbClr val="6CB255"/>
                </a:solidFill>
              </a:rPr>
              <a:t>SUBSTANCE-RELATED TREATMENT</a:t>
            </a:r>
            <a:endParaRPr/>
          </a:p>
          <a:p>
            <a:pPr indent="0" lvl="0" marL="0" rtl="0" algn="ctr">
              <a:spcBef>
                <a:spcPts val="1000"/>
              </a:spcBef>
              <a:spcAft>
                <a:spcPts val="0"/>
              </a:spcAft>
              <a:buSzPts val="2000"/>
              <a:buNone/>
            </a:pPr>
            <a:r>
              <a:rPr lang="en-US">
                <a:solidFill>
                  <a:srgbClr val="6CB255"/>
                </a:solidFill>
              </a:rPr>
              <a:t>WHAT MAKES TREATMENT EFFECTIVE?</a:t>
            </a:r>
            <a:endParaRPr/>
          </a:p>
          <a:p>
            <a:pPr indent="0" lvl="0" marL="0" rtl="0" algn="ctr">
              <a:spcBef>
                <a:spcPts val="1000"/>
              </a:spcBef>
              <a:spcAft>
                <a:spcPts val="0"/>
              </a:spcAft>
              <a:buSzPts val="2000"/>
              <a:buNone/>
            </a:pPr>
            <a:r>
              <a:rPr lang="en-US">
                <a:solidFill>
                  <a:srgbClr val="6CB255"/>
                </a:solidFill>
              </a:rPr>
              <a:t>COMORBID DISORDERS</a:t>
            </a:r>
            <a:endParaRPr>
              <a:solidFill>
                <a:srgbClr val="6CB255"/>
              </a:solidFill>
            </a:endParaRPr>
          </a:p>
        </p:txBody>
      </p:sp>
      <p:pic>
        <p:nvPicPr>
          <p:cNvPr descr="OSC-Stacked-TM-RGB-1.png" id="294" name="Google Shape;294;p36"/>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ADDICTION</a:t>
            </a:r>
            <a:endParaRPr/>
          </a:p>
        </p:txBody>
      </p:sp>
      <p:sp>
        <p:nvSpPr>
          <p:cNvPr id="300" name="Google Shape;300;p37"/>
          <p:cNvSpPr txBox="1"/>
          <p:nvPr>
            <p:ph idx="1" type="body"/>
          </p:nvPr>
        </p:nvSpPr>
        <p:spPr>
          <a:xfrm>
            <a:off x="457199" y="1154243"/>
            <a:ext cx="8367221" cy="518659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6CB255"/>
              </a:buClr>
              <a:buSzPts val="1600"/>
              <a:buNone/>
            </a:pPr>
            <a:r>
              <a:rPr lang="en-US" sz="1600"/>
              <a:t>Initially, individuals voluntarily choose to use a substance. </a:t>
            </a:r>
            <a:endParaRPr/>
          </a:p>
          <a:p>
            <a:pPr indent="0" lvl="0" marL="0" rtl="0" algn="l">
              <a:lnSpc>
                <a:spcPct val="90000"/>
              </a:lnSpc>
              <a:spcBef>
                <a:spcPts val="920"/>
              </a:spcBef>
              <a:spcAft>
                <a:spcPts val="0"/>
              </a:spcAft>
              <a:buClr>
                <a:srgbClr val="6CB255"/>
              </a:buClr>
              <a:buSzPts val="1600"/>
              <a:buNone/>
            </a:pPr>
            <a:r>
              <a:t/>
            </a:r>
            <a:endParaRPr sz="1600"/>
          </a:p>
          <a:p>
            <a:pPr indent="0" lvl="0" marL="0" rtl="0" algn="l">
              <a:lnSpc>
                <a:spcPct val="90000"/>
              </a:lnSpc>
              <a:spcBef>
                <a:spcPts val="920"/>
              </a:spcBef>
              <a:spcAft>
                <a:spcPts val="0"/>
              </a:spcAft>
              <a:buClr>
                <a:srgbClr val="6CB255"/>
              </a:buClr>
              <a:buSzPts val="1600"/>
              <a:buNone/>
            </a:pPr>
            <a:r>
              <a:rPr lang="en-US" sz="1600"/>
              <a:t>Chronic substance use can permanently alter the neural structure in the prefrontal cortex (associated with decision-making and judgement). </a:t>
            </a:r>
            <a:endParaRPr/>
          </a:p>
          <a:p>
            <a:pPr indent="0" lvl="0" marL="0" rtl="0" algn="l">
              <a:lnSpc>
                <a:spcPct val="90000"/>
              </a:lnSpc>
              <a:spcBef>
                <a:spcPts val="920"/>
              </a:spcBef>
              <a:spcAft>
                <a:spcPts val="0"/>
              </a:spcAft>
              <a:buClr>
                <a:srgbClr val="6CB255"/>
              </a:buClr>
              <a:buSzPts val="1600"/>
              <a:buNone/>
            </a:pPr>
            <a:r>
              <a:t/>
            </a:r>
            <a:endParaRPr sz="1600"/>
          </a:p>
          <a:p>
            <a:pPr indent="0" lvl="0" marL="0" rtl="0" algn="l">
              <a:lnSpc>
                <a:spcPct val="90000"/>
              </a:lnSpc>
              <a:spcBef>
                <a:spcPts val="920"/>
              </a:spcBef>
              <a:spcAft>
                <a:spcPts val="0"/>
              </a:spcAft>
              <a:buClr>
                <a:srgbClr val="6CB255"/>
              </a:buClr>
              <a:buSzPts val="1600"/>
              <a:buNone/>
            </a:pPr>
            <a:r>
              <a:rPr lang="en-US" sz="1600"/>
              <a:t>Person becomes driven to use drugs and/or alcohol making it difficult to stop.</a:t>
            </a:r>
            <a:endParaRPr/>
          </a:p>
          <a:p>
            <a:pPr indent="0" lvl="0" marL="0" rtl="0" algn="l">
              <a:lnSpc>
                <a:spcPct val="90000"/>
              </a:lnSpc>
              <a:spcBef>
                <a:spcPts val="920"/>
              </a:spcBef>
              <a:spcAft>
                <a:spcPts val="0"/>
              </a:spcAft>
              <a:buClr>
                <a:srgbClr val="6CB255"/>
              </a:buClr>
              <a:buSzPts val="1600"/>
              <a:buNone/>
            </a:pPr>
            <a:r>
              <a:rPr b="1" lang="en-US" sz="1600"/>
              <a:t>Relapse</a:t>
            </a:r>
            <a:r>
              <a:rPr lang="en-US" sz="1600"/>
              <a:t> – individual returns to abusing a substance after a period of improvement.</a:t>
            </a:r>
            <a:endParaRPr/>
          </a:p>
          <a:p>
            <a:pPr indent="-285750" lvl="0" marL="285750" rtl="0" algn="l">
              <a:lnSpc>
                <a:spcPct val="90000"/>
              </a:lnSpc>
              <a:spcBef>
                <a:spcPts val="920"/>
              </a:spcBef>
              <a:spcAft>
                <a:spcPts val="0"/>
              </a:spcAft>
              <a:buSzPts val="1600"/>
              <a:buFont typeface="Arial"/>
              <a:buChar char="•"/>
            </a:pPr>
            <a:r>
              <a:rPr lang="en-US" sz="1600"/>
              <a:t>About 40%-60% of individuals relapse.</a:t>
            </a:r>
            <a:endParaRPr/>
          </a:p>
          <a:p>
            <a:pPr indent="0" lvl="0" marL="0" rtl="0" algn="l">
              <a:lnSpc>
                <a:spcPct val="90000"/>
              </a:lnSpc>
              <a:spcBef>
                <a:spcPts val="920"/>
              </a:spcBef>
              <a:spcAft>
                <a:spcPts val="0"/>
              </a:spcAft>
              <a:buClr>
                <a:srgbClr val="6CB255"/>
              </a:buClr>
              <a:buSzPts val="1600"/>
              <a:buNone/>
            </a:pPr>
            <a:r>
              <a:rPr b="1" lang="en-US" sz="1600" u="sng">
                <a:solidFill>
                  <a:srgbClr val="6CB255"/>
                </a:solidFill>
              </a:rPr>
              <a:t>Comorbid Disorders</a:t>
            </a:r>
            <a:endParaRPr/>
          </a:p>
          <a:p>
            <a:pPr indent="0" lvl="0" marL="0" rtl="0" algn="l">
              <a:lnSpc>
                <a:spcPct val="90000"/>
              </a:lnSpc>
              <a:spcBef>
                <a:spcPts val="920"/>
              </a:spcBef>
              <a:spcAft>
                <a:spcPts val="0"/>
              </a:spcAft>
              <a:buClr>
                <a:srgbClr val="6CB255"/>
              </a:buClr>
              <a:buSzPts val="1600"/>
              <a:buNone/>
            </a:pPr>
            <a:r>
              <a:rPr lang="en-US" sz="1600"/>
              <a:t>Individuals addicted to drugs and/or alcohol frequently have an additional psychological disorder.</a:t>
            </a:r>
            <a:endParaRPr/>
          </a:p>
          <a:p>
            <a:pPr indent="-285750" lvl="0" marL="285750" rtl="0" algn="l">
              <a:lnSpc>
                <a:spcPct val="90000"/>
              </a:lnSpc>
              <a:spcBef>
                <a:spcPts val="920"/>
              </a:spcBef>
              <a:spcAft>
                <a:spcPts val="0"/>
              </a:spcAft>
              <a:buSzPts val="1600"/>
              <a:buFont typeface="Arial"/>
              <a:buChar char="•"/>
            </a:pPr>
            <a:r>
              <a:rPr lang="en-US" sz="1600"/>
              <a:t>Substance abusers are twice as likely to have a mood or anxiety disorder.</a:t>
            </a:r>
            <a:endParaRPr/>
          </a:p>
          <a:p>
            <a:pPr indent="-285750" lvl="0" marL="285750" rtl="0" algn="l">
              <a:lnSpc>
                <a:spcPct val="90000"/>
              </a:lnSpc>
              <a:spcBef>
                <a:spcPts val="920"/>
              </a:spcBef>
              <a:spcAft>
                <a:spcPts val="0"/>
              </a:spcAft>
              <a:buSzPts val="1600"/>
              <a:buFont typeface="Arial"/>
              <a:buChar char="•"/>
            </a:pPr>
            <a:r>
              <a:rPr lang="en-US" sz="1600"/>
              <a:t>People with psychiatric disorders may self-medicate and abuse substances.</a:t>
            </a:r>
            <a:endParaRPr/>
          </a:p>
          <a:p>
            <a:pPr indent="-285750" lvl="0" marL="285750" rtl="0" algn="l">
              <a:lnSpc>
                <a:spcPct val="90000"/>
              </a:lnSpc>
              <a:spcBef>
                <a:spcPts val="920"/>
              </a:spcBef>
              <a:spcAft>
                <a:spcPts val="0"/>
              </a:spcAft>
              <a:buSzPts val="1600"/>
              <a:buFont typeface="Arial"/>
              <a:buChar char="•"/>
            </a:pPr>
            <a:r>
              <a:rPr lang="en-US" sz="1600"/>
              <a:t>Categorized as mentally ill and chemically addicted (MICA).</a:t>
            </a:r>
            <a:endParaRPr/>
          </a:p>
          <a:p>
            <a:pPr indent="-285750" lvl="0" marL="285750" rtl="0" algn="l">
              <a:lnSpc>
                <a:spcPct val="90000"/>
              </a:lnSpc>
              <a:spcBef>
                <a:spcPts val="920"/>
              </a:spcBef>
              <a:spcAft>
                <a:spcPts val="0"/>
              </a:spcAft>
              <a:buSzPts val="1600"/>
              <a:buFont typeface="Arial"/>
              <a:buChar char="•"/>
            </a:pPr>
            <a:r>
              <a:rPr lang="en-US" sz="1600"/>
              <a:t>Problems are often chronic and treatment has limited success.</a:t>
            </a:r>
            <a:endParaRPr/>
          </a:p>
          <a:p>
            <a:pPr indent="0" lvl="0" marL="0" rtl="0" algn="l">
              <a:lnSpc>
                <a:spcPct val="90000"/>
              </a:lnSpc>
              <a:spcBef>
                <a:spcPts val="920"/>
              </a:spcBef>
              <a:spcAft>
                <a:spcPts val="0"/>
              </a:spcAft>
              <a:buClr>
                <a:srgbClr val="6CB255"/>
              </a:buClr>
              <a:buSzPts val="1600"/>
              <a:buNone/>
            </a:pPr>
            <a:r>
              <a:t/>
            </a:r>
            <a:endParaRPr sz="1600"/>
          </a:p>
        </p:txBody>
      </p:sp>
      <p:pic>
        <p:nvPicPr>
          <p:cNvPr descr="OSC-Stacked-TM-RGB-1.png" id="301" name="Google Shape;301;p37"/>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
        <p:nvSpPr>
          <p:cNvPr id="302" name="Google Shape;302;p37"/>
          <p:cNvSpPr/>
          <p:nvPr/>
        </p:nvSpPr>
        <p:spPr>
          <a:xfrm>
            <a:off x="2924832" y="1510259"/>
            <a:ext cx="45719" cy="273571"/>
          </a:xfrm>
          <a:prstGeom prst="downArrow">
            <a:avLst>
              <a:gd fmla="val 50000" name="adj1"/>
              <a:gd fmla="val 50000" name="adj2"/>
            </a:avLst>
          </a:prstGeom>
          <a:solidFill>
            <a:schemeClr val="dk1"/>
          </a:solidFill>
          <a:ln cap="flat" cmpd="sng" w="28575">
            <a:solidFill>
              <a:srgbClr val="6CB2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
        <p:nvSpPr>
          <p:cNvPr id="303" name="Google Shape;303;p37"/>
          <p:cNvSpPr/>
          <p:nvPr/>
        </p:nvSpPr>
        <p:spPr>
          <a:xfrm>
            <a:off x="2924832" y="2480873"/>
            <a:ext cx="45719" cy="307298"/>
          </a:xfrm>
          <a:prstGeom prst="downArrow">
            <a:avLst>
              <a:gd fmla="val 50000" name="adj1"/>
              <a:gd fmla="val 50000" name="adj2"/>
            </a:avLst>
          </a:prstGeom>
          <a:solidFill>
            <a:schemeClr val="dk1"/>
          </a:solidFill>
          <a:ln cap="flat" cmpd="sng" w="28575">
            <a:solidFill>
              <a:srgbClr val="6CB2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PREVALENCE OF DRUG USE</a:t>
            </a:r>
            <a:endParaRPr/>
          </a:p>
        </p:txBody>
      </p:sp>
      <p:pic>
        <p:nvPicPr>
          <p:cNvPr descr="CNX_Psych_16_04_DrugSurvey.jpg" id="309" name="Google Shape;309;p38"/>
          <p:cNvPicPr preferRelativeResize="0"/>
          <p:nvPr>
            <p:ph idx="2" type="pic"/>
          </p:nvPr>
        </p:nvPicPr>
        <p:blipFill rotWithShape="1">
          <a:blip r:embed="rId3">
            <a:alphaModFix/>
          </a:blip>
          <a:srcRect b="0" l="-47967" r="-47967" t="0"/>
          <a:stretch/>
        </p:blipFill>
        <p:spPr>
          <a:xfrm>
            <a:off x="-464695" y="2233534"/>
            <a:ext cx="10202792" cy="4428982"/>
          </a:xfrm>
          <a:prstGeom prst="rect">
            <a:avLst/>
          </a:prstGeom>
          <a:noFill/>
          <a:ln>
            <a:noFill/>
          </a:ln>
        </p:spPr>
      </p:pic>
      <p:sp>
        <p:nvSpPr>
          <p:cNvPr id="310" name="Google Shape;310;p38"/>
          <p:cNvSpPr txBox="1"/>
          <p:nvPr>
            <p:ph idx="1" type="body"/>
          </p:nvPr>
        </p:nvSpPr>
        <p:spPr>
          <a:xfrm>
            <a:off x="457200" y="1253625"/>
            <a:ext cx="8367221" cy="116638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lang="en-US" sz="1600"/>
              <a:t>The National Survey on Drug Use and Health shows trends in prevalence of various drugs for ages 12–17, 18–25, and 26 or older.</a:t>
            </a:r>
            <a:endParaRPr/>
          </a:p>
        </p:txBody>
      </p:sp>
      <p:pic>
        <p:nvPicPr>
          <p:cNvPr descr="OSC-Stacked-TM-RGB-1.png" id="311" name="Google Shape;311;p38"/>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312" name="Google Shape;312;p38"/>
          <p:cNvSpPr txBox="1"/>
          <p:nvPr/>
        </p:nvSpPr>
        <p:spPr>
          <a:xfrm>
            <a:off x="7772687" y="6370128"/>
            <a:ext cx="132588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16.18</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SUBSTANCE-RELATED TREATMENT</a:t>
            </a:r>
            <a:endParaRPr/>
          </a:p>
        </p:txBody>
      </p:sp>
      <p:pic>
        <p:nvPicPr>
          <p:cNvPr descr="CNX_Psych_16_04_Crack.jpg" id="318" name="Google Shape;318;p39"/>
          <p:cNvPicPr preferRelativeResize="0"/>
          <p:nvPr>
            <p:ph idx="2" type="pic"/>
          </p:nvPr>
        </p:nvPicPr>
        <p:blipFill rotWithShape="1">
          <a:blip r:embed="rId3">
            <a:alphaModFix/>
          </a:blip>
          <a:srcRect b="0" l="-36387" r="-36387" t="0"/>
          <a:stretch/>
        </p:blipFill>
        <p:spPr>
          <a:xfrm>
            <a:off x="3867462" y="3162925"/>
            <a:ext cx="6415790" cy="2785063"/>
          </a:xfrm>
          <a:prstGeom prst="rect">
            <a:avLst/>
          </a:prstGeom>
          <a:noFill/>
          <a:ln>
            <a:noFill/>
          </a:ln>
        </p:spPr>
      </p:pic>
      <p:sp>
        <p:nvSpPr>
          <p:cNvPr id="319" name="Google Shape;319;p39"/>
          <p:cNvSpPr txBox="1"/>
          <p:nvPr>
            <p:ph idx="1" type="body"/>
          </p:nvPr>
        </p:nvSpPr>
        <p:spPr>
          <a:xfrm>
            <a:off x="457199" y="1139253"/>
            <a:ext cx="8367222" cy="202367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Arial"/>
              <a:buChar char="•"/>
            </a:pPr>
            <a:r>
              <a:rPr lang="en-US" sz="1600"/>
              <a:t>Goal is to help an addicted person stop compulsive drug-seeking behaviors.</a:t>
            </a:r>
            <a:endParaRPr/>
          </a:p>
          <a:p>
            <a:pPr indent="-285750" lvl="0" marL="285750" rtl="0" algn="l">
              <a:spcBef>
                <a:spcPts val="920"/>
              </a:spcBef>
              <a:spcAft>
                <a:spcPts val="0"/>
              </a:spcAft>
              <a:buSzPts val="1600"/>
              <a:buFont typeface="Arial"/>
              <a:buChar char="•"/>
            </a:pPr>
            <a:r>
              <a:rPr lang="en-US" sz="1600"/>
              <a:t>Requires long-term treatment.</a:t>
            </a:r>
            <a:endParaRPr/>
          </a:p>
          <a:p>
            <a:pPr indent="-285750" lvl="0" marL="285750" rtl="0" algn="l">
              <a:spcBef>
                <a:spcPts val="920"/>
              </a:spcBef>
              <a:spcAft>
                <a:spcPts val="0"/>
              </a:spcAft>
              <a:buSzPts val="1600"/>
              <a:buFont typeface="Arial"/>
              <a:buChar char="•"/>
            </a:pPr>
            <a:r>
              <a:rPr lang="en-US" sz="1600"/>
              <a:t>More cost-effective than incarceration or not treating those with addiction - Substance use and abuse costs the United States over $600 billion a year (NIDA, 2012). </a:t>
            </a:r>
            <a:endParaRPr/>
          </a:p>
          <a:p>
            <a:pPr indent="0" lvl="0" marL="0" rtl="0" algn="l">
              <a:spcBef>
                <a:spcPts val="920"/>
              </a:spcBef>
              <a:spcAft>
                <a:spcPts val="0"/>
              </a:spcAft>
              <a:buClr>
                <a:srgbClr val="6CB255"/>
              </a:buClr>
              <a:buSzPts val="1600"/>
              <a:buNone/>
            </a:pPr>
            <a:r>
              <a:rPr b="1" lang="en-US" sz="1600"/>
              <a:t>Behavior therapy </a:t>
            </a:r>
            <a:r>
              <a:rPr lang="en-US" sz="1600"/>
              <a:t>- can help motivate the addict to participate in the treatment program and teach strategies for dealing with cravings and how to prevent relapse.</a:t>
            </a:r>
            <a:endParaRPr/>
          </a:p>
        </p:txBody>
      </p:sp>
      <p:pic>
        <p:nvPicPr>
          <p:cNvPr descr="OSC-Stacked-TM-RGB-1.png" id="320" name="Google Shape;320;p39"/>
          <p:cNvPicPr preferRelativeResize="0"/>
          <p:nvPr/>
        </p:nvPicPr>
        <p:blipFill rotWithShape="1">
          <a:blip r:embed="rId4">
            <a:alphaModFix/>
          </a:blip>
          <a:srcRect b="0" l="0" r="0" t="0"/>
          <a:stretch/>
        </p:blipFill>
        <p:spPr>
          <a:xfrm>
            <a:off x="7772687" y="241326"/>
            <a:ext cx="1051734" cy="751709"/>
          </a:xfrm>
          <a:prstGeom prst="rect">
            <a:avLst/>
          </a:prstGeom>
          <a:noFill/>
          <a:ln>
            <a:noFill/>
          </a:ln>
        </p:spPr>
      </p:pic>
      <p:sp>
        <p:nvSpPr>
          <p:cNvPr id="321" name="Google Shape;321;p39"/>
          <p:cNvSpPr txBox="1"/>
          <p:nvPr/>
        </p:nvSpPr>
        <p:spPr>
          <a:xfrm>
            <a:off x="5119140" y="6068384"/>
            <a:ext cx="4024860" cy="2923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Figure 16.19 (credit: "jellymc - urbansnaps"/Flickr)</a:t>
            </a:r>
            <a:endParaRPr/>
          </a:p>
        </p:txBody>
      </p:sp>
      <p:sp>
        <p:nvSpPr>
          <p:cNvPr id="322" name="Google Shape;322;p39"/>
          <p:cNvSpPr txBox="1"/>
          <p:nvPr/>
        </p:nvSpPr>
        <p:spPr>
          <a:xfrm>
            <a:off x="457199" y="3162925"/>
            <a:ext cx="4639457" cy="245708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Medication uses: </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To detox the addict safely after an overdose. </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To prevent seizures and agitation that often occur in detox.</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To prevent reuse of the drug.</a:t>
            </a:r>
            <a:endParaRPr/>
          </a:p>
          <a:p>
            <a:pPr indent="-285750" lvl="0" marL="285750" marR="0" rtl="0" algn="l">
              <a:spcBef>
                <a:spcPts val="984"/>
              </a:spcBef>
              <a:spcAft>
                <a:spcPts val="0"/>
              </a:spcAft>
              <a:buClr>
                <a:srgbClr val="6CB255"/>
              </a:buClr>
              <a:buSzPts val="1600"/>
              <a:buFont typeface="Arial"/>
              <a:buChar char="•"/>
            </a:pPr>
            <a:r>
              <a:rPr lang="en-US" sz="1600">
                <a:solidFill>
                  <a:schemeClr val="dk1"/>
                </a:solidFill>
                <a:latin typeface="Arial"/>
                <a:ea typeface="Arial"/>
                <a:cs typeface="Arial"/>
                <a:sym typeface="Arial"/>
              </a:rPr>
              <a:t>To manage withdrawal symptoms.</a:t>
            </a:r>
            <a:endParaRPr/>
          </a:p>
          <a:p>
            <a:pPr indent="0" lvl="0" marL="0" marR="0" rtl="0" algn="l">
              <a:spcBef>
                <a:spcPts val="984"/>
              </a:spcBef>
              <a:spcAft>
                <a:spcPts val="0"/>
              </a:spcAft>
              <a:buNone/>
            </a:pPr>
            <a:r>
              <a:t/>
            </a:r>
            <a:endParaRPr sz="1600">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6" name="Shape 326"/>
        <p:cNvGrpSpPr/>
        <p:nvPr/>
      </p:nvGrpSpPr>
      <p:grpSpPr>
        <a:xfrm>
          <a:off x="0" y="0"/>
          <a:ext cx="0" cy="0"/>
          <a:chOff x="0" y="0"/>
          <a:chExt cx="0" cy="0"/>
        </a:xfrm>
      </p:grpSpPr>
      <p:sp>
        <p:nvSpPr>
          <p:cNvPr id="327" name="Google Shape;327;p40"/>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WHAT MAKES TREATMENT EFFECTIVE?</a:t>
            </a:r>
            <a:endParaRPr/>
          </a:p>
        </p:txBody>
      </p:sp>
      <p:sp>
        <p:nvSpPr>
          <p:cNvPr id="328" name="Google Shape;328;p40"/>
          <p:cNvSpPr txBox="1"/>
          <p:nvPr>
            <p:ph idx="1" type="body"/>
          </p:nvPr>
        </p:nvSpPr>
        <p:spPr>
          <a:xfrm>
            <a:off x="457200" y="1216362"/>
            <a:ext cx="8476939" cy="438995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6CB255"/>
              </a:buClr>
              <a:buSzPts val="1600"/>
              <a:buNone/>
            </a:pPr>
            <a:r>
              <a:rPr b="1" lang="en-US" sz="1600"/>
              <a:t>Duration of treatment - </a:t>
            </a:r>
            <a:r>
              <a:rPr lang="en-US" sz="1600"/>
              <a:t>At least 3 months is usually needed to achieve a positive outcome.</a:t>
            </a:r>
            <a:endParaRPr/>
          </a:p>
          <a:p>
            <a:pPr indent="0" lvl="0" marL="0" rtl="0" algn="l">
              <a:spcBef>
                <a:spcPts val="920"/>
              </a:spcBef>
              <a:spcAft>
                <a:spcPts val="0"/>
              </a:spcAft>
              <a:buClr>
                <a:srgbClr val="6CB255"/>
              </a:buClr>
              <a:buSzPts val="1600"/>
              <a:buNone/>
            </a:pPr>
            <a:r>
              <a:rPr b="1" lang="en-US" sz="1600"/>
              <a:t>Holistic treatment </a:t>
            </a:r>
            <a:r>
              <a:rPr lang="en-US" sz="1600"/>
              <a:t>– addresses multiple needs, not just the drug addiction, due to psychological, physiological, behavioral, and social aspect of abuse.</a:t>
            </a:r>
            <a:endParaRPr/>
          </a:p>
          <a:p>
            <a:pPr indent="-285750" lvl="0" marL="285750" rtl="0" algn="l">
              <a:spcBef>
                <a:spcPts val="920"/>
              </a:spcBef>
              <a:spcAft>
                <a:spcPts val="0"/>
              </a:spcAft>
              <a:buSzPts val="1600"/>
              <a:buFont typeface="Arial"/>
              <a:buChar char="•"/>
            </a:pPr>
            <a:r>
              <a:rPr lang="en-US" sz="1600"/>
              <a:t>Addresses stress management, communication, relationship issues, parenting, vocational concerns, and legal concerns.</a:t>
            </a:r>
            <a:endParaRPr/>
          </a:p>
          <a:p>
            <a:pPr indent="0" lvl="0" marL="0" rtl="0" algn="l">
              <a:spcBef>
                <a:spcPts val="920"/>
              </a:spcBef>
              <a:spcAft>
                <a:spcPts val="0"/>
              </a:spcAft>
              <a:buClr>
                <a:srgbClr val="6CB255"/>
              </a:buClr>
              <a:buSzPts val="1600"/>
              <a:buNone/>
            </a:pPr>
            <a:r>
              <a:rPr b="1" lang="en-US" sz="1600"/>
              <a:t>Group therapy </a:t>
            </a:r>
            <a:r>
              <a:rPr lang="en-US" sz="1600"/>
              <a:t>– addicts are more likely to maintain sobriety in a group format due to the rewarding and therapeutic benefits of the group such as support, affiliation, identification, and even confrontation.</a:t>
            </a:r>
            <a:endParaRPr/>
          </a:p>
          <a:p>
            <a:pPr indent="0" lvl="0" marL="0" rtl="0" algn="l">
              <a:spcBef>
                <a:spcPts val="920"/>
              </a:spcBef>
              <a:spcAft>
                <a:spcPts val="0"/>
              </a:spcAft>
              <a:buClr>
                <a:srgbClr val="6CB255"/>
              </a:buClr>
              <a:buSzPts val="1600"/>
              <a:buNone/>
            </a:pPr>
            <a:r>
              <a:rPr b="1" lang="en-US" sz="1600"/>
              <a:t>Parental involvement </a:t>
            </a:r>
            <a:r>
              <a:rPr lang="en-US" sz="1600"/>
              <a:t>– correlated with greater reduction in use by teen substance abusers.</a:t>
            </a:r>
            <a:endParaRPr sz="1600"/>
          </a:p>
        </p:txBody>
      </p:sp>
      <p:pic>
        <p:nvPicPr>
          <p:cNvPr descr="OSC-Stacked-TM-RGB-1.png" id="329" name="Google Shape;329;p40"/>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3" name="Shape 333"/>
        <p:cNvGrpSpPr/>
        <p:nvPr/>
      </p:nvGrpSpPr>
      <p:grpSpPr>
        <a:xfrm>
          <a:off x="0" y="0"/>
          <a:ext cx="0" cy="0"/>
          <a:chOff x="0" y="0"/>
          <a:chExt cx="0" cy="0"/>
        </a:xfrm>
      </p:grpSpPr>
      <p:sp>
        <p:nvSpPr>
          <p:cNvPr id="334" name="Google Shape;334;p41"/>
          <p:cNvSpPr txBox="1"/>
          <p:nvPr>
            <p:ph idx="1" type="body"/>
          </p:nvPr>
        </p:nvSpPr>
        <p:spPr>
          <a:xfrm>
            <a:off x="457200" y="1417320"/>
            <a:ext cx="8367221" cy="3825240"/>
          </a:xfrm>
          <a:prstGeom prst="rect">
            <a:avLst/>
          </a:prstGeom>
          <a:noFill/>
          <a:ln cap="flat" cmpd="sng" w="76200">
            <a:solidFill>
              <a:srgbClr val="6CB255"/>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SzPts val="2000"/>
              <a:buNone/>
            </a:pPr>
            <a:r>
              <a:t/>
            </a:r>
            <a:endParaRPr b="1">
              <a:solidFill>
                <a:srgbClr val="6CB255"/>
              </a:solidFill>
            </a:endParaRPr>
          </a:p>
          <a:p>
            <a:pPr indent="0" lvl="0" marL="0" rtl="0" algn="ctr">
              <a:spcBef>
                <a:spcPts val="1320"/>
              </a:spcBef>
              <a:spcAft>
                <a:spcPts val="0"/>
              </a:spcAft>
              <a:buSzPts val="3600"/>
              <a:buNone/>
            </a:pPr>
            <a:r>
              <a:rPr b="1" lang="en-US" sz="3600">
                <a:solidFill>
                  <a:srgbClr val="6CB255"/>
                </a:solidFill>
              </a:rPr>
              <a:t>THE SOCIOCULTURAL MODEL &amp; THERAPY UTILIZATION</a:t>
            </a:r>
            <a:endParaRPr/>
          </a:p>
          <a:p>
            <a:pPr indent="0" lvl="0" marL="0" rtl="0" algn="ctr">
              <a:spcBef>
                <a:spcPts val="1000"/>
              </a:spcBef>
              <a:spcAft>
                <a:spcPts val="0"/>
              </a:spcAft>
              <a:buSzPts val="2000"/>
              <a:buNone/>
            </a:pPr>
            <a:r>
              <a:t/>
            </a:r>
            <a:endParaRPr b="1">
              <a:solidFill>
                <a:srgbClr val="6CB255"/>
              </a:solidFill>
            </a:endParaRPr>
          </a:p>
          <a:p>
            <a:pPr indent="0" lvl="0" marL="0" rtl="0" algn="ctr">
              <a:spcBef>
                <a:spcPts val="1000"/>
              </a:spcBef>
              <a:spcAft>
                <a:spcPts val="0"/>
              </a:spcAft>
              <a:buSzPts val="2000"/>
              <a:buNone/>
            </a:pPr>
            <a:r>
              <a:rPr lang="en-US">
                <a:solidFill>
                  <a:srgbClr val="6CB255"/>
                </a:solidFill>
              </a:rPr>
              <a:t>SOCIOCULTURAL PERSPECTIVE</a:t>
            </a:r>
            <a:endParaRPr/>
          </a:p>
          <a:p>
            <a:pPr indent="0" lvl="0" marL="0" rtl="0" algn="ctr">
              <a:spcBef>
                <a:spcPts val="1000"/>
              </a:spcBef>
              <a:spcAft>
                <a:spcPts val="0"/>
              </a:spcAft>
              <a:buSzPts val="2000"/>
              <a:buNone/>
            </a:pPr>
            <a:r>
              <a:rPr lang="en-US">
                <a:solidFill>
                  <a:srgbClr val="6CB255"/>
                </a:solidFill>
              </a:rPr>
              <a:t>TREATMENT BARRIERS</a:t>
            </a:r>
            <a:endParaRPr/>
          </a:p>
        </p:txBody>
      </p:sp>
      <p:pic>
        <p:nvPicPr>
          <p:cNvPr descr="OSC-Stacked-TM-RGB-1.png" id="335" name="Google Shape;335;p41"/>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THE SOCIOCULTURAL MODEL</a:t>
            </a:r>
            <a:endParaRPr/>
          </a:p>
        </p:txBody>
      </p:sp>
      <p:pic>
        <p:nvPicPr>
          <p:cNvPr descr="OSC-Stacked-TM-RGB-1.png" id="341" name="Google Shape;341;p42"/>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
        <p:nvSpPr>
          <p:cNvPr id="342" name="Google Shape;342;p42"/>
          <p:cNvSpPr txBox="1"/>
          <p:nvPr/>
        </p:nvSpPr>
        <p:spPr>
          <a:xfrm>
            <a:off x="457199" y="1211810"/>
            <a:ext cx="8367221" cy="52039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6CB255"/>
              </a:buClr>
              <a:buSzPts val="1600"/>
              <a:buFont typeface="Arial"/>
              <a:buNone/>
            </a:pPr>
            <a:r>
              <a:rPr b="0" lang="en-US" sz="1600">
                <a:solidFill>
                  <a:srgbClr val="000000"/>
                </a:solidFill>
                <a:latin typeface="Arial"/>
                <a:ea typeface="Arial"/>
                <a:cs typeface="Arial"/>
                <a:sym typeface="Arial"/>
              </a:rPr>
              <a:t>This perspective looks at you, your behaviors, and symptoms in the context of your culture and background.</a:t>
            </a:r>
            <a:endParaRPr/>
          </a:p>
          <a:p>
            <a:pPr indent="0" lvl="0" marL="0" marR="0" rtl="0" algn="l">
              <a:lnSpc>
                <a:spcPct val="90000"/>
              </a:lnSpc>
              <a:spcBef>
                <a:spcPts val="920"/>
              </a:spcBef>
              <a:spcAft>
                <a:spcPts val="0"/>
              </a:spcAft>
              <a:buClr>
                <a:srgbClr val="6CB255"/>
              </a:buClr>
              <a:buSzPts val="1600"/>
              <a:buFont typeface="Arial"/>
              <a:buNone/>
            </a:pPr>
            <a:r>
              <a:rPr b="0" i="1" lang="en-US" sz="1600">
                <a:solidFill>
                  <a:srgbClr val="000000"/>
                </a:solidFill>
                <a:latin typeface="Arial"/>
                <a:ea typeface="Arial"/>
                <a:cs typeface="Arial"/>
                <a:sym typeface="Arial"/>
              </a:rPr>
              <a:t>How do your cultural and religious beliefs affect your attitude toward mental health treatment? </a:t>
            </a:r>
            <a:endParaRPr b="0" i="1" sz="1600">
              <a:solidFill>
                <a:srgbClr val="000000"/>
              </a:solidFill>
              <a:latin typeface="Arial"/>
              <a:ea typeface="Arial"/>
              <a:cs typeface="Arial"/>
              <a:sym typeface="Arial"/>
            </a:endParaRPr>
          </a:p>
          <a:p>
            <a:pPr indent="0" lvl="0" marL="0" marR="0" rtl="0" algn="l">
              <a:lnSpc>
                <a:spcPct val="90000"/>
              </a:lnSpc>
              <a:spcBef>
                <a:spcPts val="920"/>
              </a:spcBef>
              <a:spcAft>
                <a:spcPts val="0"/>
              </a:spcAft>
              <a:buClr>
                <a:srgbClr val="6CB255"/>
              </a:buClr>
              <a:buSzPts val="1600"/>
              <a:buFont typeface="Arial"/>
              <a:buNone/>
            </a:pPr>
            <a:r>
              <a:rPr b="1" lang="en-US" sz="1600">
                <a:solidFill>
                  <a:srgbClr val="000000"/>
                </a:solidFill>
                <a:latin typeface="Arial"/>
                <a:ea typeface="Arial"/>
                <a:cs typeface="Arial"/>
                <a:sym typeface="Arial"/>
              </a:rPr>
              <a:t>Cultural competence </a:t>
            </a:r>
            <a:r>
              <a:rPr b="0" lang="en-US" sz="1600">
                <a:solidFill>
                  <a:srgbClr val="000000"/>
                </a:solidFill>
                <a:latin typeface="Arial"/>
                <a:ea typeface="Arial"/>
                <a:cs typeface="Arial"/>
                <a:sym typeface="Arial"/>
              </a:rPr>
              <a:t>– mental health professionals must understand and address issues of race, culture, and ethnicity and use strategies to effectively address needs of various populations.</a:t>
            </a:r>
            <a:endParaRPr/>
          </a:p>
          <a:p>
            <a:pPr indent="0" lvl="0" marL="0" marR="0" rtl="0" algn="l">
              <a:lnSpc>
                <a:spcPct val="90000"/>
              </a:lnSpc>
              <a:spcBef>
                <a:spcPts val="920"/>
              </a:spcBef>
              <a:spcAft>
                <a:spcPts val="0"/>
              </a:spcAft>
              <a:buClr>
                <a:srgbClr val="6CB255"/>
              </a:buClr>
              <a:buSzPts val="1600"/>
              <a:buFont typeface="Arial"/>
              <a:buNone/>
            </a:pPr>
            <a:r>
              <a:rPr b="1" lang="en-US" sz="1600">
                <a:solidFill>
                  <a:srgbClr val="000000"/>
                </a:solidFill>
                <a:latin typeface="Arial"/>
                <a:ea typeface="Arial"/>
                <a:cs typeface="Arial"/>
                <a:sym typeface="Arial"/>
              </a:rPr>
              <a:t>Multicultural counseling and therapy:</a:t>
            </a:r>
            <a:endParaRPr/>
          </a:p>
          <a:p>
            <a:pPr indent="-285750" lvl="0" marL="285750" marR="0" rtl="0" algn="l">
              <a:lnSpc>
                <a:spcPct val="90000"/>
              </a:lnSpc>
              <a:spcBef>
                <a:spcPts val="920"/>
              </a:spcBef>
              <a:spcAft>
                <a:spcPts val="0"/>
              </a:spcAft>
              <a:buClr>
                <a:srgbClr val="6CB255"/>
              </a:buClr>
              <a:buSzPts val="1600"/>
              <a:buFont typeface="Arial"/>
              <a:buChar char="•"/>
            </a:pPr>
            <a:r>
              <a:rPr b="0" lang="en-US" sz="1600">
                <a:solidFill>
                  <a:srgbClr val="000000"/>
                </a:solidFill>
                <a:latin typeface="Arial"/>
                <a:ea typeface="Arial"/>
                <a:cs typeface="Arial"/>
                <a:sym typeface="Arial"/>
              </a:rPr>
              <a:t>Integrates the impact of cultural and social norms.</a:t>
            </a:r>
            <a:endParaRPr b="0" sz="1600">
              <a:solidFill>
                <a:srgbClr val="000000"/>
              </a:solidFill>
              <a:latin typeface="Arial"/>
              <a:ea typeface="Arial"/>
              <a:cs typeface="Arial"/>
              <a:sym typeface="Arial"/>
            </a:endParaRPr>
          </a:p>
          <a:p>
            <a:pPr indent="-285750" lvl="0" marL="285750" marR="0" rtl="0" algn="l">
              <a:lnSpc>
                <a:spcPct val="90000"/>
              </a:lnSpc>
              <a:spcBef>
                <a:spcPts val="920"/>
              </a:spcBef>
              <a:spcAft>
                <a:spcPts val="0"/>
              </a:spcAft>
              <a:buClr>
                <a:srgbClr val="6CB255"/>
              </a:buClr>
              <a:buSzPts val="1600"/>
              <a:buFont typeface="Arial"/>
              <a:buChar char="•"/>
            </a:pPr>
            <a:r>
              <a:rPr b="0" lang="en-US" sz="1600">
                <a:solidFill>
                  <a:srgbClr val="000000"/>
                </a:solidFill>
                <a:latin typeface="Arial"/>
                <a:ea typeface="Arial"/>
                <a:cs typeface="Arial"/>
                <a:sym typeface="Arial"/>
              </a:rPr>
              <a:t>Aims to work with clients and define goals consistent with their life experiences and cultural values.</a:t>
            </a:r>
            <a:endParaRPr/>
          </a:p>
          <a:p>
            <a:pPr indent="-285750" lvl="0" marL="285750" marR="0" rtl="0" algn="l">
              <a:lnSpc>
                <a:spcPct val="90000"/>
              </a:lnSpc>
              <a:spcBef>
                <a:spcPts val="920"/>
              </a:spcBef>
              <a:spcAft>
                <a:spcPts val="0"/>
              </a:spcAft>
              <a:buClr>
                <a:srgbClr val="6CB255"/>
              </a:buClr>
              <a:buSzPts val="1600"/>
              <a:buFont typeface="Arial"/>
              <a:buChar char="•"/>
            </a:pPr>
            <a:r>
              <a:rPr b="0" lang="en-US" sz="1600">
                <a:solidFill>
                  <a:srgbClr val="000000"/>
                </a:solidFill>
                <a:latin typeface="Arial"/>
                <a:ea typeface="Arial"/>
                <a:cs typeface="Arial"/>
                <a:sym typeface="Arial"/>
              </a:rPr>
              <a:t>Strives to recognize client identities to include individual, group, and universal dimensions.</a:t>
            </a:r>
            <a:endParaRPr/>
          </a:p>
          <a:p>
            <a:pPr indent="-285750" lvl="0" marL="285750" marR="0" rtl="0" algn="l">
              <a:lnSpc>
                <a:spcPct val="90000"/>
              </a:lnSpc>
              <a:spcBef>
                <a:spcPts val="920"/>
              </a:spcBef>
              <a:spcAft>
                <a:spcPts val="0"/>
              </a:spcAft>
              <a:buClr>
                <a:srgbClr val="6CB255"/>
              </a:buClr>
              <a:buSzPts val="1600"/>
              <a:buFont typeface="Arial"/>
              <a:buChar char="•"/>
            </a:pPr>
            <a:r>
              <a:rPr b="0" lang="en-US" sz="1600">
                <a:solidFill>
                  <a:srgbClr val="000000"/>
                </a:solidFill>
                <a:latin typeface="Arial"/>
                <a:ea typeface="Arial"/>
                <a:cs typeface="Arial"/>
                <a:sym typeface="Arial"/>
              </a:rPr>
              <a:t>Advocates the use of universal and culture-specific strategies and roles in the healing process.</a:t>
            </a:r>
            <a:endParaRPr/>
          </a:p>
          <a:p>
            <a:pPr indent="-285750" lvl="0" marL="285750" marR="0" rtl="0" algn="l">
              <a:lnSpc>
                <a:spcPct val="90000"/>
              </a:lnSpc>
              <a:spcBef>
                <a:spcPts val="920"/>
              </a:spcBef>
              <a:spcAft>
                <a:spcPts val="0"/>
              </a:spcAft>
              <a:buClr>
                <a:srgbClr val="6CB255"/>
              </a:buClr>
              <a:buSzPts val="1600"/>
              <a:buFont typeface="Arial"/>
              <a:buChar char="•"/>
            </a:pPr>
            <a:r>
              <a:rPr b="0" lang="en-US" sz="1600">
                <a:solidFill>
                  <a:srgbClr val="000000"/>
                </a:solidFill>
                <a:latin typeface="Arial"/>
                <a:ea typeface="Arial"/>
                <a:cs typeface="Arial"/>
                <a:sym typeface="Arial"/>
              </a:rPr>
              <a:t>Balances the importance of individualism and collectivism in the assessment, diagnosis, and treatment of clients.</a:t>
            </a:r>
            <a:endParaRPr/>
          </a:p>
          <a:p>
            <a:pPr indent="0" lvl="0" marL="0" marR="0" rtl="0" algn="l">
              <a:lnSpc>
                <a:spcPct val="90000"/>
              </a:lnSpc>
              <a:spcBef>
                <a:spcPts val="920"/>
              </a:spcBef>
              <a:spcAft>
                <a:spcPts val="0"/>
              </a:spcAft>
              <a:buClr>
                <a:srgbClr val="6CB255"/>
              </a:buClr>
              <a:buSzPts val="1600"/>
              <a:buFont typeface="Arial"/>
              <a:buNone/>
            </a:pPr>
            <a:r>
              <a:t/>
            </a:r>
            <a:endParaRPr b="0" sz="1600">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Google Shape;347;p43"/>
          <p:cNvSpPr txBox="1"/>
          <p:nvPr>
            <p:ph type="title"/>
          </p:nvPr>
        </p:nvSpPr>
        <p:spPr>
          <a:xfrm>
            <a:off x="457200" y="241326"/>
            <a:ext cx="8062912" cy="65953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6CB255"/>
              </a:buClr>
              <a:buSzPts val="2400"/>
              <a:buFont typeface="Arial Black"/>
              <a:buNone/>
            </a:pPr>
            <a:r>
              <a:rPr lang="en-US"/>
              <a:t>TREATMENT BARRIERS</a:t>
            </a:r>
            <a:endParaRPr/>
          </a:p>
        </p:txBody>
      </p:sp>
      <p:sp>
        <p:nvSpPr>
          <p:cNvPr id="348" name="Google Shape;348;p43"/>
          <p:cNvSpPr txBox="1"/>
          <p:nvPr>
            <p:ph idx="1" type="body"/>
          </p:nvPr>
        </p:nvSpPr>
        <p:spPr>
          <a:xfrm>
            <a:off x="457200" y="993035"/>
            <a:ext cx="8476938" cy="586496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a:t>Access and availability of mental health services:</a:t>
            </a:r>
            <a:endParaRPr/>
          </a:p>
          <a:p>
            <a:pPr indent="-285750" lvl="0" marL="285750" rtl="0" algn="l">
              <a:spcBef>
                <a:spcPts val="700"/>
              </a:spcBef>
              <a:spcAft>
                <a:spcPts val="0"/>
              </a:spcAft>
              <a:buSzPts val="1600"/>
              <a:buFont typeface="Arial"/>
              <a:buChar char="•"/>
            </a:pPr>
            <a:r>
              <a:rPr lang="en-US" sz="1600"/>
              <a:t>Lack of insurance.</a:t>
            </a:r>
            <a:endParaRPr/>
          </a:p>
          <a:p>
            <a:pPr indent="-285750" lvl="0" marL="285750" rtl="0" algn="l">
              <a:spcBef>
                <a:spcPts val="700"/>
              </a:spcBef>
              <a:spcAft>
                <a:spcPts val="0"/>
              </a:spcAft>
              <a:buSzPts val="1600"/>
              <a:buFont typeface="Arial"/>
              <a:buChar char="•"/>
            </a:pPr>
            <a:r>
              <a:rPr lang="en-US" sz="1600"/>
              <a:t>Transportation.</a:t>
            </a:r>
            <a:endParaRPr/>
          </a:p>
          <a:p>
            <a:pPr indent="-285750" lvl="0" marL="285750" rtl="0" algn="l">
              <a:spcBef>
                <a:spcPts val="700"/>
              </a:spcBef>
              <a:spcAft>
                <a:spcPts val="0"/>
              </a:spcAft>
              <a:buSzPts val="1600"/>
              <a:buFont typeface="Arial"/>
              <a:buChar char="•"/>
            </a:pPr>
            <a:r>
              <a:rPr lang="en-US" sz="1600"/>
              <a:t>Time.</a:t>
            </a:r>
            <a:endParaRPr/>
          </a:p>
          <a:p>
            <a:pPr indent="0" lvl="0" marL="0" rtl="0" algn="l">
              <a:spcBef>
                <a:spcPts val="700"/>
              </a:spcBef>
              <a:spcAft>
                <a:spcPts val="0"/>
              </a:spcAft>
              <a:buSzPts val="1600"/>
              <a:buNone/>
            </a:pPr>
            <a:r>
              <a:rPr lang="en-US" sz="1600"/>
              <a:t>Even when access is comparable among racial and ethnic groups, minorities utilize mental health services less than white, middle-class Americans.</a:t>
            </a:r>
            <a:endParaRPr/>
          </a:p>
          <a:p>
            <a:pPr indent="0" lvl="0" marL="0" rtl="0" algn="l">
              <a:spcBef>
                <a:spcPts val="700"/>
              </a:spcBef>
              <a:spcAft>
                <a:spcPts val="0"/>
              </a:spcAft>
              <a:buSzPts val="1600"/>
              <a:buNone/>
            </a:pPr>
            <a:r>
              <a:rPr b="1" lang="en-US" sz="1600"/>
              <a:t>Ethical disparities:</a:t>
            </a:r>
            <a:endParaRPr/>
          </a:p>
          <a:p>
            <a:pPr indent="-285750" lvl="0" marL="285750" rtl="0" algn="l">
              <a:spcBef>
                <a:spcPts val="700"/>
              </a:spcBef>
              <a:spcAft>
                <a:spcPts val="0"/>
              </a:spcAft>
              <a:buSzPts val="1600"/>
              <a:buFont typeface="Arial"/>
              <a:buChar char="•"/>
            </a:pPr>
            <a:r>
              <a:rPr lang="en-US" sz="1600"/>
              <a:t>Lack of bilingual treatment.</a:t>
            </a:r>
            <a:endParaRPr/>
          </a:p>
          <a:p>
            <a:pPr indent="-285750" lvl="0" marL="285750" rtl="0" algn="l">
              <a:spcBef>
                <a:spcPts val="700"/>
              </a:spcBef>
              <a:spcAft>
                <a:spcPts val="0"/>
              </a:spcAft>
              <a:buSzPts val="1600"/>
              <a:buFont typeface="Arial"/>
              <a:buChar char="•"/>
            </a:pPr>
            <a:r>
              <a:rPr lang="en-US" sz="1600"/>
              <a:t>Stigma.</a:t>
            </a:r>
            <a:endParaRPr/>
          </a:p>
          <a:p>
            <a:pPr indent="-285750" lvl="0" marL="285750" rtl="0" algn="l">
              <a:spcBef>
                <a:spcPts val="700"/>
              </a:spcBef>
              <a:spcAft>
                <a:spcPts val="0"/>
              </a:spcAft>
              <a:buSzPts val="1600"/>
              <a:buFont typeface="Arial"/>
              <a:buChar char="•"/>
            </a:pPr>
            <a:r>
              <a:rPr lang="en-US" sz="1600"/>
              <a:t>Fear of not being understood.</a:t>
            </a:r>
            <a:endParaRPr/>
          </a:p>
          <a:p>
            <a:pPr indent="-285750" lvl="0" marL="285750" rtl="0" algn="l">
              <a:spcBef>
                <a:spcPts val="700"/>
              </a:spcBef>
              <a:spcAft>
                <a:spcPts val="0"/>
              </a:spcAft>
              <a:buSzPts val="1600"/>
              <a:buFont typeface="Arial"/>
              <a:buChar char="•"/>
            </a:pPr>
            <a:r>
              <a:rPr lang="en-US" sz="1600"/>
              <a:t>Family privacy.</a:t>
            </a:r>
            <a:endParaRPr/>
          </a:p>
          <a:p>
            <a:pPr indent="-285750" lvl="0" marL="285750" rtl="0" algn="l">
              <a:spcBef>
                <a:spcPts val="700"/>
              </a:spcBef>
              <a:spcAft>
                <a:spcPts val="0"/>
              </a:spcAft>
              <a:buSzPts val="1600"/>
              <a:buFont typeface="Arial"/>
              <a:buChar char="•"/>
            </a:pPr>
            <a:r>
              <a:rPr lang="en-US" sz="1600"/>
              <a:t>Lack of education on mental illness.</a:t>
            </a:r>
            <a:endParaRPr/>
          </a:p>
          <a:p>
            <a:pPr indent="0" lvl="0" marL="0" rtl="0" algn="l">
              <a:spcBef>
                <a:spcPts val="700"/>
              </a:spcBef>
              <a:spcAft>
                <a:spcPts val="0"/>
              </a:spcAft>
              <a:buSzPts val="1600"/>
              <a:buNone/>
            </a:pPr>
            <a:r>
              <a:rPr b="1" lang="en-US" sz="1600"/>
              <a:t>Perceptions and attitudes:</a:t>
            </a:r>
            <a:endParaRPr/>
          </a:p>
          <a:p>
            <a:pPr indent="-285750" lvl="0" marL="285750" rtl="0" algn="l">
              <a:spcBef>
                <a:spcPts val="700"/>
              </a:spcBef>
              <a:spcAft>
                <a:spcPts val="0"/>
              </a:spcAft>
              <a:buSzPts val="1600"/>
              <a:buFont typeface="Arial"/>
              <a:buChar char="•"/>
            </a:pPr>
            <a:r>
              <a:rPr lang="en-US" sz="1600"/>
              <a:t>Self-sufficiency and not seeing the need for help.</a:t>
            </a:r>
            <a:endParaRPr/>
          </a:p>
          <a:p>
            <a:pPr indent="-285750" lvl="0" marL="285750" rtl="0" algn="l">
              <a:spcBef>
                <a:spcPts val="700"/>
              </a:spcBef>
              <a:spcAft>
                <a:spcPts val="0"/>
              </a:spcAft>
              <a:buSzPts val="1600"/>
              <a:buFont typeface="Arial"/>
              <a:buChar char="•"/>
            </a:pPr>
            <a:r>
              <a:rPr lang="en-US" sz="1600"/>
              <a:t>Not seeing therapy as effective.</a:t>
            </a:r>
            <a:endParaRPr/>
          </a:p>
          <a:p>
            <a:pPr indent="-285750" lvl="0" marL="285750" rtl="0" algn="l">
              <a:spcBef>
                <a:spcPts val="700"/>
              </a:spcBef>
              <a:spcAft>
                <a:spcPts val="0"/>
              </a:spcAft>
              <a:buSzPts val="1600"/>
              <a:buFont typeface="Arial"/>
              <a:buChar char="•"/>
            </a:pPr>
            <a:r>
              <a:rPr lang="en-US" sz="1600"/>
              <a:t>Concerns about confidentiality.</a:t>
            </a:r>
            <a:endParaRPr/>
          </a:p>
          <a:p>
            <a:pPr indent="-285750" lvl="0" marL="285750" rtl="0" algn="l">
              <a:spcBef>
                <a:spcPts val="700"/>
              </a:spcBef>
              <a:spcAft>
                <a:spcPts val="0"/>
              </a:spcAft>
              <a:buSzPts val="1600"/>
              <a:buFont typeface="Arial"/>
              <a:buChar char="•"/>
            </a:pPr>
            <a:r>
              <a:rPr lang="en-US" sz="1600"/>
              <a:t>Fear of psychiatric hospitalization or treatment itself.</a:t>
            </a:r>
            <a:endParaRPr sz="1600"/>
          </a:p>
        </p:txBody>
      </p:sp>
      <p:pic>
        <p:nvPicPr>
          <p:cNvPr descr="OSC-Stacked-TM-RGB-1.png" id="349" name="Google Shape;349;p43"/>
          <p:cNvPicPr preferRelativeResize="0"/>
          <p:nvPr/>
        </p:nvPicPr>
        <p:blipFill rotWithShape="1">
          <a:blip r:embed="rId3">
            <a:alphaModFix/>
          </a:blip>
          <a:srcRect b="0" l="0" r="0" t="0"/>
          <a:stretch/>
        </p:blipFill>
        <p:spPr>
          <a:xfrm>
            <a:off x="7772687" y="241326"/>
            <a:ext cx="1051734" cy="75170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ssential">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