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30"/>
  </p:notesMasterIdLst>
  <p:sldIdLst>
    <p:sldId id="400" r:id="rId2"/>
    <p:sldId id="311" r:id="rId3"/>
    <p:sldId id="392" r:id="rId4"/>
    <p:sldId id="391" r:id="rId5"/>
    <p:sldId id="401" r:id="rId6"/>
    <p:sldId id="402" r:id="rId7"/>
    <p:sldId id="403" r:id="rId8"/>
    <p:sldId id="271" r:id="rId9"/>
    <p:sldId id="272" r:id="rId10"/>
    <p:sldId id="273" r:id="rId11"/>
    <p:sldId id="404" r:id="rId12"/>
    <p:sldId id="405" r:id="rId13"/>
    <p:sldId id="274" r:id="rId14"/>
    <p:sldId id="406" r:id="rId15"/>
    <p:sldId id="407" r:id="rId16"/>
    <p:sldId id="408" r:id="rId17"/>
    <p:sldId id="409" r:id="rId18"/>
    <p:sldId id="413" r:id="rId19"/>
    <p:sldId id="412" r:id="rId20"/>
    <p:sldId id="411" r:id="rId21"/>
    <p:sldId id="410" r:id="rId22"/>
    <p:sldId id="393" r:id="rId23"/>
    <p:sldId id="397" r:id="rId24"/>
    <p:sldId id="398" r:id="rId25"/>
    <p:sldId id="399" r:id="rId26"/>
    <p:sldId id="394" r:id="rId27"/>
    <p:sldId id="395" r:id="rId28"/>
    <p:sldId id="396"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4444" autoAdjust="0"/>
  </p:normalViewPr>
  <p:slideViewPr>
    <p:cSldViewPr snapToGrid="0" snapToObjects="1">
      <p:cViewPr varScale="1">
        <p:scale>
          <a:sx n="30" d="100"/>
          <a:sy n="30" d="100"/>
        </p:scale>
        <p:origin x="2262" y="2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128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everyone. Today we’ll explore psychological disorders and how the DSM-5-TR organizes and defines disorders. We’ll look at the major diagnostic categories, key features, and examples from each group. The goal is to understand both the structure and the purpose of classification.</a:t>
            </a:r>
          </a:p>
          <a:p>
            <a:endParaRPr lang="en-US" dirty="0"/>
          </a:p>
        </p:txBody>
      </p:sp>
    </p:spTree>
    <p:extLst>
      <p:ext uri="{BB962C8B-B14F-4D97-AF65-F5344CB8AC3E}">
        <p14:creationId xmlns:p14="http://schemas.microsoft.com/office/powerpoint/2010/main" val="2683720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A </a:t>
            </a:r>
            <a:r>
              <a:rPr lang="en-US" b="1" dirty="0"/>
              <a:t>mental disorder</a:t>
            </a:r>
            <a:r>
              <a:rPr lang="en-US" dirty="0"/>
              <a:t> is a serious disruption in a person’s thinking, emotions, or behavior that causes distress or interferes with daily life—like </a:t>
            </a:r>
            <a:r>
              <a:rPr lang="en-US" b="1" dirty="0"/>
              <a:t>schizophrenia</a:t>
            </a:r>
            <a:r>
              <a:rPr lang="en-US" dirty="0"/>
              <a:t> or </a:t>
            </a:r>
            <a:r>
              <a:rPr lang="en-US" b="1" dirty="0"/>
              <a:t>major depression</a:t>
            </a:r>
            <a:r>
              <a:rPr lang="en-US" dirty="0"/>
              <a:t>.</a:t>
            </a:r>
          </a:p>
          <a:p>
            <a:r>
              <a:rPr lang="en-US" dirty="0"/>
              <a:t>The study of these conditions is called </a:t>
            </a:r>
            <a:r>
              <a:rPr lang="en-US" b="1" dirty="0"/>
              <a:t>psychopathology</a:t>
            </a:r>
            <a:r>
              <a:rPr lang="en-US" dirty="0"/>
              <a:t>, which looks at how mental disorders develop and affect functioning.</a:t>
            </a:r>
          </a:p>
          <a:p>
            <a:r>
              <a:rPr lang="en-US" dirty="0"/>
              <a:t>We also use the idea of </a:t>
            </a:r>
            <a:r>
              <a:rPr lang="en-US" b="1" dirty="0"/>
              <a:t>statistical abnormality</a:t>
            </a:r>
            <a:r>
              <a:rPr lang="en-US" dirty="0"/>
              <a:t>—when someone’s behavior or traits fall far outside the average range, such as scoring extremely high or low on a measure of anxiety or intelligence.</a:t>
            </a:r>
          </a:p>
          <a:p>
            <a:r>
              <a:rPr lang="en-US" dirty="0"/>
              <a:t>Together, these concepts help us define and understand what it means for behavior to be considered </a:t>
            </a:r>
            <a:r>
              <a:rPr lang="en-US" b="1" dirty="0"/>
              <a:t>“abnormal” or disordered.”</a:t>
            </a:r>
            <a:endParaRPr lang="en-US" dirty="0"/>
          </a:p>
          <a:p>
            <a:endParaRPr lang="en-US" dirty="0"/>
          </a:p>
        </p:txBody>
      </p:sp>
    </p:spTree>
    <p:extLst>
      <p:ext uri="{BB962C8B-B14F-4D97-AF65-F5344CB8AC3E}">
        <p14:creationId xmlns:p14="http://schemas.microsoft.com/office/powerpoint/2010/main" val="3011953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Let’s talk about how diagnosis and stigma can be connected. Even though diagnoses are meant to help us describe symptoms and guide treatment, labels can sometimes unintentionally lead others to judge, stereotype, or even fear people with mental health conditions. Because of this, some individuals hesitate to seek help—they worry about being ‘labeled’ or treated differently once a diagnosis is on record.</a:t>
            </a:r>
          </a:p>
          <a:p>
            <a:r>
              <a:rPr lang="en-US" dirty="0"/>
              <a:t>One way we can push back against stigma is through the language we use. Person-first language—saying </a:t>
            </a:r>
            <a:r>
              <a:rPr lang="en-US" i="1" dirty="0"/>
              <a:t>‘a person with schizophrenia’</a:t>
            </a:r>
            <a:r>
              <a:rPr lang="en-US" dirty="0"/>
              <a:t> instead of </a:t>
            </a:r>
            <a:r>
              <a:rPr lang="en-US" i="1" dirty="0"/>
              <a:t>‘a schizophrenic’</a:t>
            </a:r>
            <a:r>
              <a:rPr lang="en-US" dirty="0"/>
              <a:t>—reminds us that people are more than their symptoms and helps promote dignity and respect. As clinicians and helpers, we have to balance accuracy with empathy: diagnoses describe patterns of symptoms, not someone’s identity or worth. Ultimately, reducing diagnostic stigma means helping others understand that mental health disorders are common, treatable, and exist along a continuum of human experience—something that can touch any of us or the people we love.</a:t>
            </a:r>
          </a:p>
          <a:p>
            <a:endParaRPr lang="en-US" dirty="0"/>
          </a:p>
        </p:txBody>
      </p:sp>
    </p:spTree>
    <p:extLst>
      <p:ext uri="{BB962C8B-B14F-4D97-AF65-F5344CB8AC3E}">
        <p14:creationId xmlns:p14="http://schemas.microsoft.com/office/powerpoint/2010/main" val="822685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Mental illness doesn’t have a single cause — it develops from a </a:t>
            </a:r>
            <a:r>
              <a:rPr lang="en-US" b="1" dirty="0"/>
              <a:t>combination of biological and psychosocial factors</a:t>
            </a:r>
            <a:r>
              <a:rPr lang="en-US" dirty="0"/>
              <a:t> that interact in complex ways, like epigenetically.</a:t>
            </a:r>
          </a:p>
          <a:p>
            <a:endParaRPr lang="en-US" dirty="0"/>
          </a:p>
          <a:p>
            <a:r>
              <a:rPr lang="en-US" dirty="0"/>
              <a:t>Let’s start with </a:t>
            </a:r>
            <a:r>
              <a:rPr lang="en-US" b="1" dirty="0"/>
              <a:t>biological factors</a:t>
            </a:r>
            <a:r>
              <a:rPr lang="en-US" dirty="0"/>
              <a:t>. These involve physical or genetic influences on the brain and body.</a:t>
            </a:r>
          </a:p>
          <a:p>
            <a:r>
              <a:rPr lang="en-US" b="1" dirty="0"/>
              <a:t>Organic causes</a:t>
            </a:r>
            <a:r>
              <a:rPr lang="en-US" dirty="0"/>
              <a:t> include things like </a:t>
            </a:r>
            <a:r>
              <a:rPr lang="en-US" b="1" dirty="0"/>
              <a:t>tumors or hormonal imbalances</a:t>
            </a:r>
            <a:r>
              <a:rPr lang="en-US" dirty="0"/>
              <a:t>, which can disrupt normal brain functioning.</a:t>
            </a:r>
          </a:p>
          <a:p>
            <a:r>
              <a:rPr lang="en-US" b="1" dirty="0"/>
              <a:t>Environmental factors</a:t>
            </a:r>
            <a:r>
              <a:rPr lang="en-US" dirty="0"/>
              <a:t>, such as </a:t>
            </a:r>
            <a:r>
              <a:rPr lang="en-US" b="1" dirty="0"/>
              <a:t>head injuries or exposure to toxins</a:t>
            </a:r>
            <a:r>
              <a:rPr lang="en-US" dirty="0"/>
              <a:t>, can also alter brain chemistry and lead to changes in mood or cognition.</a:t>
            </a:r>
          </a:p>
          <a:p>
            <a:r>
              <a:rPr lang="en-US" b="1" dirty="0"/>
              <a:t>Genetics</a:t>
            </a:r>
            <a:r>
              <a:rPr lang="en-US" dirty="0"/>
              <a:t> play a major role as well — many disorders, especially </a:t>
            </a:r>
            <a:r>
              <a:rPr lang="en-US" b="1" dirty="0"/>
              <a:t>neurodevelopmental and neurocognitive conditions</a:t>
            </a:r>
            <a:r>
              <a:rPr lang="en-US" dirty="0"/>
              <a:t>, run in families and are linked to inherited vulnerabilities.</a:t>
            </a:r>
          </a:p>
          <a:p>
            <a:r>
              <a:rPr lang="en-US" dirty="0"/>
              <a:t>In older adults, </a:t>
            </a:r>
            <a:r>
              <a:rPr lang="en-US" b="1" dirty="0"/>
              <a:t>neurocognitive decline</a:t>
            </a:r>
            <a:r>
              <a:rPr lang="en-US" dirty="0"/>
              <a:t>, such as that seen in dementia, occurs due to </a:t>
            </a:r>
            <a:r>
              <a:rPr lang="en-US" b="1" dirty="0"/>
              <a:t>deterioration of brain tissue</a:t>
            </a:r>
            <a:r>
              <a:rPr lang="en-US" dirty="0"/>
              <a:t> over time.</a:t>
            </a:r>
          </a:p>
          <a:p>
            <a:endParaRPr lang="en-US" dirty="0"/>
          </a:p>
          <a:p>
            <a:r>
              <a:rPr lang="en-US" dirty="0"/>
              <a:t>Now, looking at </a:t>
            </a:r>
            <a:r>
              <a:rPr lang="en-US" b="1" dirty="0"/>
              <a:t>psychosocial factors</a:t>
            </a:r>
            <a:r>
              <a:rPr lang="en-US" dirty="0"/>
              <a:t>, these relate to life experiences and social environments.</a:t>
            </a:r>
          </a:p>
          <a:p>
            <a:r>
              <a:rPr lang="en-US" dirty="0"/>
              <a:t>Mental illness is often connected to </a:t>
            </a:r>
            <a:r>
              <a:rPr lang="en-US" b="1" dirty="0"/>
              <a:t>stress, trauma, and learning challenges</a:t>
            </a:r>
            <a:r>
              <a:rPr lang="en-US" dirty="0"/>
              <a:t>, especially when someone feels a lack of control or mastery.</a:t>
            </a:r>
          </a:p>
          <a:p>
            <a:r>
              <a:rPr lang="en-US" b="1" dirty="0"/>
              <a:t>Family dynamics</a:t>
            </a:r>
            <a:r>
              <a:rPr lang="en-US" dirty="0"/>
              <a:t> and </a:t>
            </a:r>
            <a:r>
              <a:rPr lang="en-US" b="1" dirty="0"/>
              <a:t>social conditions</a:t>
            </a:r>
            <a:r>
              <a:rPr lang="en-US" dirty="0"/>
              <a:t>, like poverty, isolation, or discrimination, can also increase vulnerability.</a:t>
            </a:r>
          </a:p>
          <a:p>
            <a:r>
              <a:rPr lang="en-US" dirty="0"/>
              <a:t>Finally, </a:t>
            </a:r>
            <a:r>
              <a:rPr lang="en-US" b="1" dirty="0"/>
              <a:t>psychological trauma</a:t>
            </a:r>
            <a:r>
              <a:rPr lang="en-US" dirty="0"/>
              <a:t>, whether from early life experiences or later events, can have lasting effects on mental health.</a:t>
            </a:r>
          </a:p>
          <a:p>
            <a:r>
              <a:rPr lang="en-US" dirty="0"/>
              <a:t>In most cases, </a:t>
            </a:r>
            <a:r>
              <a:rPr lang="en-US" b="1" dirty="0"/>
              <a:t>mental illness results from an interaction between biology and environment</a:t>
            </a:r>
            <a:r>
              <a:rPr lang="en-US" dirty="0"/>
              <a:t> — showing that both body and mind play crucial roles in emotional well-being.</a:t>
            </a:r>
          </a:p>
          <a:p>
            <a:endParaRPr lang="en-US" dirty="0"/>
          </a:p>
        </p:txBody>
      </p:sp>
    </p:spTree>
    <p:extLst>
      <p:ext uri="{BB962C8B-B14F-4D97-AF65-F5344CB8AC3E}">
        <p14:creationId xmlns:p14="http://schemas.microsoft.com/office/powerpoint/2010/main" val="2751433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a:t>
            </a:r>
            <a:r>
              <a:rPr lang="en-US" b="1" dirty="0"/>
              <a:t>Stress-Vulnerability Model</a:t>
            </a:r>
            <a:r>
              <a:rPr lang="en-US" dirty="0"/>
              <a:t> helps explain why some people develop mental disorders while others do not, even when faced with similar life challenges.</a:t>
            </a:r>
          </a:p>
          <a:p>
            <a:r>
              <a:rPr lang="en-US" dirty="0"/>
              <a:t>This model suggests that mental illness results from a </a:t>
            </a:r>
            <a:r>
              <a:rPr lang="en-US" b="1" dirty="0"/>
              <a:t>blend of inherited vulnerability</a:t>
            </a:r>
            <a:r>
              <a:rPr lang="en-US" dirty="0"/>
              <a:t>—our biological or genetic predisposition—and </a:t>
            </a:r>
            <a:r>
              <a:rPr lang="en-US" b="1" dirty="0"/>
              <a:t>environmental or psychosocial stressors</a:t>
            </a:r>
            <a:r>
              <a:rPr lang="en-US" dirty="0"/>
              <a:t> such as trauma, loss, or chronic stress.</a:t>
            </a:r>
          </a:p>
          <a:p>
            <a:r>
              <a:rPr lang="en-US" dirty="0"/>
              <a:t>In other words, someone may have a biological tendency toward a disorder, but it might only emerge when life stress exceeds their coping ability.</a:t>
            </a:r>
          </a:p>
          <a:p>
            <a:r>
              <a:rPr lang="en-US" dirty="0"/>
              <a:t>This framework applies to many conditions, including </a:t>
            </a:r>
            <a:r>
              <a:rPr lang="en-US" b="1" dirty="0"/>
              <a:t>psychotic disorders</a:t>
            </a:r>
            <a:r>
              <a:rPr lang="en-US" dirty="0"/>
              <a:t>, </a:t>
            </a:r>
            <a:r>
              <a:rPr lang="en-US" b="1" dirty="0"/>
              <a:t>mood and personality disorders</a:t>
            </a:r>
            <a:r>
              <a:rPr lang="en-US" dirty="0"/>
              <a:t>, and </a:t>
            </a:r>
            <a:r>
              <a:rPr lang="en-US" b="1" dirty="0"/>
              <a:t>anxiety disorders</a:t>
            </a:r>
            <a:r>
              <a:rPr lang="en-US" dirty="0"/>
              <a:t>.</a:t>
            </a:r>
          </a:p>
          <a:p>
            <a:r>
              <a:rPr lang="en-US" dirty="0"/>
              <a:t>It reminds us that </a:t>
            </a:r>
            <a:r>
              <a:rPr lang="en-US" b="1" dirty="0"/>
              <a:t>mental health is not determined by biology or environment alone</a:t>
            </a:r>
            <a:r>
              <a:rPr lang="en-US" dirty="0"/>
              <a:t>, but by the </a:t>
            </a:r>
            <a:r>
              <a:rPr lang="en-US" b="1" dirty="0"/>
              <a:t>interaction</a:t>
            </a:r>
            <a:r>
              <a:rPr lang="en-US" dirty="0"/>
              <a:t> between our internal vulnerability and the external pressures we face.</a:t>
            </a:r>
          </a:p>
          <a:p>
            <a:endParaRPr lang="en-US" dirty="0"/>
          </a:p>
        </p:txBody>
      </p:sp>
    </p:spTree>
    <p:extLst>
      <p:ext uri="{BB962C8B-B14F-4D97-AF65-F5344CB8AC3E}">
        <p14:creationId xmlns:p14="http://schemas.microsoft.com/office/powerpoint/2010/main" val="80584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There are several diagnostic considerations that clinicians need to keep in mind. First, most mental health disorders involve symptoms that </a:t>
            </a:r>
            <a:r>
              <a:rPr lang="en-US" b="1" dirty="0"/>
              <a:t>all of us experience at times</a:t>
            </a:r>
            <a:r>
              <a:rPr lang="en-US" dirty="0"/>
              <a:t>—feeling sad, worried, distracted, tired, or irritable. What makes something a </a:t>
            </a:r>
            <a:r>
              <a:rPr lang="en-US" i="1" dirty="0"/>
              <a:t>disorder</a:t>
            </a:r>
            <a:r>
              <a:rPr lang="en-US" dirty="0"/>
              <a:t> is </a:t>
            </a:r>
            <a:r>
              <a:rPr lang="en-US" b="1" dirty="0"/>
              <a:t>not</a:t>
            </a:r>
            <a:r>
              <a:rPr lang="en-US" dirty="0"/>
              <a:t> that the symptom exists, but the </a:t>
            </a:r>
            <a:r>
              <a:rPr lang="en-US" b="1" dirty="0"/>
              <a:t>intensity</a:t>
            </a:r>
            <a:r>
              <a:rPr lang="en-US" dirty="0"/>
              <a:t>, the </a:t>
            </a:r>
            <a:r>
              <a:rPr lang="en-US" b="1" dirty="0"/>
              <a:t>length of time it lasts</a:t>
            </a:r>
            <a:r>
              <a:rPr lang="en-US" dirty="0"/>
              <a:t>, and the </a:t>
            </a:r>
            <a:r>
              <a:rPr lang="en-US" b="1" dirty="0"/>
              <a:t>impact it has on a person’s daily life</a:t>
            </a:r>
            <a:r>
              <a:rPr lang="en-US" dirty="0"/>
              <a:t>. So we’re always asking: </a:t>
            </a:r>
            <a:r>
              <a:rPr lang="en-US" i="1" dirty="0"/>
              <a:t>How strong is it? How long has it been going on? And how much is it getting in the way of school, work, relationships, or self-care?</a:t>
            </a:r>
            <a:endParaRPr lang="en-US" dirty="0"/>
          </a:p>
          <a:p>
            <a:r>
              <a:rPr lang="en-US" dirty="0"/>
              <a:t>There are usually </a:t>
            </a:r>
            <a:r>
              <a:rPr lang="en-US" b="1" dirty="0"/>
              <a:t>multiple contributing causes</a:t>
            </a:r>
            <a:r>
              <a:rPr lang="en-US" dirty="0"/>
              <a:t>. Genetics can increase vulnerability, life </a:t>
            </a:r>
            <a:r>
              <a:rPr lang="en-US" b="1" dirty="0"/>
              <a:t>experiences</a:t>
            </a:r>
            <a:r>
              <a:rPr lang="en-US" dirty="0"/>
              <a:t> like trauma or chronic stress can trigger or worsen symptoms, and </a:t>
            </a:r>
            <a:r>
              <a:rPr lang="en-US" b="1" dirty="0"/>
              <a:t>medical factors</a:t>
            </a:r>
            <a:r>
              <a:rPr lang="en-US" dirty="0"/>
              <a:t>—such as hormones, illness, or medication side effects—can play a role as well. No single factor explains everything.</a:t>
            </a:r>
          </a:p>
          <a:p>
            <a:r>
              <a:rPr lang="en-US" dirty="0"/>
              <a:t>Finally, notice that </a:t>
            </a:r>
            <a:r>
              <a:rPr lang="en-US" b="1" dirty="0"/>
              <a:t>attention, sleep, and eating are almost always affected</a:t>
            </a:r>
            <a:r>
              <a:rPr lang="en-US" dirty="0"/>
              <a:t> when someone is struggling with a mental health condition. Changes in focus, insomnia or oversleeping, and appetite or weight changes are important red flags that clinicians pay attention to when they’re considering a diagnosis.</a:t>
            </a:r>
          </a:p>
          <a:p>
            <a:endParaRPr lang="en-US" dirty="0"/>
          </a:p>
        </p:txBody>
      </p:sp>
    </p:spTree>
    <p:extLst>
      <p:ext uri="{BB962C8B-B14F-4D97-AF65-F5344CB8AC3E}">
        <p14:creationId xmlns:p14="http://schemas.microsoft.com/office/powerpoint/2010/main" val="1103188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DSM-5-TR provides a </a:t>
            </a:r>
            <a:r>
              <a:rPr lang="en-US" b="1" dirty="0"/>
              <a:t>standardized system</a:t>
            </a:r>
            <a:r>
              <a:rPr lang="en-US" dirty="0"/>
              <a:t> for diagnosing mental disorders. It ensures that mental health professionals use consistent language and criteria when identifying and treating psychological conditions.</a:t>
            </a:r>
          </a:p>
          <a:p>
            <a:r>
              <a:rPr lang="en-US" dirty="0"/>
              <a:t>The manual includes </a:t>
            </a:r>
            <a:r>
              <a:rPr lang="en-US" b="1" dirty="0"/>
              <a:t>over 400 disorders</a:t>
            </a:r>
            <a:r>
              <a:rPr lang="en-US" dirty="0"/>
              <a:t>, which are grouped based on </a:t>
            </a:r>
            <a:r>
              <a:rPr lang="en-US" b="1" dirty="0"/>
              <a:t>similarities in symptoms and developmental patterns</a:t>
            </a:r>
            <a:r>
              <a:rPr lang="en-US" dirty="0"/>
              <a:t>. This structure helps clinicians understand how disorders may emerge and relate to one another across the lifespan.</a:t>
            </a:r>
          </a:p>
          <a:p>
            <a:r>
              <a:rPr lang="en-US" dirty="0"/>
              <a:t>Importantly, the DSM-5-TR combines both </a:t>
            </a:r>
            <a:r>
              <a:rPr lang="en-US" b="1" dirty="0"/>
              <a:t>categorical and dimensional approaches</a:t>
            </a:r>
            <a:r>
              <a:rPr lang="en-US" dirty="0"/>
              <a:t>. The categorical system classifies disorders as distinct diagnoses, while the dimensional approach considers symptoms along a spectrum—acknowledging that severity and expression can vary from person to person.</a:t>
            </a:r>
          </a:p>
          <a:p>
            <a:r>
              <a:rPr lang="en-US" dirty="0"/>
              <a:t>Together, these methods create a more flexible and accurate understanding of mental health and human behavior.</a:t>
            </a:r>
          </a:p>
          <a:p>
            <a:endParaRPr lang="en-US" dirty="0"/>
          </a:p>
        </p:txBody>
      </p:sp>
    </p:spTree>
    <p:extLst>
      <p:ext uri="{BB962C8B-B14F-4D97-AF65-F5344CB8AC3E}">
        <p14:creationId xmlns:p14="http://schemas.microsoft.com/office/powerpoint/2010/main" val="521017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DSM-5-TR provides a </a:t>
            </a:r>
            <a:r>
              <a:rPr lang="en-US" b="1" dirty="0"/>
              <a:t>common language</a:t>
            </a:r>
            <a:r>
              <a:rPr lang="en-US" dirty="0"/>
              <a:t> for describing and diagnosing mental disorders, allowing professionals across disciplines to communicate clearly and effectively.</a:t>
            </a:r>
          </a:p>
          <a:p>
            <a:r>
              <a:rPr lang="en-US" dirty="0"/>
              <a:t>It aims to </a:t>
            </a:r>
            <a:r>
              <a:rPr lang="en-US" b="1" dirty="0"/>
              <a:t>improve diagnostic consistency and treatment planning</a:t>
            </a:r>
            <a:r>
              <a:rPr lang="en-US" dirty="0"/>
              <a:t>, ensuring that individuals receive accurate and evidence-based care.</a:t>
            </a:r>
          </a:p>
          <a:p>
            <a:r>
              <a:rPr lang="en-US" dirty="0"/>
              <a:t>The DSM also </a:t>
            </a:r>
            <a:r>
              <a:rPr lang="en-US" b="1" dirty="0"/>
              <a:t>supports research, education, and collaboration</a:t>
            </a:r>
            <a:r>
              <a:rPr lang="en-US" dirty="0"/>
              <a:t> among mental health professionals by creating standardized criteria that guide scientific study and clinical training.</a:t>
            </a:r>
          </a:p>
          <a:p>
            <a:r>
              <a:rPr lang="en-US" dirty="0"/>
              <a:t>Finally, it promotes a </a:t>
            </a:r>
            <a:r>
              <a:rPr lang="en-US" b="1" dirty="0"/>
              <a:t>dimensional understanding of mental health</a:t>
            </a:r>
            <a:r>
              <a:rPr lang="en-US" dirty="0"/>
              <a:t>, recognizing that symptoms exist on a continuum—from mild to severe—rather than as all-or-nothing categories.</a:t>
            </a:r>
          </a:p>
        </p:txBody>
      </p:sp>
    </p:spTree>
    <p:extLst>
      <p:ext uri="{BB962C8B-B14F-4D97-AF65-F5344CB8AC3E}">
        <p14:creationId xmlns:p14="http://schemas.microsoft.com/office/powerpoint/2010/main" val="90244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DSM-5-TR is organized hierarchically to create a clear framework for understanding mental disorders.</a:t>
            </a:r>
          </a:p>
          <a:p>
            <a:r>
              <a:rPr lang="en-US" dirty="0"/>
              <a:t>At the </a:t>
            </a:r>
            <a:r>
              <a:rPr lang="en-US" b="1" dirty="0"/>
              <a:t>top level</a:t>
            </a:r>
            <a:r>
              <a:rPr lang="en-US" dirty="0"/>
              <a:t>, we have the </a:t>
            </a:r>
            <a:r>
              <a:rPr lang="en-US" b="1" dirty="0"/>
              <a:t>major diagnostic classes</a:t>
            </a:r>
            <a:r>
              <a:rPr lang="en-US" dirty="0"/>
              <a:t>, such as Mood Disorders, Anxiety Disorders, and Psychotic Disorders.</a:t>
            </a:r>
          </a:p>
          <a:p>
            <a:r>
              <a:rPr lang="en-US" dirty="0"/>
              <a:t>The </a:t>
            </a:r>
            <a:r>
              <a:rPr lang="en-US" b="1" dirty="0"/>
              <a:t>next level</a:t>
            </a:r>
            <a:r>
              <a:rPr lang="en-US" dirty="0"/>
              <a:t> breaks these broad classes down into </a:t>
            </a:r>
            <a:r>
              <a:rPr lang="en-US" b="1" dirty="0"/>
              <a:t>specific disorders</a:t>
            </a:r>
            <a:r>
              <a:rPr lang="en-US" dirty="0"/>
              <a:t>, like Major Depressive Disorder or Generalized Anxiety Disorder.</a:t>
            </a:r>
          </a:p>
          <a:p>
            <a:r>
              <a:rPr lang="en-US" dirty="0"/>
              <a:t>At the </a:t>
            </a:r>
            <a:r>
              <a:rPr lang="en-US" b="1" dirty="0"/>
              <a:t>lowest level</a:t>
            </a:r>
            <a:r>
              <a:rPr lang="en-US" dirty="0"/>
              <a:t>, clinicians can apply </a:t>
            </a:r>
            <a:r>
              <a:rPr lang="en-US" b="1" dirty="0"/>
              <a:t>subtypes, specifiers, and severity ratings</a:t>
            </a:r>
            <a:r>
              <a:rPr lang="en-US" dirty="0"/>
              <a:t> to describe how a disorder presents in an individual.</a:t>
            </a:r>
          </a:p>
          <a:p>
            <a:r>
              <a:rPr lang="en-US" b="1" dirty="0"/>
              <a:t>Specifiers</a:t>
            </a:r>
            <a:r>
              <a:rPr lang="en-US" dirty="0"/>
              <a:t> add important details—such as onset, course, or specific features, for example, “with psychotic features.”</a:t>
            </a:r>
            <a:br>
              <a:rPr lang="en-US" dirty="0"/>
            </a:br>
            <a:r>
              <a:rPr lang="en-US" b="1" dirty="0"/>
              <a:t>Severity ratings</a:t>
            </a:r>
            <a:r>
              <a:rPr lang="en-US" dirty="0"/>
              <a:t> describe how intense the symptoms are—categorized as mild, moderate, or severe.</a:t>
            </a:r>
          </a:p>
          <a:p>
            <a:r>
              <a:rPr lang="en-US" dirty="0"/>
              <a:t>These refinements allow for more personalized and accurate diagnosis, helping clinicians tailor treatment plans and predict outcomes more effectively.</a:t>
            </a:r>
          </a:p>
          <a:p>
            <a:endParaRPr lang="en-US" dirty="0"/>
          </a:p>
        </p:txBody>
      </p:sp>
    </p:spTree>
    <p:extLst>
      <p:ext uri="{BB962C8B-B14F-4D97-AF65-F5344CB8AC3E}">
        <p14:creationId xmlns:p14="http://schemas.microsoft.com/office/powerpoint/2010/main" val="1724582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Before we look more closely at specific disorders, let’s take a broad look at the </a:t>
            </a:r>
            <a:r>
              <a:rPr lang="en-US" b="1" dirty="0"/>
              <a:t>major diagnostic categories</a:t>
            </a:r>
            <a:r>
              <a:rPr lang="en-US" dirty="0"/>
              <a:t> in the DSM-5-TR.</a:t>
            </a:r>
          </a:p>
          <a:p>
            <a:r>
              <a:rPr lang="en-US" dirty="0"/>
              <a:t>The manual organizes mental disorders based on shared features, developmental patterns, and symptom similarities. This structure helps clinicians make accurate diagnoses and understand how conditions may overlap or evolve over time.</a:t>
            </a:r>
          </a:p>
          <a:p>
            <a:r>
              <a:rPr lang="en-US" dirty="0"/>
              <a:t>We begin with </a:t>
            </a:r>
            <a:r>
              <a:rPr lang="en-US" b="1" dirty="0"/>
              <a:t>Neurodevelopmental Disorders</a:t>
            </a:r>
            <a:r>
              <a:rPr lang="en-US" dirty="0"/>
              <a:t>, which typically emerge early in life and affect learning, communication, and behavior.</a:t>
            </a:r>
            <a:br>
              <a:rPr lang="en-US" dirty="0"/>
            </a:br>
            <a:r>
              <a:rPr lang="en-US" dirty="0"/>
              <a:t>Next are the </a:t>
            </a:r>
            <a:r>
              <a:rPr lang="en-US" b="1" dirty="0"/>
              <a:t>Schizophrenia Spectrum and Other Psychotic Disorders</a:t>
            </a:r>
            <a:r>
              <a:rPr lang="en-US" dirty="0"/>
              <a:t>, characterized by distortions in thinking and perception.</a:t>
            </a:r>
          </a:p>
          <a:p>
            <a:r>
              <a:rPr lang="en-US" dirty="0"/>
              <a:t>We then move into </a:t>
            </a:r>
            <a:r>
              <a:rPr lang="en-US" b="1" dirty="0"/>
              <a:t>Bipolar and Related Disorders</a:t>
            </a:r>
            <a:r>
              <a:rPr lang="en-US" dirty="0"/>
              <a:t> and </a:t>
            </a:r>
            <a:r>
              <a:rPr lang="en-US" b="1" dirty="0"/>
              <a:t>Depressive Disorders</a:t>
            </a:r>
            <a:r>
              <a:rPr lang="en-US" dirty="0"/>
              <a:t>, which focus on mood instability—from elevated mood to deep sadness.</a:t>
            </a:r>
          </a:p>
          <a:p>
            <a:r>
              <a:rPr lang="en-US" b="1" dirty="0"/>
              <a:t>Anxiety Disorders</a:t>
            </a:r>
            <a:r>
              <a:rPr lang="en-US" dirty="0"/>
              <a:t> and </a:t>
            </a:r>
            <a:r>
              <a:rPr lang="en-US" b="1" dirty="0"/>
              <a:t>Obsessive-Compulsive and Related Disorders</a:t>
            </a:r>
            <a:r>
              <a:rPr lang="en-US" dirty="0"/>
              <a:t> involve excessive fear, worry, and repetitive thoughts or behaviors.</a:t>
            </a:r>
            <a:br>
              <a:rPr lang="en-US" dirty="0"/>
            </a:br>
            <a:r>
              <a:rPr lang="en-US" b="1" dirty="0"/>
              <a:t>Trauma- and Stressor-Related Disorders</a:t>
            </a:r>
            <a:r>
              <a:rPr lang="en-US" dirty="0"/>
              <a:t> result from exposure to overwhelming or life-threatening experiences.</a:t>
            </a:r>
          </a:p>
          <a:p>
            <a:r>
              <a:rPr lang="en-US" dirty="0"/>
              <a:t>We also include </a:t>
            </a:r>
            <a:r>
              <a:rPr lang="en-US" b="1" dirty="0"/>
              <a:t>Feeding, Eating, and Elimination Disorders</a:t>
            </a:r>
            <a:r>
              <a:rPr lang="en-US" dirty="0"/>
              <a:t>, which affect physical health and body regulation, and </a:t>
            </a:r>
            <a:r>
              <a:rPr lang="en-US" b="1" dirty="0"/>
              <a:t>Sleep-Wake Disorders</a:t>
            </a:r>
            <a:r>
              <a:rPr lang="en-US" dirty="0"/>
              <a:t>, which interfere with rest and biological rhythms.</a:t>
            </a:r>
          </a:p>
          <a:p>
            <a:r>
              <a:rPr lang="en-US" b="1" dirty="0"/>
              <a:t>Personality Disorders</a:t>
            </a:r>
            <a:r>
              <a:rPr lang="en-US" dirty="0"/>
              <a:t> reflect enduring and inflexible patterns of behavior and inner experience, while </a:t>
            </a:r>
            <a:r>
              <a:rPr lang="en-US" b="1" dirty="0"/>
              <a:t>Substance-Related and Addictive Disorders</a:t>
            </a:r>
            <a:r>
              <a:rPr lang="en-US" dirty="0"/>
              <a:t> involve compulsive use of substances or rewarding behaviors.</a:t>
            </a:r>
          </a:p>
          <a:p>
            <a:r>
              <a:rPr lang="en-US" dirty="0"/>
              <a:t>Finally, </a:t>
            </a:r>
            <a:r>
              <a:rPr lang="en-US" b="1" dirty="0"/>
              <a:t>Neurocognitive Disorders</a:t>
            </a:r>
            <a:r>
              <a:rPr lang="en-US" dirty="0"/>
              <a:t> encompass conditions that impair memory, attention, and thinking, such as dementia and delirium.</a:t>
            </a:r>
          </a:p>
          <a:p>
            <a:r>
              <a:rPr lang="en-US" dirty="0"/>
              <a:t>Together, these categories provide a comprehensive framework for understanding the complexity of mental health across the lifespan.</a:t>
            </a:r>
          </a:p>
          <a:p>
            <a:endParaRPr lang="en-US" dirty="0"/>
          </a:p>
        </p:txBody>
      </p:sp>
    </p:spTree>
    <p:extLst>
      <p:ext uri="{BB962C8B-B14F-4D97-AF65-F5344CB8AC3E}">
        <p14:creationId xmlns:p14="http://schemas.microsoft.com/office/powerpoint/2010/main" val="1243904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Neurodevelopmental disorders are conditions that begin early in development—often before a child enters school—and affect how the brain grows and functions.</a:t>
            </a:r>
          </a:p>
          <a:p>
            <a:r>
              <a:rPr lang="en-US" dirty="0"/>
              <a:t>They influence key areas such as learning, communication, and behavior, and can impact daily functioning at home, in school, and in social settings.</a:t>
            </a:r>
          </a:p>
          <a:p>
            <a:r>
              <a:rPr lang="en-US" dirty="0"/>
              <a:t>Some of the main examples include:</a:t>
            </a:r>
          </a:p>
          <a:p>
            <a:r>
              <a:rPr lang="en-US" b="1" dirty="0"/>
              <a:t>Intellectual Disability</a:t>
            </a:r>
            <a:r>
              <a:rPr lang="en-US" dirty="0"/>
              <a:t>, which involves limitations in intellectual functioning and adaptive behavior.</a:t>
            </a:r>
          </a:p>
          <a:p>
            <a:r>
              <a:rPr lang="en-US" b="1" dirty="0"/>
              <a:t>Autism Spectrum Disorder</a:t>
            </a:r>
            <a:r>
              <a:rPr lang="en-US" dirty="0"/>
              <a:t>, characterized by challenges in social communication and restricted or repetitive behaviors.</a:t>
            </a:r>
          </a:p>
          <a:p>
            <a:r>
              <a:rPr lang="en-US" b="1" dirty="0"/>
              <a:t>Attention-Deficit/Hyperactivity Disorder (ADHD)</a:t>
            </a:r>
            <a:r>
              <a:rPr lang="en-US" dirty="0"/>
              <a:t>, which involves persistent patterns of inattention and/or hyperactivity-impulsivity.</a:t>
            </a:r>
          </a:p>
          <a:p>
            <a:r>
              <a:rPr lang="en-US" dirty="0"/>
              <a:t>And </a:t>
            </a:r>
            <a:r>
              <a:rPr lang="en-US" b="1" dirty="0"/>
              <a:t>Specific Learning Disorder</a:t>
            </a:r>
            <a:r>
              <a:rPr lang="en-US" dirty="0"/>
              <a:t>, which affects skills like reading, writing, or mathematics despite normal intelligence and education.</a:t>
            </a:r>
          </a:p>
          <a:p>
            <a:r>
              <a:rPr lang="en-US" dirty="0"/>
              <a:t>Each of these conditions has unique features, but they all share early onset and significant effects on developmental progress.</a:t>
            </a:r>
          </a:p>
          <a:p>
            <a:endParaRPr lang="en-US" dirty="0"/>
          </a:p>
        </p:txBody>
      </p:sp>
    </p:spTree>
    <p:extLst>
      <p:ext uri="{BB962C8B-B14F-4D97-AF65-F5344CB8AC3E}">
        <p14:creationId xmlns:p14="http://schemas.microsoft.com/office/powerpoint/2010/main" val="3059620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These disorders involve </a:t>
            </a:r>
            <a:r>
              <a:rPr lang="en-US" b="1" dirty="0"/>
              <a:t>distorted perceptions, thoughts, and emotions</a:t>
            </a:r>
            <a:r>
              <a:rPr lang="en-US" dirty="0"/>
              <a:t>. The most well-known is </a:t>
            </a:r>
            <a:r>
              <a:rPr lang="en-US" b="1" dirty="0"/>
              <a:t>Schizophrenia</a:t>
            </a:r>
            <a:r>
              <a:rPr lang="en-US" dirty="0"/>
              <a:t>, characterized by symptoms like </a:t>
            </a:r>
            <a:r>
              <a:rPr lang="en-US" b="1" dirty="0"/>
              <a:t>hallucinations</a:t>
            </a:r>
            <a:r>
              <a:rPr lang="en-US" dirty="0"/>
              <a:t> and </a:t>
            </a:r>
            <a:r>
              <a:rPr lang="en-US" b="1" dirty="0"/>
              <a:t>delusions</a:t>
            </a:r>
            <a:r>
              <a:rPr lang="en-US" dirty="0"/>
              <a:t>. The DSM-5-TR updated diagnostic criteria to clarify aspects like </a:t>
            </a:r>
            <a:r>
              <a:rPr lang="en-US" b="1" dirty="0"/>
              <a:t>symptom duration</a:t>
            </a:r>
            <a:r>
              <a:rPr lang="en-US" dirty="0"/>
              <a:t> and </a:t>
            </a:r>
            <a:r>
              <a:rPr lang="en-US" b="1" dirty="0"/>
              <a:t>severity</a:t>
            </a:r>
            <a:r>
              <a:rPr lang="en-US" dirty="0"/>
              <a:t>, improving diagnostic accuracy and consistency.</a:t>
            </a:r>
          </a:p>
          <a:p>
            <a:r>
              <a:rPr lang="en-US" dirty="0"/>
              <a:t>Let’s look more closely at some of the main symptom types:</a:t>
            </a:r>
          </a:p>
          <a:p>
            <a:r>
              <a:rPr lang="en-US" b="1" dirty="0"/>
              <a:t>1. Delusions</a:t>
            </a:r>
            <a:br>
              <a:rPr lang="en-US" dirty="0"/>
            </a:br>
            <a:r>
              <a:rPr lang="en-US" dirty="0" err="1"/>
              <a:t>Delusions</a:t>
            </a:r>
            <a:r>
              <a:rPr lang="en-US" dirty="0"/>
              <a:t> are </a:t>
            </a:r>
            <a:r>
              <a:rPr lang="en-US" b="1" dirty="0"/>
              <a:t>fixed, false beliefs</a:t>
            </a:r>
            <a:r>
              <a:rPr lang="en-US" dirty="0"/>
              <a:t> that persist despite clear evidence to the contrary.</a:t>
            </a:r>
            <a:br>
              <a:rPr lang="en-US" dirty="0"/>
            </a:br>
            <a:r>
              <a:rPr lang="en-US" dirty="0"/>
              <a:t>For example, a person might believe they’re being followed, controlled, or possess special powers.</a:t>
            </a:r>
            <a:br>
              <a:rPr lang="en-US" dirty="0"/>
            </a:br>
            <a:r>
              <a:rPr lang="en-US" dirty="0"/>
              <a:t>Delusions can take several forms—</a:t>
            </a:r>
            <a:r>
              <a:rPr lang="en-US" b="1" dirty="0"/>
              <a:t>persecutory</a:t>
            </a:r>
            <a:r>
              <a:rPr lang="en-US" dirty="0"/>
              <a:t>, </a:t>
            </a:r>
            <a:r>
              <a:rPr lang="en-US" b="1" dirty="0"/>
              <a:t>grandiose</a:t>
            </a:r>
            <a:r>
              <a:rPr lang="en-US" dirty="0"/>
              <a:t>, </a:t>
            </a:r>
            <a:r>
              <a:rPr lang="en-US" b="1" dirty="0"/>
              <a:t>somatic</a:t>
            </a:r>
            <a:r>
              <a:rPr lang="en-US" dirty="0"/>
              <a:t>, </a:t>
            </a:r>
            <a:r>
              <a:rPr lang="en-US" b="1" dirty="0" err="1"/>
              <a:t>erotomanic</a:t>
            </a:r>
            <a:r>
              <a:rPr lang="en-US" dirty="0"/>
              <a:t>, or </a:t>
            </a:r>
            <a:r>
              <a:rPr lang="en-US" b="1" dirty="0"/>
              <a:t>nihilistic</a:t>
            </a:r>
            <a:r>
              <a:rPr lang="en-US" dirty="0"/>
              <a:t>.</a:t>
            </a:r>
          </a:p>
          <a:p>
            <a:r>
              <a:rPr lang="en-US" b="1" dirty="0"/>
              <a:t>2. Hallucinations</a:t>
            </a:r>
            <a:br>
              <a:rPr lang="en-US" dirty="0"/>
            </a:br>
            <a:r>
              <a:rPr lang="en-US" dirty="0" err="1"/>
              <a:t>Hallucinations</a:t>
            </a:r>
            <a:r>
              <a:rPr lang="en-US" dirty="0"/>
              <a:t> are </a:t>
            </a:r>
            <a:r>
              <a:rPr lang="en-US" b="1" dirty="0"/>
              <a:t>sensory experiences without an external stimulus</a:t>
            </a:r>
            <a:r>
              <a:rPr lang="en-US" dirty="0"/>
              <a:t>.</a:t>
            </a:r>
            <a:br>
              <a:rPr lang="en-US" dirty="0"/>
            </a:br>
            <a:r>
              <a:rPr lang="en-US" dirty="0"/>
              <a:t>People may hear voices that aren’t there, see images others can’t see, or feel sensations on their skin without a cause.</a:t>
            </a:r>
            <a:br>
              <a:rPr lang="en-US" dirty="0"/>
            </a:br>
            <a:r>
              <a:rPr lang="en-US" b="1" dirty="0"/>
              <a:t>Auditory hallucinations</a:t>
            </a:r>
            <a:r>
              <a:rPr lang="en-US" dirty="0"/>
              <a:t> are the most common in schizophrenia spectrum disorders.</a:t>
            </a:r>
          </a:p>
          <a:p>
            <a:r>
              <a:rPr lang="en-US" b="1" dirty="0"/>
              <a:t>3. Disorganized Thinking (Speech)</a:t>
            </a:r>
            <a:br>
              <a:rPr lang="en-US" dirty="0"/>
            </a:br>
            <a:r>
              <a:rPr lang="en-US" dirty="0"/>
              <a:t>This refers to a </a:t>
            </a:r>
            <a:r>
              <a:rPr lang="en-US" b="1" dirty="0"/>
              <a:t>breakdown in the logical flow of ideas</a:t>
            </a:r>
            <a:r>
              <a:rPr lang="en-US" dirty="0"/>
              <a:t>, often seen in speech patterns.</a:t>
            </a:r>
            <a:br>
              <a:rPr lang="en-US" dirty="0"/>
            </a:br>
            <a:r>
              <a:rPr lang="en-US" dirty="0"/>
              <a:t>A person may jump rapidly between unrelated topics (“derailment”), give off-topic responses, or produce speech so jumbled it’s called “word salad.”</a:t>
            </a:r>
            <a:br>
              <a:rPr lang="en-US" dirty="0"/>
            </a:br>
            <a:r>
              <a:rPr lang="en-US" dirty="0"/>
              <a:t>It reflects an underlying disruption in coherent thought organization.</a:t>
            </a:r>
          </a:p>
          <a:p>
            <a:r>
              <a:rPr lang="en-US" b="1" dirty="0"/>
              <a:t>4. Negative Symptoms</a:t>
            </a:r>
            <a:br>
              <a:rPr lang="en-US" dirty="0"/>
            </a:br>
            <a:r>
              <a:rPr lang="en-US" dirty="0"/>
              <a:t>Negative symptoms involve the </a:t>
            </a:r>
            <a:r>
              <a:rPr lang="en-US" b="1" dirty="0"/>
              <a:t>loss or reduction of normal emotional and behavioral functions</a:t>
            </a:r>
            <a:r>
              <a:rPr lang="en-US" dirty="0"/>
              <a:t>.</a:t>
            </a:r>
            <a:br>
              <a:rPr lang="en-US" dirty="0"/>
            </a:br>
            <a:r>
              <a:rPr lang="en-US" dirty="0"/>
              <a:t>These include:</a:t>
            </a:r>
          </a:p>
          <a:p>
            <a:r>
              <a:rPr lang="en-US" b="1" dirty="0"/>
              <a:t>Affective flattening:</a:t>
            </a:r>
            <a:r>
              <a:rPr lang="en-US" dirty="0"/>
              <a:t> limited or absent emotional expression</a:t>
            </a:r>
          </a:p>
          <a:p>
            <a:r>
              <a:rPr lang="en-US" b="1" dirty="0"/>
              <a:t>Alogia:</a:t>
            </a:r>
            <a:r>
              <a:rPr lang="en-US" dirty="0"/>
              <a:t> reduced speech output</a:t>
            </a:r>
          </a:p>
          <a:p>
            <a:r>
              <a:rPr lang="en-US" b="1" dirty="0"/>
              <a:t>Anhedonia:</a:t>
            </a:r>
            <a:r>
              <a:rPr lang="en-US" dirty="0"/>
              <a:t> inability to experience pleasure</a:t>
            </a:r>
          </a:p>
          <a:p>
            <a:r>
              <a:rPr lang="en-US" b="1" dirty="0"/>
              <a:t>Avolition:</a:t>
            </a:r>
            <a:r>
              <a:rPr lang="en-US" dirty="0"/>
              <a:t> lack of motivation or goal-directed behavior</a:t>
            </a:r>
            <a:br>
              <a:rPr lang="en-US" dirty="0"/>
            </a:br>
            <a:r>
              <a:rPr lang="en-US" dirty="0"/>
              <a:t>These symptoms tend to be </a:t>
            </a:r>
            <a:r>
              <a:rPr lang="en-US" b="1" dirty="0"/>
              <a:t>more persistent and disabling</a:t>
            </a:r>
            <a:r>
              <a:rPr lang="en-US" dirty="0"/>
              <a:t> than the positive symptoms like hallucinations or delusions.</a:t>
            </a:r>
          </a:p>
          <a:p>
            <a:r>
              <a:rPr lang="en-US" dirty="0"/>
              <a:t>Together, these features help define the schizophrenia spectrum and demonstrate how thinking, perception, and emotional expression can become profoundly disrupted.</a:t>
            </a:r>
          </a:p>
          <a:p>
            <a:endParaRPr lang="en-US" dirty="0"/>
          </a:p>
        </p:txBody>
      </p:sp>
    </p:spTree>
    <p:extLst>
      <p:ext uri="{BB962C8B-B14F-4D97-AF65-F5344CB8AC3E}">
        <p14:creationId xmlns:p14="http://schemas.microsoft.com/office/powerpoint/2010/main" val="1296316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Please pause this video and watch the simulation video before returning to the lecture. This video includes a demonstration of most of the positive symptoms of the schizophrenia spectrum disorders including delusions, hallucinations, and some of the disorganized thinking.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Simulation: https://youtu.be/NyUqhbPD2tc?si=B4ZeyzYZrEeG-QKG</a:t>
            </a:r>
          </a:p>
          <a:p>
            <a:endParaRPr lang="en-US" dirty="0"/>
          </a:p>
        </p:txBody>
      </p:sp>
    </p:spTree>
    <p:extLst>
      <p:ext uri="{BB962C8B-B14F-4D97-AF65-F5344CB8AC3E}">
        <p14:creationId xmlns:p14="http://schemas.microsoft.com/office/powerpoint/2010/main" val="3636268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Bipolar and depressive disorders are part of the mood disorder category, meaning they involve significant and persistent changes in mood, energy, and behavior.</a:t>
            </a:r>
          </a:p>
          <a:p>
            <a:r>
              <a:rPr lang="en-US" b="1" dirty="0"/>
              <a:t>Bipolar Disorders</a:t>
            </a:r>
            <a:r>
              <a:rPr lang="en-US" dirty="0"/>
              <a:t> are defined by alternating </a:t>
            </a:r>
            <a:r>
              <a:rPr lang="en-US" b="1" dirty="0"/>
              <a:t>manic</a:t>
            </a:r>
            <a:r>
              <a:rPr lang="en-US" dirty="0"/>
              <a:t> and </a:t>
            </a:r>
            <a:r>
              <a:rPr lang="en-US" b="1" dirty="0"/>
              <a:t>depressive</a:t>
            </a:r>
            <a:r>
              <a:rPr lang="en-US" dirty="0"/>
              <a:t> episodes.</a:t>
            </a:r>
            <a:br>
              <a:rPr lang="en-US" dirty="0"/>
            </a:br>
            <a:r>
              <a:rPr lang="en-US" b="1" dirty="0"/>
              <a:t>Mania</a:t>
            </a:r>
            <a:r>
              <a:rPr lang="en-US" dirty="0"/>
              <a:t> is a state of </a:t>
            </a:r>
            <a:r>
              <a:rPr lang="en-US" b="1" dirty="0"/>
              <a:t>abnormally elevated, expansive, or irritable mood</a:t>
            </a:r>
            <a:r>
              <a:rPr lang="en-US" dirty="0"/>
              <a:t>, often accompanied by increased energy, activity, and risky or impulsive behavior. During manic episodes, a person might feel euphoric, sleep very little, talk excessively, or have racing thoughts.</a:t>
            </a:r>
          </a:p>
          <a:p>
            <a:r>
              <a:rPr lang="en-US" dirty="0"/>
              <a:t>On the other hand, </a:t>
            </a:r>
            <a:r>
              <a:rPr lang="en-US" b="1" dirty="0"/>
              <a:t>Depressive Disorders</a:t>
            </a:r>
            <a:r>
              <a:rPr lang="en-US" dirty="0"/>
              <a:t> are characterized by </a:t>
            </a:r>
            <a:r>
              <a:rPr lang="en-US" b="1" dirty="0"/>
              <a:t>persistent sadness, loss of interest in activities, fatigue, and feelings of hopelessness</a:t>
            </a:r>
            <a:r>
              <a:rPr lang="en-US" dirty="0"/>
              <a:t>. These symptoms interfere with daily life and can last for weeks, months, or even years.</a:t>
            </a:r>
          </a:p>
          <a:p>
            <a:r>
              <a:rPr lang="en-US" dirty="0"/>
              <a:t>Some key examples include:</a:t>
            </a:r>
          </a:p>
          <a:p>
            <a:r>
              <a:rPr lang="en-US" b="1" dirty="0"/>
              <a:t>Bipolar I and II Disorders</a:t>
            </a:r>
            <a:r>
              <a:rPr lang="en-US" dirty="0"/>
              <a:t>, which vary in the intensity and duration of manic and depressive phases.</a:t>
            </a:r>
          </a:p>
          <a:p>
            <a:r>
              <a:rPr lang="en-US" b="1" dirty="0"/>
              <a:t>Cyclothymic Disorder</a:t>
            </a:r>
            <a:r>
              <a:rPr lang="en-US" dirty="0"/>
              <a:t>, which involves milder, long-term mood fluctuations that never reach full manic or depressive episodes.</a:t>
            </a:r>
          </a:p>
          <a:p>
            <a:r>
              <a:rPr lang="en-US" b="1" dirty="0"/>
              <a:t>Major Depressive Disorder</a:t>
            </a:r>
            <a:r>
              <a:rPr lang="en-US" dirty="0"/>
              <a:t>, marked by severe and prolonged depressive episodes.</a:t>
            </a:r>
          </a:p>
          <a:p>
            <a:r>
              <a:rPr lang="en-US" b="1" dirty="0"/>
              <a:t>Persistent Depressive Disorder</a:t>
            </a:r>
            <a:r>
              <a:rPr lang="en-US" dirty="0"/>
              <a:t>, a chronic, low-level depression lasting two years or more.</a:t>
            </a:r>
          </a:p>
          <a:p>
            <a:r>
              <a:rPr lang="en-US" dirty="0"/>
              <a:t>Together, these disorders show how mood can shift along a continuum—from extreme highs to deep lows—affecting how people think, feel, and function in daily life.</a:t>
            </a:r>
          </a:p>
          <a:p>
            <a:endParaRPr lang="en-US" dirty="0"/>
          </a:p>
        </p:txBody>
      </p:sp>
    </p:spTree>
    <p:extLst>
      <p:ext uri="{BB962C8B-B14F-4D97-AF65-F5344CB8AC3E}">
        <p14:creationId xmlns:p14="http://schemas.microsoft.com/office/powerpoint/2010/main" val="2824600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Anxiety disorders are among the </a:t>
            </a:r>
            <a:r>
              <a:rPr lang="en-US" b="1" dirty="0"/>
              <a:t>most common mental health conditions</a:t>
            </a:r>
            <a:r>
              <a:rPr lang="en-US" dirty="0"/>
              <a:t>, affecting people across all ages and backgrounds. They are characterized by </a:t>
            </a:r>
            <a:r>
              <a:rPr lang="en-US" b="1" dirty="0"/>
              <a:t>excessive fear, worry, and physical tension</a:t>
            </a:r>
            <a:r>
              <a:rPr lang="en-US" dirty="0"/>
              <a:t>, often out of proportion to the situation.</a:t>
            </a:r>
          </a:p>
          <a:p>
            <a:r>
              <a:rPr lang="en-US" dirty="0"/>
              <a:t>Some of the main </a:t>
            </a:r>
            <a:r>
              <a:rPr lang="en-US" b="1" dirty="0"/>
              <a:t>Anxiety Disorders</a:t>
            </a:r>
            <a:r>
              <a:rPr lang="en-US" dirty="0"/>
              <a:t> include:</a:t>
            </a:r>
          </a:p>
          <a:p>
            <a:r>
              <a:rPr lang="en-US" b="1" dirty="0"/>
              <a:t>Generalized Anxiety Disorder (GAD):</a:t>
            </a:r>
            <a:r>
              <a:rPr lang="en-US" dirty="0"/>
              <a:t> persistent and uncontrollable worry about multiple aspects of life.</a:t>
            </a:r>
          </a:p>
          <a:p>
            <a:r>
              <a:rPr lang="en-US" b="1" dirty="0"/>
              <a:t>Panic Disorder:</a:t>
            </a:r>
            <a:r>
              <a:rPr lang="en-US" dirty="0"/>
              <a:t> sudden, intense episodes of fear or panic accompanied by physical symptoms like rapid heartbeat or shortness of breath.</a:t>
            </a:r>
          </a:p>
          <a:p>
            <a:r>
              <a:rPr lang="en-US" b="1" dirty="0"/>
              <a:t>Social Anxiety Disorder:</a:t>
            </a:r>
            <a:r>
              <a:rPr lang="en-US" dirty="0"/>
              <a:t> fear of being judged or embarrassed in social situations.</a:t>
            </a:r>
          </a:p>
          <a:p>
            <a:r>
              <a:rPr lang="en-US" b="1" dirty="0"/>
              <a:t>Specific Phobias:</a:t>
            </a:r>
            <a:r>
              <a:rPr lang="en-US" dirty="0"/>
              <a:t> intense fear of particular objects or situations, such as heights, animals, or flying.</a:t>
            </a:r>
          </a:p>
          <a:p>
            <a:r>
              <a:rPr lang="en-US" dirty="0"/>
              <a:t>The DSM-5 made an important change by </a:t>
            </a:r>
            <a:r>
              <a:rPr lang="en-US" b="1" dirty="0"/>
              <a:t>separating Obsessive-Compulsive and Related Disorders</a:t>
            </a:r>
            <a:r>
              <a:rPr lang="en-US" dirty="0"/>
              <a:t> into their own category because they involve distinct symptoms—</a:t>
            </a:r>
            <a:r>
              <a:rPr lang="en-US" b="1" dirty="0"/>
              <a:t>obsessions</a:t>
            </a:r>
            <a:r>
              <a:rPr lang="en-US" dirty="0"/>
              <a:t> (repetitive, intrusive thoughts) and </a:t>
            </a:r>
            <a:r>
              <a:rPr lang="en-US" b="1" dirty="0"/>
              <a:t>compulsions</a:t>
            </a:r>
            <a:r>
              <a:rPr lang="en-US" dirty="0"/>
              <a:t> (repetitive behaviors or mental acts performed to reduce distress).</a:t>
            </a:r>
          </a:p>
          <a:p>
            <a:r>
              <a:rPr lang="en-US" dirty="0"/>
              <a:t>Examples include:</a:t>
            </a:r>
          </a:p>
          <a:p>
            <a:r>
              <a:rPr lang="en-US" b="1" dirty="0"/>
              <a:t>Obsessive-Compulsive Disorder (OCD)</a:t>
            </a:r>
            <a:endParaRPr lang="en-US" dirty="0"/>
          </a:p>
          <a:p>
            <a:r>
              <a:rPr lang="en-US" b="1" dirty="0"/>
              <a:t>Body Dysmorphic Disorder</a:t>
            </a:r>
            <a:r>
              <a:rPr lang="en-US" dirty="0"/>
              <a:t> – preoccupation with perceived physical flaws</a:t>
            </a:r>
          </a:p>
          <a:p>
            <a:r>
              <a:rPr lang="en-US" b="1" dirty="0"/>
              <a:t>Hoarding Disorder</a:t>
            </a:r>
            <a:r>
              <a:rPr lang="en-US" dirty="0"/>
              <a:t> – difficulty discarding items regardless of their value</a:t>
            </a:r>
          </a:p>
          <a:p>
            <a:r>
              <a:rPr lang="en-US" b="1" dirty="0"/>
              <a:t>Trichotillomania</a:t>
            </a:r>
            <a:r>
              <a:rPr lang="en-US" dirty="0"/>
              <a:t> – recurrent hair-pulling behavior</a:t>
            </a:r>
          </a:p>
          <a:p>
            <a:r>
              <a:rPr lang="en-US" dirty="0"/>
              <a:t>Together, these disorders show how anxiety can manifest in many forms—from persistent worry to ritualized behaviors—each requiring different approaches to treatment and understanding.</a:t>
            </a:r>
          </a:p>
          <a:p>
            <a:endParaRPr lang="en-US" dirty="0"/>
          </a:p>
        </p:txBody>
      </p:sp>
    </p:spTree>
    <p:extLst>
      <p:ext uri="{BB962C8B-B14F-4D97-AF65-F5344CB8AC3E}">
        <p14:creationId xmlns:p14="http://schemas.microsoft.com/office/powerpoint/2010/main" val="89866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Trauma- and stressor-related disorders are </a:t>
            </a:r>
            <a:r>
              <a:rPr lang="en-US" b="1" dirty="0"/>
              <a:t>triggered by exposure to traumatic or highly stressful events</a:t>
            </a:r>
            <a:r>
              <a:rPr lang="en-US" dirty="0"/>
              <a:t>. These experiences can overwhelm a person’s ability to cope, leading to emotional, cognitive, and behavioral symptoms.</a:t>
            </a:r>
          </a:p>
          <a:p>
            <a:r>
              <a:rPr lang="en-US" dirty="0"/>
              <a:t>One of the most well-known examples is </a:t>
            </a:r>
            <a:r>
              <a:rPr lang="en-US" b="1" dirty="0"/>
              <a:t>Posttraumatic Stress Disorder (PTSD)</a:t>
            </a:r>
            <a:r>
              <a:rPr lang="en-US" dirty="0"/>
              <a:t>, which develops after experiencing or witnessing life-threatening events. Symptoms include intrusive memories, nightmares, avoidance of reminders, and heightened arousal or vigilance.</a:t>
            </a:r>
          </a:p>
          <a:p>
            <a:r>
              <a:rPr lang="en-US" b="1" dirty="0"/>
              <a:t>Acute Stress Disorder</a:t>
            </a:r>
            <a:r>
              <a:rPr lang="en-US" dirty="0"/>
              <a:t> shares many features with PTSD but occurs </a:t>
            </a:r>
            <a:r>
              <a:rPr lang="en-US" b="1" dirty="0"/>
              <a:t>within the first month</a:t>
            </a:r>
            <a:r>
              <a:rPr lang="en-US" dirty="0"/>
              <a:t> following trauma. If symptoms persist beyond that period, the diagnosis may change to PTSD.</a:t>
            </a:r>
          </a:p>
          <a:p>
            <a:r>
              <a:rPr lang="en-US" b="1" dirty="0"/>
              <a:t>Adjustment Disorders</a:t>
            </a:r>
            <a:r>
              <a:rPr lang="en-US" dirty="0"/>
              <a:t> occur when a person experiences </a:t>
            </a:r>
            <a:r>
              <a:rPr lang="en-US" b="1" dirty="0"/>
              <a:t>emotional or behavioral symptoms</a:t>
            </a:r>
            <a:r>
              <a:rPr lang="en-US" dirty="0"/>
              <a:t> in response to a significant life change or stressor—such as divorce, job loss, or relocation—that are disproportionate to the event itself.</a:t>
            </a:r>
          </a:p>
          <a:p>
            <a:r>
              <a:rPr lang="en-US" dirty="0"/>
              <a:t>In children, we also see attachment-related trauma responses:</a:t>
            </a:r>
          </a:p>
          <a:p>
            <a:r>
              <a:rPr lang="en-US" b="1" dirty="0"/>
              <a:t>Reactive Attachment Disorder (RAD):</a:t>
            </a:r>
            <a:r>
              <a:rPr lang="en-US" dirty="0"/>
              <a:t> characterized by emotional withdrawal and difficulty forming secure attachments due to early neglect or abuse.</a:t>
            </a:r>
          </a:p>
          <a:p>
            <a:r>
              <a:rPr lang="en-US" b="1" dirty="0"/>
              <a:t>Disinhibited Social Engagement Disorder (DSED):</a:t>
            </a:r>
            <a:r>
              <a:rPr lang="en-US" dirty="0"/>
              <a:t> involves overly familiar behavior with strangers, also linked to severe early neglect.</a:t>
            </a:r>
          </a:p>
          <a:p>
            <a:r>
              <a:rPr lang="en-US" dirty="0"/>
              <a:t>Overall, these disorders highlight the powerful impact that </a:t>
            </a:r>
            <a:r>
              <a:rPr lang="en-US" b="1" dirty="0"/>
              <a:t>stress and trauma</a:t>
            </a:r>
            <a:r>
              <a:rPr lang="en-US" dirty="0"/>
              <a:t> can have on development, relationships, and emotional well-being.</a:t>
            </a:r>
          </a:p>
          <a:p>
            <a:endParaRPr lang="en-US" dirty="0"/>
          </a:p>
        </p:txBody>
      </p:sp>
    </p:spTree>
    <p:extLst>
      <p:ext uri="{BB962C8B-B14F-4D97-AF65-F5344CB8AC3E}">
        <p14:creationId xmlns:p14="http://schemas.microsoft.com/office/powerpoint/2010/main" val="1331370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DSM-5-TR includes two categories that highlight the close connection between the mind and the body: </a:t>
            </a:r>
            <a:r>
              <a:rPr lang="en-US" b="1" dirty="0"/>
              <a:t>Dissociative Disorders</a:t>
            </a:r>
            <a:r>
              <a:rPr lang="en-US" dirty="0"/>
              <a:t> and </a:t>
            </a:r>
            <a:r>
              <a:rPr lang="en-US" b="1" dirty="0"/>
              <a:t>Somatic Symptom Disorders</a:t>
            </a:r>
            <a:r>
              <a:rPr lang="en-US" dirty="0"/>
              <a:t>.</a:t>
            </a:r>
          </a:p>
          <a:p>
            <a:r>
              <a:rPr lang="en-US" b="1" dirty="0"/>
              <a:t>Dissociative Disorders</a:t>
            </a:r>
            <a:r>
              <a:rPr lang="en-US" dirty="0"/>
              <a:t> involve </a:t>
            </a:r>
            <a:r>
              <a:rPr lang="en-US" b="1" dirty="0"/>
              <a:t>disruptions in memory, identity, or consciousness</a:t>
            </a:r>
            <a:r>
              <a:rPr lang="en-US" dirty="0"/>
              <a:t>. These disruptions often occur as a psychological response to trauma or extreme stress.</a:t>
            </a:r>
            <a:br>
              <a:rPr lang="en-US" dirty="0"/>
            </a:br>
            <a:r>
              <a:rPr lang="en-US" dirty="0"/>
              <a:t>An example is </a:t>
            </a:r>
            <a:r>
              <a:rPr lang="en-US" b="1" dirty="0"/>
              <a:t>Dissociative Identity Disorder</a:t>
            </a:r>
            <a:r>
              <a:rPr lang="en-US" dirty="0"/>
              <a:t>, where a person experiences two or more distinct identity states, often accompanied by memory gaps for daily events or personal information. Other examples include </a:t>
            </a:r>
            <a:r>
              <a:rPr lang="en-US" b="1" dirty="0"/>
              <a:t>Dissociative Amnesia</a:t>
            </a:r>
            <a:r>
              <a:rPr lang="en-US" dirty="0"/>
              <a:t> and </a:t>
            </a:r>
            <a:r>
              <a:rPr lang="en-US" b="1" dirty="0"/>
              <a:t>Depersonalization/Derealization Disorder</a:t>
            </a:r>
            <a:r>
              <a:rPr lang="en-US" dirty="0"/>
              <a:t>.</a:t>
            </a:r>
            <a:br>
              <a:rPr lang="en-US" dirty="0"/>
            </a:br>
            <a:r>
              <a:rPr lang="en-US" dirty="0"/>
              <a:t>These conditions can serve as coping mechanisms—ways the mind separates overwhelming experiences from conscious awareness.</a:t>
            </a:r>
          </a:p>
          <a:p>
            <a:r>
              <a:rPr lang="en-US" b="1" dirty="0"/>
              <a:t>Somatic Symptom Disorders</a:t>
            </a:r>
            <a:r>
              <a:rPr lang="en-US" dirty="0"/>
              <a:t>, on the other hand, are characterized by </a:t>
            </a:r>
            <a:r>
              <a:rPr lang="en-US" b="1" dirty="0"/>
              <a:t>physical symptoms that cannot be fully explained by a medical condition</a:t>
            </a:r>
            <a:r>
              <a:rPr lang="en-US" dirty="0"/>
              <a:t>.</a:t>
            </a:r>
            <a:br>
              <a:rPr lang="en-US" dirty="0"/>
            </a:br>
            <a:r>
              <a:rPr lang="en-US" dirty="0"/>
              <a:t>For instance, </a:t>
            </a:r>
            <a:r>
              <a:rPr lang="en-US" b="1" dirty="0"/>
              <a:t>Somatic Symptom Disorder</a:t>
            </a:r>
            <a:r>
              <a:rPr lang="en-US" dirty="0"/>
              <a:t> involves excessive thoughts, feelings, or behaviors related to physical symptoms like pain or fatigue.</a:t>
            </a:r>
            <a:br>
              <a:rPr lang="en-US" dirty="0"/>
            </a:br>
            <a:r>
              <a:rPr lang="en-US" b="1" dirty="0"/>
              <a:t>Illness Anxiety Disorder</a:t>
            </a:r>
            <a:r>
              <a:rPr lang="en-US" dirty="0"/>
              <a:t>, sometimes called health anxiety, involves intense fear of having or developing a serious illness despite little or no medical evidence.</a:t>
            </a:r>
          </a:p>
          <a:p>
            <a:r>
              <a:rPr lang="en-US" dirty="0"/>
              <a:t>Both of these categories show how psychological distress can express itself either through </a:t>
            </a:r>
            <a:r>
              <a:rPr lang="en-US" b="1" dirty="0"/>
              <a:t>disconnected awareness</a:t>
            </a:r>
            <a:r>
              <a:rPr lang="en-US" dirty="0"/>
              <a:t> or through </a:t>
            </a:r>
            <a:r>
              <a:rPr lang="en-US" b="1" dirty="0"/>
              <a:t>physical symptoms</a:t>
            </a:r>
            <a:r>
              <a:rPr lang="en-US" dirty="0"/>
              <a:t>—reminding us that mental and physical health are deeply intertwined.</a:t>
            </a:r>
          </a:p>
          <a:p>
            <a:endParaRPr lang="en-US" dirty="0"/>
          </a:p>
        </p:txBody>
      </p:sp>
    </p:spTree>
    <p:extLst>
      <p:ext uri="{BB962C8B-B14F-4D97-AF65-F5344CB8AC3E}">
        <p14:creationId xmlns:p14="http://schemas.microsoft.com/office/powerpoint/2010/main" val="2227143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b="1" dirty="0"/>
              <a:t>Eating disorders</a:t>
            </a:r>
            <a:r>
              <a:rPr lang="en-US" dirty="0"/>
              <a:t> center around problematic eating behaviors and distorted body image. They often involve an intense preoccupation with weight, shape, or food, and can lead to serious </a:t>
            </a:r>
            <a:r>
              <a:rPr lang="en-US" b="1" dirty="0"/>
              <a:t>physical and emotional consequences</a:t>
            </a:r>
            <a:r>
              <a:rPr lang="en-US" dirty="0"/>
              <a:t>.</a:t>
            </a:r>
          </a:p>
          <a:p>
            <a:r>
              <a:rPr lang="en-US" dirty="0"/>
              <a:t>For example, </a:t>
            </a:r>
            <a:r>
              <a:rPr lang="en-US" b="1" dirty="0"/>
              <a:t>Anorexia Nervosa</a:t>
            </a:r>
            <a:r>
              <a:rPr lang="en-US" dirty="0"/>
              <a:t> is marked by severe food restriction and an intense fear of gaining weight, leading to dangerously low body weight.</a:t>
            </a:r>
            <a:br>
              <a:rPr lang="en-US" dirty="0"/>
            </a:br>
            <a:r>
              <a:rPr lang="en-US" b="1" dirty="0"/>
              <a:t>Bulimia Nervosa</a:t>
            </a:r>
            <a:r>
              <a:rPr lang="en-US" dirty="0"/>
              <a:t> involves cycles of binge eating followed by compensatory behaviors like vomiting or excessive exercise.</a:t>
            </a:r>
            <a:br>
              <a:rPr lang="en-US" dirty="0"/>
            </a:br>
            <a:r>
              <a:rPr lang="en-US" b="1" dirty="0"/>
              <a:t>Binge-Eating Disorder</a:t>
            </a:r>
            <a:r>
              <a:rPr lang="en-US" dirty="0"/>
              <a:t> features recurrent episodes of eating large amounts of food without purging, often accompanied by guilt or distress.</a:t>
            </a:r>
          </a:p>
          <a:p>
            <a:r>
              <a:rPr lang="en-US" dirty="0"/>
              <a:t>These disorders can affect people of any gender or age, though they often begin during adolescence. They highlight the complex relationship between </a:t>
            </a:r>
            <a:r>
              <a:rPr lang="en-US" b="1" dirty="0"/>
              <a:t>psychological distress, body image, and control</a:t>
            </a:r>
            <a:r>
              <a:rPr lang="en-US" dirty="0"/>
              <a:t>.</a:t>
            </a:r>
          </a:p>
          <a:p>
            <a:r>
              <a:rPr lang="en-US" b="1" dirty="0"/>
              <a:t>Elimination Disorders</a:t>
            </a:r>
            <a:r>
              <a:rPr lang="en-US" dirty="0"/>
              <a:t>, on the other hand, usually emerge in </a:t>
            </a:r>
            <a:r>
              <a:rPr lang="en-US" b="1" dirty="0"/>
              <a:t>childhood</a:t>
            </a:r>
            <a:r>
              <a:rPr lang="en-US" dirty="0"/>
              <a:t> and involve difficulties with toileting behaviors.</a:t>
            </a:r>
            <a:br>
              <a:rPr lang="en-US" dirty="0"/>
            </a:br>
            <a:r>
              <a:rPr lang="en-US" dirty="0"/>
              <a:t>The two main examples are </a:t>
            </a:r>
            <a:r>
              <a:rPr lang="en-US" b="1" dirty="0"/>
              <a:t>Enuresis</a:t>
            </a:r>
            <a:r>
              <a:rPr lang="en-US" dirty="0"/>
              <a:t>, or repeated bedwetting, and </a:t>
            </a:r>
            <a:r>
              <a:rPr lang="en-US" b="1" dirty="0"/>
              <a:t>Encopresis</a:t>
            </a:r>
            <a:r>
              <a:rPr lang="en-US" dirty="0"/>
              <a:t>, or soiling in inappropriate places.</a:t>
            </a:r>
            <a:br>
              <a:rPr lang="en-US" dirty="0"/>
            </a:br>
            <a:r>
              <a:rPr lang="en-US" dirty="0"/>
              <a:t>While sometimes linked to </a:t>
            </a:r>
            <a:r>
              <a:rPr lang="en-US" b="1" dirty="0"/>
              <a:t>developmental delays</a:t>
            </a:r>
            <a:r>
              <a:rPr lang="en-US" dirty="0"/>
              <a:t>, these behaviors can also arise in response to </a:t>
            </a:r>
            <a:r>
              <a:rPr lang="en-US" b="1" dirty="0"/>
              <a:t>stress, trauma, or family changes</a:t>
            </a:r>
            <a:r>
              <a:rPr lang="en-US" dirty="0"/>
              <a:t>.</a:t>
            </a:r>
          </a:p>
          <a:p>
            <a:r>
              <a:rPr lang="en-US" dirty="0"/>
              <a:t>Both eating and elimination disorders show how psychological and emotional factors can strongly influence </a:t>
            </a:r>
            <a:r>
              <a:rPr lang="en-US" b="1" dirty="0"/>
              <a:t>basic bodily functions and habits</a:t>
            </a:r>
            <a:r>
              <a:rPr lang="en-US" dirty="0"/>
              <a:t>—demonstrating the deep connection between mind and body in human development.</a:t>
            </a:r>
          </a:p>
          <a:p>
            <a:endParaRPr lang="en-US" dirty="0"/>
          </a:p>
        </p:txBody>
      </p:sp>
    </p:spTree>
    <p:extLst>
      <p:ext uri="{BB962C8B-B14F-4D97-AF65-F5344CB8AC3E}">
        <p14:creationId xmlns:p14="http://schemas.microsoft.com/office/powerpoint/2010/main" val="567316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Sleep and sexual disorders highlight how </a:t>
            </a:r>
            <a:r>
              <a:rPr lang="en-US" b="1" dirty="0"/>
              <a:t>mental and physical health are closely connected</a:t>
            </a:r>
            <a:r>
              <a:rPr lang="en-US" dirty="0"/>
              <a:t>. Disruptions in sleep or sexual functioning can both reflect and contribute to psychological challenges.</a:t>
            </a:r>
          </a:p>
          <a:p>
            <a:r>
              <a:rPr lang="en-US" b="1" dirty="0"/>
              <a:t>Sleep-Wake Disorders</a:t>
            </a:r>
            <a:r>
              <a:rPr lang="en-US" dirty="0"/>
              <a:t> include problems like </a:t>
            </a:r>
            <a:r>
              <a:rPr lang="en-US" b="1" dirty="0"/>
              <a:t>Insomnia</a:t>
            </a:r>
            <a:r>
              <a:rPr lang="en-US" dirty="0"/>
              <a:t>, </a:t>
            </a:r>
            <a:r>
              <a:rPr lang="en-US" b="1" dirty="0"/>
              <a:t>Narcolepsy</a:t>
            </a:r>
            <a:r>
              <a:rPr lang="en-US" dirty="0"/>
              <a:t>, </a:t>
            </a:r>
            <a:r>
              <a:rPr lang="en-US" b="1" dirty="0"/>
              <a:t>Sleep Apnea</a:t>
            </a:r>
            <a:r>
              <a:rPr lang="en-US" dirty="0"/>
              <a:t>, and </a:t>
            </a:r>
            <a:r>
              <a:rPr lang="en-US" b="1" dirty="0"/>
              <a:t>Circadian Rhythm Disorders</a:t>
            </a:r>
            <a:r>
              <a:rPr lang="en-US" dirty="0"/>
              <a:t>, all of which can affect </a:t>
            </a:r>
            <a:r>
              <a:rPr lang="en-US" b="1" dirty="0"/>
              <a:t>mood, focus, and daily performance</a:t>
            </a:r>
            <a:r>
              <a:rPr lang="en-US" dirty="0"/>
              <a:t>.</a:t>
            </a:r>
          </a:p>
          <a:p>
            <a:r>
              <a:rPr lang="en-US" b="1" dirty="0"/>
              <a:t>Sexual Dysfunctions</a:t>
            </a:r>
            <a:r>
              <a:rPr lang="en-US" dirty="0"/>
              <a:t> involve difficulties with desire or response, such as </a:t>
            </a:r>
            <a:r>
              <a:rPr lang="en-US" b="1" dirty="0"/>
              <a:t>Erectile Disorder</a:t>
            </a:r>
            <a:r>
              <a:rPr lang="en-US" dirty="0"/>
              <a:t> or </a:t>
            </a:r>
            <a:r>
              <a:rPr lang="en-US" b="1" dirty="0"/>
              <a:t>Female Arousal Disorder</a:t>
            </a:r>
            <a:r>
              <a:rPr lang="en-US" dirty="0"/>
              <a:t>, often influenced by both </a:t>
            </a:r>
            <a:r>
              <a:rPr lang="en-US" b="1" dirty="0"/>
              <a:t>physical and emotional factors</a:t>
            </a:r>
            <a:r>
              <a:rPr lang="en-US" dirty="0"/>
              <a:t>.</a:t>
            </a:r>
          </a:p>
          <a:p>
            <a:r>
              <a:rPr lang="en-US" dirty="0"/>
              <a:t>The DSM-5-TR also includes </a:t>
            </a:r>
            <a:r>
              <a:rPr lang="en-US" b="1" dirty="0"/>
              <a:t>Gender Dysphoria</a:t>
            </a:r>
            <a:r>
              <a:rPr lang="en-US" dirty="0"/>
              <a:t>, which focuses on the </a:t>
            </a:r>
            <a:r>
              <a:rPr lang="en-US" b="1" dirty="0"/>
              <a:t>distress</a:t>
            </a:r>
            <a:r>
              <a:rPr lang="en-US" dirty="0"/>
              <a:t> related to a mismatch between one’s gender identity and assigned sex, reflecting a </a:t>
            </a:r>
            <a:r>
              <a:rPr lang="en-US" b="1" dirty="0"/>
              <a:t>more inclusive and affirming approach</a:t>
            </a:r>
            <a:r>
              <a:rPr lang="en-US" dirty="0"/>
              <a:t>.</a:t>
            </a:r>
          </a:p>
          <a:p>
            <a:r>
              <a:rPr lang="en-US" dirty="0"/>
              <a:t>Together, these disorders show how mental health extends beyond thoughts and emotions—it also includes </a:t>
            </a:r>
            <a:r>
              <a:rPr lang="en-US" b="1" dirty="0"/>
              <a:t>biological rhythms, body awareness, and personal identity</a:t>
            </a:r>
            <a:r>
              <a:rPr lang="en-US" dirty="0"/>
              <a:t>.</a:t>
            </a:r>
          </a:p>
          <a:p>
            <a:endParaRPr lang="en-US" dirty="0"/>
          </a:p>
        </p:txBody>
      </p:sp>
    </p:spTree>
    <p:extLst>
      <p:ext uri="{BB962C8B-B14F-4D97-AF65-F5344CB8AC3E}">
        <p14:creationId xmlns:p14="http://schemas.microsoft.com/office/powerpoint/2010/main" val="1574484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These disorders usually begin in </a:t>
            </a:r>
            <a:r>
              <a:rPr lang="en-US" b="1" dirty="0"/>
              <a:t>childhood or adolescence</a:t>
            </a:r>
            <a:r>
              <a:rPr lang="en-US" dirty="0"/>
              <a:t> and involve </a:t>
            </a:r>
            <a:r>
              <a:rPr lang="en-US" b="1" dirty="0"/>
              <a:t>chronic anger, defiance, or aggression</a:t>
            </a:r>
            <a:r>
              <a:rPr lang="en-US" dirty="0"/>
              <a:t> that disrupts relationships, school, and daily life. They reflect problems with </a:t>
            </a:r>
            <a:r>
              <a:rPr lang="en-US" b="1" dirty="0"/>
              <a:t>emotional regulation and impulse control</a:t>
            </a:r>
            <a:r>
              <a:rPr lang="en-US" dirty="0"/>
              <a:t>—the ability to manage strong emotions and behavior.</a:t>
            </a:r>
          </a:p>
          <a:p>
            <a:r>
              <a:rPr lang="en-US" dirty="0"/>
              <a:t>Examples include:</a:t>
            </a:r>
          </a:p>
          <a:p>
            <a:r>
              <a:rPr lang="en-US" b="1" dirty="0"/>
              <a:t>Oppositional Defiant Disorder (ODD):</a:t>
            </a:r>
            <a:r>
              <a:rPr lang="en-US" dirty="0"/>
              <a:t> frequent arguing and refusal to follow rules.</a:t>
            </a:r>
          </a:p>
          <a:p>
            <a:r>
              <a:rPr lang="en-US" b="1" dirty="0"/>
              <a:t>Conduct Disorder (CD):</a:t>
            </a:r>
            <a:r>
              <a:rPr lang="en-US" dirty="0"/>
              <a:t> more serious behaviors like aggression, theft, or property destruction.</a:t>
            </a:r>
          </a:p>
          <a:p>
            <a:r>
              <a:rPr lang="en-US" b="1" dirty="0"/>
              <a:t>Intermittent Explosive Disorder (IED):</a:t>
            </a:r>
            <a:r>
              <a:rPr lang="en-US" dirty="0"/>
              <a:t> sudden outbursts of intense anger.</a:t>
            </a:r>
          </a:p>
          <a:p>
            <a:r>
              <a:rPr lang="en-US" b="1" dirty="0"/>
              <a:t>Pyromania and Kleptomania:</a:t>
            </a:r>
            <a:r>
              <a:rPr lang="en-US" dirty="0"/>
              <a:t> compulsive fire-setting or stealing.</a:t>
            </a:r>
          </a:p>
          <a:p>
            <a:r>
              <a:rPr lang="en-US" dirty="0"/>
              <a:t>Environmental and family factors—like inconsistent discipline or exposure to violence—often play a role. Early intervention helps teach coping skills, empathy, and self-control.</a:t>
            </a:r>
          </a:p>
          <a:p>
            <a:endParaRPr lang="en-US" dirty="0"/>
          </a:p>
        </p:txBody>
      </p:sp>
    </p:spTree>
    <p:extLst>
      <p:ext uri="{BB962C8B-B14F-4D97-AF65-F5344CB8AC3E}">
        <p14:creationId xmlns:p14="http://schemas.microsoft.com/office/powerpoint/2010/main" val="2517813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Substance-related disorders include both </a:t>
            </a:r>
            <a:r>
              <a:rPr lang="en-US" b="1" dirty="0"/>
              <a:t>substance use</a:t>
            </a:r>
            <a:r>
              <a:rPr lang="en-US" dirty="0"/>
              <a:t> and </a:t>
            </a:r>
            <a:r>
              <a:rPr lang="en-US" b="1" dirty="0"/>
              <a:t>addictive behaviors</a:t>
            </a:r>
            <a:r>
              <a:rPr lang="en-US" dirty="0"/>
              <a:t>, like gambling. These disorders involve </a:t>
            </a:r>
            <a:r>
              <a:rPr lang="en-US" b="1" dirty="0"/>
              <a:t>compulsive use</a:t>
            </a:r>
            <a:r>
              <a:rPr lang="en-US" dirty="0"/>
              <a:t> or engagement despite harmful consequences, often disrupting work, relationships, and health. Examples include </a:t>
            </a:r>
            <a:r>
              <a:rPr lang="en-US" b="1" dirty="0"/>
              <a:t>Alcohol Use Disorder</a:t>
            </a:r>
            <a:r>
              <a:rPr lang="en-US" dirty="0"/>
              <a:t>, </a:t>
            </a:r>
            <a:r>
              <a:rPr lang="en-US" b="1" dirty="0"/>
              <a:t>Opioid Use Disorder</a:t>
            </a:r>
            <a:r>
              <a:rPr lang="en-US" dirty="0"/>
              <a:t>, and </a:t>
            </a:r>
            <a:r>
              <a:rPr lang="en-US" b="1" dirty="0"/>
              <a:t>Gambling Disorder</a:t>
            </a:r>
            <a:r>
              <a:rPr lang="en-US" dirty="0"/>
              <a:t>.</a:t>
            </a:r>
          </a:p>
          <a:p>
            <a:r>
              <a:rPr lang="en-US" b="1" dirty="0"/>
              <a:t>Neurocognitive disorders</a:t>
            </a:r>
            <a:r>
              <a:rPr lang="en-US" dirty="0"/>
              <a:t> involve </a:t>
            </a:r>
            <a:r>
              <a:rPr lang="en-US" b="1" dirty="0"/>
              <a:t>declines in memory, attention, or reasoning</a:t>
            </a:r>
            <a:r>
              <a:rPr lang="en-US" dirty="0"/>
              <a:t> that interfere with daily life. They range from </a:t>
            </a:r>
            <a:r>
              <a:rPr lang="en-US" b="1" dirty="0"/>
              <a:t>temporary conditions</a:t>
            </a:r>
            <a:r>
              <a:rPr lang="en-US" dirty="0"/>
              <a:t> like </a:t>
            </a:r>
            <a:r>
              <a:rPr lang="en-US" b="1" dirty="0"/>
              <a:t>Delirium</a:t>
            </a:r>
            <a:r>
              <a:rPr lang="en-US" dirty="0"/>
              <a:t>, to </a:t>
            </a:r>
            <a:r>
              <a:rPr lang="en-US" b="1" dirty="0"/>
              <a:t>progressive diseases</a:t>
            </a:r>
            <a:r>
              <a:rPr lang="en-US" dirty="0"/>
              <a:t> such as </a:t>
            </a:r>
            <a:r>
              <a:rPr lang="en-US" b="1" dirty="0"/>
              <a:t>Alzheimer’s or Parkinson’s-related dementia</a:t>
            </a:r>
            <a:r>
              <a:rPr lang="en-US" dirty="0"/>
              <a:t>.</a:t>
            </a:r>
          </a:p>
          <a:p>
            <a:r>
              <a:rPr lang="en-US" dirty="0"/>
              <a:t>Together, these disorders highlight how </a:t>
            </a:r>
            <a:r>
              <a:rPr lang="en-US" b="1" dirty="0"/>
              <a:t>changes in the brain</a:t>
            </a:r>
            <a:r>
              <a:rPr lang="en-US" dirty="0"/>
              <a:t>—whether from substances or neurodegeneration—can deeply affect behavior, thinking, and overall functioning.</a:t>
            </a:r>
          </a:p>
          <a:p>
            <a:endParaRPr lang="en-US" dirty="0"/>
          </a:p>
        </p:txBody>
      </p:sp>
    </p:spTree>
    <p:extLst>
      <p:ext uri="{BB962C8B-B14F-4D97-AF65-F5344CB8AC3E}">
        <p14:creationId xmlns:p14="http://schemas.microsoft.com/office/powerpoint/2010/main" val="3177683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Before we look at the specific personality disorders, it’s helpful to understand </a:t>
            </a:r>
            <a:r>
              <a:rPr lang="en-US" b="1" dirty="0"/>
              <a:t>how they’re grouped</a:t>
            </a:r>
            <a:r>
              <a:rPr lang="en-US" dirty="0"/>
              <a:t>.</a:t>
            </a:r>
            <a:br>
              <a:rPr lang="en-US" dirty="0"/>
            </a:br>
            <a:r>
              <a:rPr lang="en-US" dirty="0"/>
              <a:t>Personality disorders are long-standing, inflexible patterns of thinking, feeling, and behaving that cause significant problems in relationships, work, or daily functioning. To make sense of the different patterns, the DSM organizes them into </a:t>
            </a:r>
            <a:r>
              <a:rPr lang="en-US" b="1" dirty="0"/>
              <a:t>three clusters</a:t>
            </a:r>
            <a:r>
              <a:rPr lang="en-US" dirty="0"/>
              <a:t>, each defined by a shared style of behavior.</a:t>
            </a:r>
          </a:p>
          <a:p>
            <a:r>
              <a:rPr lang="en-US" b="1" dirty="0"/>
              <a:t>Cluster A</a:t>
            </a:r>
            <a:r>
              <a:rPr lang="en-US" dirty="0"/>
              <a:t> includes disorders characterized by </a:t>
            </a:r>
            <a:r>
              <a:rPr lang="en-US" i="1" dirty="0"/>
              <a:t>odd, eccentric, or suspicious</a:t>
            </a:r>
            <a:r>
              <a:rPr lang="en-US" dirty="0"/>
              <a:t> behavior. These individuals may seem socially withdrawn, mistrustful, or unusual in their thinking or mannerisms.</a:t>
            </a:r>
          </a:p>
          <a:p>
            <a:r>
              <a:rPr lang="en-US" b="1" dirty="0"/>
              <a:t>Cluster B</a:t>
            </a:r>
            <a:r>
              <a:rPr lang="en-US" dirty="0"/>
              <a:t> involves </a:t>
            </a:r>
            <a:r>
              <a:rPr lang="en-US" i="1" dirty="0"/>
              <a:t>dramatic, emotional, or erratic</a:t>
            </a:r>
            <a:r>
              <a:rPr lang="en-US" dirty="0"/>
              <a:t> behavior. People in this cluster often struggle with impulse control, emotional regulation, and maintaining stable relationships.</a:t>
            </a:r>
          </a:p>
          <a:p>
            <a:r>
              <a:rPr lang="en-US" b="1" dirty="0"/>
              <a:t>Cluster C</a:t>
            </a:r>
            <a:r>
              <a:rPr lang="en-US" dirty="0"/>
              <a:t> includes disorders marked by </a:t>
            </a:r>
            <a:r>
              <a:rPr lang="en-US" i="1" dirty="0"/>
              <a:t>anxious and fearful</a:t>
            </a:r>
            <a:r>
              <a:rPr lang="en-US" dirty="0"/>
              <a:t> behavior. These individuals may be socially inhibited, excessively dependent, or preoccupied with rules and control.</a:t>
            </a:r>
          </a:p>
          <a:p>
            <a:r>
              <a:rPr lang="en-US" dirty="0"/>
              <a:t>These clusters help us see patterns across disorders, but it’s important to remember that each person’s experiences are unique. The clusters simply give us a framework for understanding how these long-term patterns tend to show up in daily life.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926801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 pattern to qualify as a personality disorder, it must be enduring, inflexible, and maladaptive. The DSM emphasizes maladaptive behavior as the universal hallmark of psychological disorders. These patterns must significantly impair social or occupational functioning. </a:t>
            </a:r>
          </a:p>
          <a:p>
            <a:endParaRPr lang="en-US" dirty="0"/>
          </a:p>
        </p:txBody>
      </p:sp>
    </p:spTree>
    <p:extLst>
      <p:ext uri="{BB962C8B-B14F-4D97-AF65-F5344CB8AC3E}">
        <p14:creationId xmlns:p14="http://schemas.microsoft.com/office/powerpoint/2010/main" val="2592063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Personality disorders differ from other disorders in that they do not come and go in episodes. They are stable, long-term patterns that shape how a person interacts with the world. The DSM highlights that while mood and psychotic disorders involve disturbances in thoughts and emotions, personality disorders center on dysfunctional interpersonal functioning and coping styles. </a:t>
            </a:r>
          </a:p>
          <a:p>
            <a:endParaRPr lang="en-US" dirty="0"/>
          </a:p>
        </p:txBody>
      </p:sp>
    </p:spTree>
    <p:extLst>
      <p:ext uri="{BB962C8B-B14F-4D97-AF65-F5344CB8AC3E}">
        <p14:creationId xmlns:p14="http://schemas.microsoft.com/office/powerpoint/2010/main" val="211516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Personality disorders are challenging to treat because individuals often lack insight into their behavior and may not perceive their patterns as problematic. Treatments like dialectical behavior therapy (for borderline PD), cognitive therapy, and long-term psychotherapy can be effective, but progress is gradual. This fits the textbook’s theme that maladaptive patterns often persist without structured intervention. </a:t>
            </a:r>
          </a:p>
          <a:p>
            <a:endParaRPr lang="en-US" dirty="0"/>
          </a:p>
        </p:txBody>
      </p:sp>
    </p:spTree>
    <p:extLst>
      <p:ext uri="{BB962C8B-B14F-4D97-AF65-F5344CB8AC3E}">
        <p14:creationId xmlns:p14="http://schemas.microsoft.com/office/powerpoint/2010/main" val="978473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Cluster A disorders are marked by </a:t>
            </a:r>
            <a:r>
              <a:rPr lang="en-US" i="1" dirty="0"/>
              <a:t>odd, eccentric, or suspicious</a:t>
            </a:r>
            <a:r>
              <a:rPr lang="en-US" dirty="0"/>
              <a:t> behavior.</a:t>
            </a:r>
          </a:p>
          <a:p>
            <a:r>
              <a:rPr lang="en-US" b="1" dirty="0"/>
              <a:t>Paranoid Personality Disorder:</a:t>
            </a:r>
            <a:r>
              <a:rPr lang="en-US" dirty="0"/>
              <a:t> Characterized by pervasive distrust and suspicion; individuals interpret others’ actions as deliberately threatening.</a:t>
            </a:r>
          </a:p>
          <a:p>
            <a:r>
              <a:rPr lang="en-US" b="1" dirty="0"/>
              <a:t>Schizoid Personality Disorder:</a:t>
            </a:r>
            <a:r>
              <a:rPr lang="en-US" dirty="0"/>
              <a:t> Marked by detachment from social relationships and limited emotional expression.</a:t>
            </a:r>
          </a:p>
          <a:p>
            <a:r>
              <a:rPr lang="en-US" b="1" dirty="0"/>
              <a:t>Schizotypal Personality Disorder:</a:t>
            </a:r>
            <a:r>
              <a:rPr lang="en-US" dirty="0"/>
              <a:t> Involves eccentric behavior, odd beliefs, social anxiety, and perceptual distortions. These traits are similar to—but less severe than—schizophrenia symptoms.</a:t>
            </a:r>
            <a:br>
              <a:rPr lang="en-US" dirty="0"/>
            </a:br>
            <a:r>
              <a:rPr lang="en-US" dirty="0"/>
              <a:t>These patterns reflect the broader theme of disrupted social functioning discussed in the textbook.</a:t>
            </a:r>
          </a:p>
          <a:p>
            <a:endParaRPr lang="en-US" dirty="0"/>
          </a:p>
        </p:txBody>
      </p:sp>
    </p:spTree>
    <p:extLst>
      <p:ext uri="{BB962C8B-B14F-4D97-AF65-F5344CB8AC3E}">
        <p14:creationId xmlns:p14="http://schemas.microsoft.com/office/powerpoint/2010/main" val="254787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Cluster B disorders involve dramatic and emotionally unpredictable behavior:</a:t>
            </a:r>
          </a:p>
          <a:p>
            <a:r>
              <a:rPr lang="en-US" b="1" dirty="0"/>
              <a:t>Antisocial Personality Disorder:</a:t>
            </a:r>
            <a:r>
              <a:rPr lang="en-US" dirty="0"/>
              <a:t> A pervasive pattern of violating others' rights; deceitful, impulsive, aggressive; often associated with lack of remorse.</a:t>
            </a:r>
          </a:p>
          <a:p>
            <a:r>
              <a:rPr lang="en-US" b="1" dirty="0"/>
              <a:t>Borderline Personality Disorder:</a:t>
            </a:r>
            <a:r>
              <a:rPr lang="en-US" dirty="0"/>
              <a:t> Marked by emotional instability, intense and unstable relationships, fear of abandonment, impulsivity, and self-harm behaviors.</a:t>
            </a:r>
          </a:p>
          <a:p>
            <a:r>
              <a:rPr lang="en-US" b="1" dirty="0"/>
              <a:t>Histrionic Personality Disorder:</a:t>
            </a:r>
            <a:r>
              <a:rPr lang="en-US" dirty="0"/>
              <a:t> Characterized by excessive emotionality, attention-seeking, and a strong need for approval.</a:t>
            </a:r>
          </a:p>
          <a:p>
            <a:r>
              <a:rPr lang="en-US" b="1" dirty="0"/>
              <a:t>Narcissistic Personality Disorder:</a:t>
            </a:r>
            <a:r>
              <a:rPr lang="en-US" dirty="0"/>
              <a:t> Involves grandiosity, need for admiration, and lack of empathy.</a:t>
            </a:r>
            <a:br>
              <a:rPr lang="en-US" dirty="0"/>
            </a:br>
            <a:r>
              <a:rPr lang="en-US" dirty="0"/>
              <a:t>It is important to highlight that these individuals often struggle with regulating emotions and maintaining stable relationships.</a:t>
            </a:r>
          </a:p>
          <a:p>
            <a:endParaRPr lang="en-US" dirty="0"/>
          </a:p>
        </p:txBody>
      </p:sp>
    </p:spTree>
    <p:extLst>
      <p:ext uri="{BB962C8B-B14F-4D97-AF65-F5344CB8AC3E}">
        <p14:creationId xmlns:p14="http://schemas.microsoft.com/office/powerpoint/2010/main" val="3968614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Cluster C disorders involve persistent anxiety and fearfulness:</a:t>
            </a:r>
          </a:p>
          <a:p>
            <a:r>
              <a:rPr lang="en-US" b="1" dirty="0"/>
              <a:t>Avoidant Personality Disorder:</a:t>
            </a:r>
            <a:r>
              <a:rPr lang="en-US" dirty="0"/>
              <a:t> Extreme social inhibition, feelings of inadequacy, and hypersensitivity to criticism.</a:t>
            </a:r>
          </a:p>
          <a:p>
            <a:r>
              <a:rPr lang="en-US" b="1" dirty="0"/>
              <a:t>Dependent Personality Disorder:</a:t>
            </a:r>
            <a:r>
              <a:rPr lang="en-US" dirty="0"/>
              <a:t> Excessive need to be taken care of, submissive behavior, difficulty making independent decisions.</a:t>
            </a:r>
          </a:p>
          <a:p>
            <a:r>
              <a:rPr lang="en-US" b="1" dirty="0"/>
              <a:t>Obsessive-Compulsive Personality Disorder (OCPD):</a:t>
            </a:r>
            <a:r>
              <a:rPr lang="en-US" dirty="0"/>
              <a:t> Characterized by perfectionism, rigidity, control, and preoccupation with order—different from OCD, which involves intrusive thoughts and compulsions.</a:t>
            </a:r>
            <a:br>
              <a:rPr lang="en-US" dirty="0"/>
            </a:br>
            <a:r>
              <a:rPr lang="en-US" dirty="0"/>
              <a:t>These patterns reflect how maladaptive behaviors can interfere with daily life, a core feature described in </a:t>
            </a:r>
            <a:r>
              <a:rPr lang="en-US"/>
              <a:t>the DSM. </a:t>
            </a:r>
            <a:endParaRPr lang="en-US" dirty="0"/>
          </a:p>
          <a:p>
            <a:endParaRPr lang="en-US" dirty="0"/>
          </a:p>
        </p:txBody>
      </p:sp>
    </p:spTree>
    <p:extLst>
      <p:ext uri="{BB962C8B-B14F-4D97-AF65-F5344CB8AC3E}">
        <p14:creationId xmlns:p14="http://schemas.microsoft.com/office/powerpoint/2010/main" val="3343828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2483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1385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3775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2303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2996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7469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1426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37276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0409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3554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81169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5" name="Content Placeholder 2">
            <a:extLst>
              <a:ext uri="{FF2B5EF4-FFF2-40B4-BE49-F238E27FC236}">
                <a16:creationId xmlns:a16="http://schemas.microsoft.com/office/drawing/2014/main" id="{E746DB13-92A9-47C2-9058-218A0E2EDCFC}"/>
              </a:ext>
            </a:extLst>
          </p:cNvPr>
          <p:cNvSpPr>
            <a:spLocks noGrp="1"/>
          </p:cNvSpPr>
          <p:nvPr>
            <p:ph idx="10"/>
          </p:nvPr>
        </p:nvSpPr>
        <p:spPr>
          <a:xfrm>
            <a:off x="357632" y="1902571"/>
            <a:ext cx="4157217" cy="415498"/>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3" name="Content Placeholder Left"/>
          <p:cNvSpPr>
            <a:spLocks noGrp="1"/>
          </p:cNvSpPr>
          <p:nvPr>
            <p:ph sz="half" idx="1" hasCustomPrompt="1"/>
          </p:nvPr>
        </p:nvSpPr>
        <p:spPr>
          <a:xfrm>
            <a:off x="357633" y="2473693"/>
            <a:ext cx="4157218" cy="3703270"/>
          </a:xfrm>
        </p:spPr>
        <p:txBody>
          <a:bodyPr/>
          <a:lstStyle>
            <a:lvl1pPr>
              <a:spcAft>
                <a:spcPts val="600"/>
              </a:spcAft>
              <a:defRPr sz="1800">
                <a:solidFill>
                  <a:srgbClr val="000000"/>
                </a:solidFill>
              </a:defRPr>
            </a:lvl1pPr>
            <a:lvl2pPr>
              <a:spcAft>
                <a:spcPts val="600"/>
              </a:spcAft>
              <a:defRPr sz="1800" b="0">
                <a:solidFill>
                  <a:srgbClr val="000000"/>
                </a:solidFill>
              </a:defRPr>
            </a:lvl2pPr>
            <a:lvl3pPr>
              <a:spcAft>
                <a:spcPts val="600"/>
              </a:spcAft>
              <a:defRPr sz="1800" b="0">
                <a:solidFill>
                  <a:srgbClr val="000000"/>
                </a:solidFill>
              </a:defRPr>
            </a:lvl3pPr>
            <a:lvl4pPr marL="1285875" marR="0"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6" name="Content Placeholder 2">
            <a:extLst>
              <a:ext uri="{FF2B5EF4-FFF2-40B4-BE49-F238E27FC236}">
                <a16:creationId xmlns:a16="http://schemas.microsoft.com/office/drawing/2014/main" id="{25D6101F-D933-4709-A0BA-1CB69D3DC64B}"/>
              </a:ext>
            </a:extLst>
          </p:cNvPr>
          <p:cNvSpPr>
            <a:spLocks noGrp="1"/>
          </p:cNvSpPr>
          <p:nvPr>
            <p:ph idx="11"/>
          </p:nvPr>
        </p:nvSpPr>
        <p:spPr>
          <a:xfrm>
            <a:off x="4629150" y="1902571"/>
            <a:ext cx="4157217" cy="415498"/>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Content Placeholder Right"/>
          <p:cNvSpPr>
            <a:spLocks noGrp="1"/>
          </p:cNvSpPr>
          <p:nvPr>
            <p:ph sz="half" idx="2" hasCustomPrompt="1"/>
          </p:nvPr>
        </p:nvSpPr>
        <p:spPr>
          <a:xfrm>
            <a:off x="4629150" y="2473692"/>
            <a:ext cx="4157217" cy="3703271"/>
          </a:xfrm>
        </p:spPr>
        <p:txBody>
          <a:bodyPr/>
          <a:lstStyle>
            <a:lvl1pPr>
              <a:spcAft>
                <a:spcPts val="600"/>
              </a:spcAft>
              <a:defRPr sz="1800">
                <a:solidFill>
                  <a:srgbClr val="000000"/>
                </a:solidFill>
              </a:defRPr>
            </a:lvl1pPr>
            <a:lvl2pPr>
              <a:spcAft>
                <a:spcPts val="600"/>
              </a:spcAft>
              <a:defRPr sz="1800" b="0">
                <a:solidFill>
                  <a:srgbClr val="000000"/>
                </a:solidFill>
              </a:defRPr>
            </a:lvl2pPr>
            <a:lvl3pPr>
              <a:spcAft>
                <a:spcPts val="600"/>
              </a:spcAft>
              <a:defRPr sz="1800" b="0">
                <a:solidFill>
                  <a:srgbClr val="000000"/>
                </a:solidFill>
              </a:defRPr>
            </a:lvl3pPr>
            <a:lvl4pPr marL="1285875" marR="0"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solidFill>
                  <a:srgbClr val="000000"/>
                </a:solidFill>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288590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5BCAD085-E8A6-8845-BD4E-CB4CCA059FC4}" type="datetimeFigureOut">
              <a:rPr lang="en-US" smtClean="0"/>
              <a:t>12/3/2025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C1FF6DA9-008F-8B48-92A6-B652298478B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12474356"/>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660"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video" Target="https://www.youtube.com/embed/NyUqhbPD2tc?feature=oembed" TargetMode="Externa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3337-3A1D-356D-3B34-7A62C9D4BC44}"/>
              </a:ext>
            </a:extLst>
          </p:cNvPr>
          <p:cNvSpPr>
            <a:spLocks noGrp="1"/>
          </p:cNvSpPr>
          <p:nvPr>
            <p:ph type="ctrTitle"/>
          </p:nvPr>
        </p:nvSpPr>
        <p:spPr/>
        <p:txBody>
          <a:bodyPr/>
          <a:lstStyle/>
          <a:p>
            <a:r>
              <a:rPr lang="en-US" dirty="0"/>
              <a:t>Psychological Disorders in the DSM-5-TR </a:t>
            </a:r>
          </a:p>
        </p:txBody>
      </p:sp>
      <p:sp>
        <p:nvSpPr>
          <p:cNvPr id="3" name="Subtitle 2">
            <a:extLst>
              <a:ext uri="{FF2B5EF4-FFF2-40B4-BE49-F238E27FC236}">
                <a16:creationId xmlns:a16="http://schemas.microsoft.com/office/drawing/2014/main" id="{1BD55933-1D25-18A6-11BC-80AEB9E446B3}"/>
              </a:ext>
            </a:extLst>
          </p:cNvPr>
          <p:cNvSpPr>
            <a:spLocks noGrp="1"/>
          </p:cNvSpPr>
          <p:nvPr>
            <p:ph type="subTitle" idx="1"/>
          </p:nvPr>
        </p:nvSpPr>
        <p:spPr/>
        <p:txBody>
          <a:bodyPr/>
          <a:lstStyle/>
          <a:p>
            <a:r>
              <a:rPr lang="en-US" dirty="0"/>
              <a:t>Presented By Kathryn Bangs, PhD, LCP, NCSP, PEL, LPHA </a:t>
            </a:r>
          </a:p>
          <a:p>
            <a:endParaRPr lang="en-US" dirty="0"/>
          </a:p>
        </p:txBody>
      </p:sp>
    </p:spTree>
    <p:extLst>
      <p:ext uri="{BB962C8B-B14F-4D97-AF65-F5344CB8AC3E}">
        <p14:creationId xmlns:p14="http://schemas.microsoft.com/office/powerpoint/2010/main" val="3213869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5F342-BABE-AFF1-E80F-72458196733D}"/>
              </a:ext>
            </a:extLst>
          </p:cNvPr>
          <p:cNvSpPr>
            <a:spLocks noGrp="1"/>
          </p:cNvSpPr>
          <p:nvPr>
            <p:ph type="title"/>
          </p:nvPr>
        </p:nvSpPr>
        <p:spPr/>
        <p:txBody>
          <a:bodyPr/>
          <a:lstStyle/>
          <a:p>
            <a:r>
              <a:rPr lang="en-US" dirty="0"/>
              <a:t>Defining Abnormal</a:t>
            </a:r>
          </a:p>
        </p:txBody>
      </p:sp>
      <p:sp>
        <p:nvSpPr>
          <p:cNvPr id="3" name="Content Placeholder 2">
            <a:extLst>
              <a:ext uri="{FF2B5EF4-FFF2-40B4-BE49-F238E27FC236}">
                <a16:creationId xmlns:a16="http://schemas.microsoft.com/office/drawing/2014/main" id="{36A27D10-93AC-A5EF-2C0F-DE1E29A800D0}"/>
              </a:ext>
            </a:extLst>
          </p:cNvPr>
          <p:cNvSpPr>
            <a:spLocks noGrp="1"/>
          </p:cNvSpPr>
          <p:nvPr>
            <p:ph idx="1"/>
          </p:nvPr>
        </p:nvSpPr>
        <p:spPr>
          <a:xfrm>
            <a:off x="577124" y="1827106"/>
            <a:ext cx="7989752" cy="3630795"/>
          </a:xfrm>
        </p:spPr>
        <p:txBody>
          <a:bodyPr/>
          <a:lstStyle/>
          <a:p>
            <a:r>
              <a:rPr lang="en-US" b="1" dirty="0"/>
              <a:t>Mental disorder: </a:t>
            </a:r>
            <a:r>
              <a:rPr lang="en-US" dirty="0"/>
              <a:t>Significant impairment in psychological functioning, such as schizophrenia or major depression</a:t>
            </a:r>
          </a:p>
          <a:p>
            <a:r>
              <a:rPr lang="en-US" b="1" dirty="0"/>
              <a:t>Psychopathology: </a:t>
            </a:r>
            <a:r>
              <a:rPr lang="en-US" dirty="0"/>
              <a:t>Study of mental disorders</a:t>
            </a:r>
          </a:p>
          <a:p>
            <a:r>
              <a:rPr lang="en-US" b="1" dirty="0"/>
              <a:t>Statistical abnormality: </a:t>
            </a:r>
            <a:r>
              <a:rPr lang="en-US" dirty="0"/>
              <a:t>Scoring very high or low on some dimension</a:t>
            </a:r>
          </a:p>
          <a:p>
            <a:endParaRPr lang="en-US" dirty="0"/>
          </a:p>
        </p:txBody>
      </p:sp>
      <p:pic>
        <p:nvPicPr>
          <p:cNvPr id="4" name="Picture 3" descr="The x-axis of a chart shows the characteristic level of anxiety. It is divided into 3 parts, Extremely low, Moderate, and Extremely high. The moderate part is shown to extend from low on the left to high on the right. The widths of extremely low and extremely high are the same while the width of moderate is significantly high. The y-axis shows the number of cases. The chart shows a bell curve over the x-axis. It starts from the middle of extremely low part of the x-axis, curves up, reaches its peak at the middle of the moderate part of the x-axis, curves down, and ends at the middle of the extreme high part of the x-axis. The chart shows the note abnormal with a question mark on the extremely low and extremely high parts of the chart.">
            <a:extLst>
              <a:ext uri="{FF2B5EF4-FFF2-40B4-BE49-F238E27FC236}">
                <a16:creationId xmlns:a16="http://schemas.microsoft.com/office/drawing/2014/main" id="{3D310C13-D522-1446-1E9C-68AD59C3299B}"/>
              </a:ext>
            </a:extLst>
          </p:cNvPr>
          <p:cNvPicPr>
            <a:picLocks noChangeAspect="1"/>
          </p:cNvPicPr>
          <p:nvPr/>
        </p:nvPicPr>
        <p:blipFill>
          <a:blip r:embed="rId3"/>
          <a:stretch>
            <a:fillRect/>
          </a:stretch>
        </p:blipFill>
        <p:spPr>
          <a:xfrm>
            <a:off x="4376367" y="4374574"/>
            <a:ext cx="4310433" cy="2208788"/>
          </a:xfrm>
          <a:prstGeom prst="rect">
            <a:avLst/>
          </a:prstGeom>
        </p:spPr>
      </p:pic>
    </p:spTree>
    <p:extLst>
      <p:ext uri="{BB962C8B-B14F-4D97-AF65-F5344CB8AC3E}">
        <p14:creationId xmlns:p14="http://schemas.microsoft.com/office/powerpoint/2010/main" val="2362530807"/>
      </p:ext>
    </p:extLst>
  </p:cSld>
  <p:clrMapOvr>
    <a:masterClrMapping/>
  </p:clrMapOvr>
  <mc:AlternateContent xmlns:mc="http://schemas.openxmlformats.org/markup-compatibility/2006" xmlns:p14="http://schemas.microsoft.com/office/powerpoint/2010/main">
    <mc:Choice Requires="p14">
      <p:transition spd="slow" p14:dur="2000" advTm="53005"/>
    </mc:Choice>
    <mc:Fallback xmlns="">
      <p:transition spd="slow" advTm="5300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96176-F1F8-7454-66B2-DF953344A0D5}"/>
              </a:ext>
            </a:extLst>
          </p:cNvPr>
          <p:cNvSpPr>
            <a:spLocks noGrp="1"/>
          </p:cNvSpPr>
          <p:nvPr>
            <p:ph type="title"/>
          </p:nvPr>
        </p:nvSpPr>
        <p:spPr/>
        <p:txBody>
          <a:bodyPr/>
          <a:lstStyle/>
          <a:p>
            <a:r>
              <a:rPr lang="en-US" dirty="0"/>
              <a:t>Reminder about Stigma</a:t>
            </a:r>
          </a:p>
        </p:txBody>
      </p:sp>
      <p:sp>
        <p:nvSpPr>
          <p:cNvPr id="3" name="Content Placeholder 2">
            <a:extLst>
              <a:ext uri="{FF2B5EF4-FFF2-40B4-BE49-F238E27FC236}">
                <a16:creationId xmlns:a16="http://schemas.microsoft.com/office/drawing/2014/main" id="{D131AEB9-05CE-6ABE-22A2-438508C04E32}"/>
              </a:ext>
            </a:extLst>
          </p:cNvPr>
          <p:cNvSpPr>
            <a:spLocks noGrp="1"/>
          </p:cNvSpPr>
          <p:nvPr>
            <p:ph idx="1"/>
          </p:nvPr>
        </p:nvSpPr>
        <p:spPr>
          <a:xfrm>
            <a:off x="581192" y="1770802"/>
            <a:ext cx="7989752" cy="5087197"/>
          </a:xfrm>
        </p:spPr>
        <p:txBody>
          <a:bodyPr>
            <a:normAutofit/>
          </a:bodyPr>
          <a:lstStyle/>
          <a:p>
            <a:r>
              <a:rPr lang="en-US" dirty="0"/>
              <a:t>Diagnosis can carry stigma—labels may unintentionally lead others to judge, stereotype, or fear individuals with mental health conditions.</a:t>
            </a:r>
          </a:p>
          <a:p>
            <a:r>
              <a:rPr lang="en-US" dirty="0"/>
              <a:t>Some people may avoid seeking help because they fear being “labeled” or treated differently after receiving a diagnosis.</a:t>
            </a:r>
          </a:p>
          <a:p>
            <a:r>
              <a:rPr lang="en-US" dirty="0"/>
              <a:t>Language matters: using person-first terms (e.g., “a person with schizophrenia” rather than “a schizophrenic”) helps reduce bias and promote dignity.</a:t>
            </a:r>
          </a:p>
          <a:p>
            <a:r>
              <a:rPr lang="en-US" dirty="0"/>
              <a:t>Clinicians must balance accuracy and empathy, recognizing that diagnoses describe symptoms, not identity or worth.</a:t>
            </a:r>
          </a:p>
          <a:p>
            <a:r>
              <a:rPr lang="en-US" dirty="0"/>
              <a:t>Reducing diagnostic stigma involves promoting understanding that mental health disorders are common, treatable, and exist along a continuum of human experience.</a:t>
            </a:r>
          </a:p>
        </p:txBody>
      </p:sp>
    </p:spTree>
    <p:extLst>
      <p:ext uri="{BB962C8B-B14F-4D97-AF65-F5344CB8AC3E}">
        <p14:creationId xmlns:p14="http://schemas.microsoft.com/office/powerpoint/2010/main" val="1224028948"/>
      </p:ext>
    </p:extLst>
  </p:cSld>
  <p:clrMapOvr>
    <a:masterClrMapping/>
  </p:clrMapOvr>
  <mc:AlternateContent xmlns:mc="http://schemas.openxmlformats.org/markup-compatibility/2006" xmlns:p14="http://schemas.microsoft.com/office/powerpoint/2010/main">
    <mc:Choice Requires="p14">
      <p:transition spd="slow" p14:dur="2000" advTm="80467"/>
    </mc:Choice>
    <mc:Fallback xmlns="">
      <p:transition spd="slow" advTm="8046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F9AAB8-8A48-49AB-BA9A-D4A9E4A0BD25}"/>
              </a:ext>
            </a:extLst>
          </p:cNvPr>
          <p:cNvSpPr>
            <a:spLocks noGrp="1"/>
          </p:cNvSpPr>
          <p:nvPr>
            <p:ph type="title"/>
          </p:nvPr>
        </p:nvSpPr>
        <p:spPr/>
        <p:txBody>
          <a:bodyPr/>
          <a:lstStyle/>
          <a:p>
            <a:r>
              <a:rPr lang="en-US" dirty="0"/>
              <a:t>Causes of Mental Illness</a:t>
            </a:r>
          </a:p>
        </p:txBody>
      </p:sp>
      <p:sp>
        <p:nvSpPr>
          <p:cNvPr id="10" name="Content Placeholder 9">
            <a:extLst>
              <a:ext uri="{FF2B5EF4-FFF2-40B4-BE49-F238E27FC236}">
                <a16:creationId xmlns:a16="http://schemas.microsoft.com/office/drawing/2014/main" id="{F3F45E62-E82B-4B47-ACEC-DDCEFFA57A97}"/>
              </a:ext>
            </a:extLst>
          </p:cNvPr>
          <p:cNvSpPr>
            <a:spLocks noGrp="1"/>
          </p:cNvSpPr>
          <p:nvPr>
            <p:ph type="body" idx="1"/>
          </p:nvPr>
        </p:nvSpPr>
        <p:spPr/>
        <p:txBody>
          <a:bodyPr>
            <a:normAutofit/>
          </a:bodyPr>
          <a:lstStyle/>
          <a:p>
            <a:r>
              <a:rPr lang="en-US" sz="2200" dirty="0"/>
              <a:t>Biological Factors</a:t>
            </a:r>
          </a:p>
        </p:txBody>
      </p:sp>
      <p:sp>
        <p:nvSpPr>
          <p:cNvPr id="8" name="Content Placeholder 7">
            <a:extLst>
              <a:ext uri="{FF2B5EF4-FFF2-40B4-BE49-F238E27FC236}">
                <a16:creationId xmlns:a16="http://schemas.microsoft.com/office/drawing/2014/main" id="{6B1725CC-69BB-4D1E-BBAD-D17C6BF9E9D3}"/>
              </a:ext>
            </a:extLst>
          </p:cNvPr>
          <p:cNvSpPr>
            <a:spLocks noGrp="1"/>
          </p:cNvSpPr>
          <p:nvPr>
            <p:ph sz="half" idx="2"/>
          </p:nvPr>
        </p:nvSpPr>
        <p:spPr/>
        <p:txBody>
          <a:bodyPr>
            <a:normAutofit lnSpcReduction="10000"/>
          </a:bodyPr>
          <a:lstStyle/>
          <a:p>
            <a:r>
              <a:rPr lang="en-US" dirty="0"/>
              <a:t>Organic: Tumors or hormonal influences</a:t>
            </a:r>
          </a:p>
          <a:p>
            <a:r>
              <a:rPr lang="en-US" dirty="0"/>
              <a:t>Environmental: Head injuries or exposure to toxins</a:t>
            </a:r>
          </a:p>
          <a:p>
            <a:r>
              <a:rPr lang="en-US" dirty="0"/>
              <a:t>Genetics: Neurodevelopmental and neurocognitive disorders</a:t>
            </a:r>
          </a:p>
          <a:p>
            <a:r>
              <a:rPr lang="en-US" dirty="0"/>
              <a:t>Neurocognitive includes impairment in old age caused by deterioration of the brain</a:t>
            </a:r>
          </a:p>
        </p:txBody>
      </p:sp>
      <p:sp>
        <p:nvSpPr>
          <p:cNvPr id="11" name="Content Placeholder 10">
            <a:extLst>
              <a:ext uri="{FF2B5EF4-FFF2-40B4-BE49-F238E27FC236}">
                <a16:creationId xmlns:a16="http://schemas.microsoft.com/office/drawing/2014/main" id="{69758A54-5F21-4A96-8034-A96697A0E5F3}"/>
              </a:ext>
            </a:extLst>
          </p:cNvPr>
          <p:cNvSpPr>
            <a:spLocks noGrp="1"/>
          </p:cNvSpPr>
          <p:nvPr>
            <p:ph type="body" sz="quarter" idx="3"/>
          </p:nvPr>
        </p:nvSpPr>
        <p:spPr/>
        <p:txBody>
          <a:bodyPr>
            <a:normAutofit/>
          </a:bodyPr>
          <a:lstStyle/>
          <a:p>
            <a:r>
              <a:rPr lang="en-US" sz="2200" dirty="0"/>
              <a:t>Psychosocial Factors</a:t>
            </a:r>
          </a:p>
        </p:txBody>
      </p:sp>
      <p:sp>
        <p:nvSpPr>
          <p:cNvPr id="9" name="Content Placeholder 8">
            <a:extLst>
              <a:ext uri="{FF2B5EF4-FFF2-40B4-BE49-F238E27FC236}">
                <a16:creationId xmlns:a16="http://schemas.microsoft.com/office/drawing/2014/main" id="{7F9335D6-CC8B-43CE-AC41-EB2DA4C2EA5C}"/>
              </a:ext>
            </a:extLst>
          </p:cNvPr>
          <p:cNvSpPr>
            <a:spLocks noGrp="1"/>
          </p:cNvSpPr>
          <p:nvPr>
            <p:ph sz="quarter" idx="4"/>
          </p:nvPr>
        </p:nvSpPr>
        <p:spPr/>
        <p:txBody>
          <a:bodyPr>
            <a:normAutofit lnSpcReduction="10000"/>
          </a:bodyPr>
          <a:lstStyle/>
          <a:p>
            <a:r>
              <a:rPr lang="en-US" dirty="0"/>
              <a:t>Associated with a variety of mental illness</a:t>
            </a:r>
          </a:p>
          <a:p>
            <a:r>
              <a:rPr lang="en-US" dirty="0"/>
              <a:t>Stress, trauma, learning disorders, and a lack of knowledge, control, or mastery</a:t>
            </a:r>
          </a:p>
          <a:p>
            <a:r>
              <a:rPr lang="en-US" dirty="0"/>
              <a:t>Family factors and social conditions </a:t>
            </a:r>
          </a:p>
          <a:p>
            <a:r>
              <a:rPr lang="en-US" dirty="0"/>
              <a:t>Psychological trauma</a:t>
            </a:r>
          </a:p>
        </p:txBody>
      </p:sp>
    </p:spTree>
    <p:extLst>
      <p:ext uri="{BB962C8B-B14F-4D97-AF65-F5344CB8AC3E}">
        <p14:creationId xmlns:p14="http://schemas.microsoft.com/office/powerpoint/2010/main" val="2624757860"/>
      </p:ext>
    </p:extLst>
  </p:cSld>
  <p:clrMapOvr>
    <a:masterClrMapping/>
  </p:clrMapOvr>
  <mc:AlternateContent xmlns:mc="http://schemas.openxmlformats.org/markup-compatibility/2006" xmlns:p14="http://schemas.microsoft.com/office/powerpoint/2010/main">
    <mc:Choice Requires="p14">
      <p:transition spd="slow" p14:dur="2000" advTm="126537"/>
    </mc:Choice>
    <mc:Fallback xmlns="">
      <p:transition spd="slow" advTm="12653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D3A-238B-97E7-C6CF-44F9318D0A56}"/>
              </a:ext>
            </a:extLst>
          </p:cNvPr>
          <p:cNvSpPr>
            <a:spLocks noGrp="1"/>
          </p:cNvSpPr>
          <p:nvPr>
            <p:ph type="title"/>
          </p:nvPr>
        </p:nvSpPr>
        <p:spPr/>
        <p:txBody>
          <a:bodyPr/>
          <a:lstStyle/>
          <a:p>
            <a:r>
              <a:rPr lang="en-US" dirty="0"/>
              <a:t>The Stress-Vulnerability Model</a:t>
            </a:r>
          </a:p>
        </p:txBody>
      </p:sp>
      <p:sp>
        <p:nvSpPr>
          <p:cNvPr id="3" name="Content Placeholder 2">
            <a:extLst>
              <a:ext uri="{FF2B5EF4-FFF2-40B4-BE49-F238E27FC236}">
                <a16:creationId xmlns:a16="http://schemas.microsoft.com/office/drawing/2014/main" id="{8FA6AF59-B389-E32E-BD84-FEB7CAAA99A0}"/>
              </a:ext>
            </a:extLst>
          </p:cNvPr>
          <p:cNvSpPr>
            <a:spLocks noGrp="1"/>
          </p:cNvSpPr>
          <p:nvPr>
            <p:ph idx="1"/>
          </p:nvPr>
        </p:nvSpPr>
        <p:spPr>
          <a:xfrm>
            <a:off x="581192" y="1243330"/>
            <a:ext cx="7989752" cy="3630795"/>
          </a:xfrm>
        </p:spPr>
        <p:txBody>
          <a:bodyPr/>
          <a:lstStyle/>
          <a:p>
            <a:pPr fontAlgn="base">
              <a:buClr>
                <a:srgbClr val="004A78"/>
              </a:buClr>
              <a:defRPr/>
            </a:pPr>
            <a:r>
              <a:rPr lang="en-US" dirty="0">
                <a:latin typeface="Arial" charset="0"/>
                <a:cs typeface="Arial" charset="0"/>
              </a:rPr>
              <a:t>Blend of environmental and psychosocial stressors as well as inherited vulnerability</a:t>
            </a:r>
          </a:p>
          <a:p>
            <a:pPr fontAlgn="base">
              <a:buClr>
                <a:srgbClr val="004A78"/>
              </a:buClr>
              <a:defRPr/>
            </a:pPr>
            <a:r>
              <a:rPr lang="en-US" dirty="0">
                <a:latin typeface="Arial" charset="0"/>
                <a:cs typeface="Arial" charset="0"/>
              </a:rPr>
              <a:t>Psychotic disorders, mood and personality disorders, and anxiety disorders</a:t>
            </a:r>
          </a:p>
          <a:p>
            <a:endParaRPr lang="en-US" dirty="0"/>
          </a:p>
        </p:txBody>
      </p:sp>
      <p:pic>
        <p:nvPicPr>
          <p:cNvPr id="4" name="Picture 3" descr="A chart shows 5 horizontal stacked bars. A vertical line runs to the right of the top 3 bars. The bottom 2 bars cross the vertical line. Each stacked bar shows two bars, vulnerability and stress. The vulnerability bars of the top 2 stacked bars are of the same length. However, the stress bar of the second stacked bar is longer than the first. The total length of the second and third stacked bars is the same. However, the vulnerability bar of the third is longer than that of the second. The total length of the fourth stacked bar is shorter than the total length of the fifth stacked bar. The two stacked bars cross the vertical line. The vulnerability bars of the 2 stacked bars are of the same length as that of the third stacked bar. The stress bar of the fourth stacked bar is shorter than that of the fifth stacked bar. The region of the chart to the right of the vertical line is labeled degree of psychopathology. It is divided vertically into low, medium, and high. The fourth stacked bar extends up to medium. The fifth stacked bar extends up to high.">
            <a:extLst>
              <a:ext uri="{FF2B5EF4-FFF2-40B4-BE49-F238E27FC236}">
                <a16:creationId xmlns:a16="http://schemas.microsoft.com/office/drawing/2014/main" id="{61A26255-5152-0338-D379-72328AADD161}"/>
              </a:ext>
            </a:extLst>
          </p:cNvPr>
          <p:cNvPicPr>
            <a:picLocks noChangeAspect="1"/>
          </p:cNvPicPr>
          <p:nvPr/>
        </p:nvPicPr>
        <p:blipFill>
          <a:blip r:embed="rId3"/>
          <a:stretch>
            <a:fillRect/>
          </a:stretch>
        </p:blipFill>
        <p:spPr>
          <a:xfrm>
            <a:off x="2164556" y="4222750"/>
            <a:ext cx="4814888" cy="2085975"/>
          </a:xfrm>
          <a:prstGeom prst="rect">
            <a:avLst/>
          </a:prstGeom>
        </p:spPr>
      </p:pic>
    </p:spTree>
    <p:extLst>
      <p:ext uri="{BB962C8B-B14F-4D97-AF65-F5344CB8AC3E}">
        <p14:creationId xmlns:p14="http://schemas.microsoft.com/office/powerpoint/2010/main" val="1529230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2C02-31A5-F038-D81F-3497FFF5775C}"/>
              </a:ext>
            </a:extLst>
          </p:cNvPr>
          <p:cNvSpPr>
            <a:spLocks noGrp="1"/>
          </p:cNvSpPr>
          <p:nvPr>
            <p:ph type="title"/>
          </p:nvPr>
        </p:nvSpPr>
        <p:spPr/>
        <p:txBody>
          <a:bodyPr/>
          <a:lstStyle/>
          <a:p>
            <a:r>
              <a:rPr lang="en-US" dirty="0"/>
              <a:t>Diagnostic Considerations</a:t>
            </a:r>
          </a:p>
        </p:txBody>
      </p:sp>
      <p:sp>
        <p:nvSpPr>
          <p:cNvPr id="3" name="Content Placeholder 2">
            <a:extLst>
              <a:ext uri="{FF2B5EF4-FFF2-40B4-BE49-F238E27FC236}">
                <a16:creationId xmlns:a16="http://schemas.microsoft.com/office/drawing/2014/main" id="{F0E98DC6-0BF0-50FA-C7C8-AD19679B4CD4}"/>
              </a:ext>
            </a:extLst>
          </p:cNvPr>
          <p:cNvSpPr>
            <a:spLocks noGrp="1"/>
          </p:cNvSpPr>
          <p:nvPr>
            <p:ph idx="1"/>
          </p:nvPr>
        </p:nvSpPr>
        <p:spPr/>
        <p:txBody>
          <a:bodyPr/>
          <a:lstStyle/>
          <a:p>
            <a:r>
              <a:rPr lang="en-US" dirty="0"/>
              <a:t>Most disorders have symptoms that we all experience</a:t>
            </a:r>
          </a:p>
          <a:p>
            <a:r>
              <a:rPr lang="en-US" dirty="0"/>
              <a:t>A diagnosis depends on intensity, length of time, and the impact on the person</a:t>
            </a:r>
          </a:p>
          <a:p>
            <a:r>
              <a:rPr lang="en-US" dirty="0"/>
              <a:t>Several causes:</a:t>
            </a:r>
          </a:p>
          <a:p>
            <a:pPr lvl="1"/>
            <a:r>
              <a:rPr lang="en-US" dirty="0"/>
              <a:t>Genetics</a:t>
            </a:r>
          </a:p>
          <a:p>
            <a:pPr lvl="1"/>
            <a:r>
              <a:rPr lang="en-US" dirty="0"/>
              <a:t>Experiences</a:t>
            </a:r>
          </a:p>
          <a:p>
            <a:pPr lvl="1"/>
            <a:r>
              <a:rPr lang="en-US" dirty="0"/>
              <a:t>Medical</a:t>
            </a:r>
          </a:p>
          <a:p>
            <a:endParaRPr lang="en-US" dirty="0"/>
          </a:p>
          <a:p>
            <a:r>
              <a:rPr lang="en-US" dirty="0"/>
              <a:t>Attention is always affected </a:t>
            </a:r>
          </a:p>
          <a:p>
            <a:endParaRPr lang="en-US" dirty="0"/>
          </a:p>
        </p:txBody>
      </p:sp>
    </p:spTree>
    <p:extLst>
      <p:ext uri="{BB962C8B-B14F-4D97-AF65-F5344CB8AC3E}">
        <p14:creationId xmlns:p14="http://schemas.microsoft.com/office/powerpoint/2010/main" val="314444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B29EF-DF65-A9D6-1DE0-15C0157DE0BD}"/>
              </a:ext>
            </a:extLst>
          </p:cNvPr>
          <p:cNvSpPr>
            <a:spLocks noGrp="1"/>
          </p:cNvSpPr>
          <p:nvPr>
            <p:ph type="title"/>
          </p:nvPr>
        </p:nvSpPr>
        <p:spPr/>
        <p:txBody>
          <a:bodyPr/>
          <a:lstStyle/>
          <a:p>
            <a:r>
              <a:rPr lang="en-US" dirty="0"/>
              <a:t>Purpose and Organization of the </a:t>
            </a:r>
            <a:br>
              <a:rPr lang="en-US" dirty="0"/>
            </a:br>
            <a:r>
              <a:rPr lang="en-US" dirty="0"/>
              <a:t>DSM-5-TR</a:t>
            </a:r>
          </a:p>
        </p:txBody>
      </p:sp>
      <p:sp>
        <p:nvSpPr>
          <p:cNvPr id="3" name="Content Placeholder 2">
            <a:extLst>
              <a:ext uri="{FF2B5EF4-FFF2-40B4-BE49-F238E27FC236}">
                <a16:creationId xmlns:a16="http://schemas.microsoft.com/office/drawing/2014/main" id="{1CF4B26A-33F9-AE92-D4A3-B497F0CE9515}"/>
              </a:ext>
            </a:extLst>
          </p:cNvPr>
          <p:cNvSpPr>
            <a:spLocks noGrp="1"/>
          </p:cNvSpPr>
          <p:nvPr>
            <p:ph idx="1"/>
          </p:nvPr>
        </p:nvSpPr>
        <p:spPr>
          <a:xfrm>
            <a:off x="573056" y="1323541"/>
            <a:ext cx="7989752" cy="3630795"/>
          </a:xfrm>
        </p:spPr>
        <p:txBody>
          <a:bodyPr/>
          <a:lstStyle/>
          <a:p>
            <a:r>
              <a:rPr lang="en-US" dirty="0"/>
              <a:t>Standardized system for diagnosing mental disorders</a:t>
            </a:r>
          </a:p>
          <a:p>
            <a:r>
              <a:rPr lang="en-US" dirty="0"/>
              <a:t>Over 400 disorders grouped by symptom and developmental similarities</a:t>
            </a:r>
          </a:p>
          <a:p>
            <a:r>
              <a:rPr lang="en-US" dirty="0"/>
              <a:t>Combination of categorical and dimensional approaches</a:t>
            </a:r>
          </a:p>
          <a:p>
            <a:endParaRPr lang="en-US" dirty="0"/>
          </a:p>
        </p:txBody>
      </p:sp>
      <p:graphicFrame>
        <p:nvGraphicFramePr>
          <p:cNvPr id="4" name="Table 3">
            <a:extLst>
              <a:ext uri="{FF2B5EF4-FFF2-40B4-BE49-F238E27FC236}">
                <a16:creationId xmlns:a16="http://schemas.microsoft.com/office/drawing/2014/main" id="{9F1E0345-6879-B9FF-732A-290A6D07E87A}"/>
              </a:ext>
            </a:extLst>
          </p:cNvPr>
          <p:cNvGraphicFramePr>
            <a:graphicFrameLocks noGrp="1"/>
          </p:cNvGraphicFramePr>
          <p:nvPr>
            <p:extLst>
              <p:ext uri="{D42A27DB-BD31-4B8C-83A1-F6EECF244321}">
                <p14:modId xmlns:p14="http://schemas.microsoft.com/office/powerpoint/2010/main" val="3658610905"/>
              </p:ext>
            </p:extLst>
          </p:nvPr>
        </p:nvGraphicFramePr>
        <p:xfrm>
          <a:off x="743644" y="4039936"/>
          <a:ext cx="7648576" cy="1828800"/>
        </p:xfrm>
        <a:graphic>
          <a:graphicData uri="http://schemas.openxmlformats.org/drawingml/2006/table">
            <a:tbl>
              <a:tblPr firstRow="1">
                <a:tableStyleId>{9D7B26C5-4107-4FEC-AEDC-1716B250A1EF}</a:tableStyleId>
              </a:tblPr>
              <a:tblGrid>
                <a:gridCol w="3824288">
                  <a:extLst>
                    <a:ext uri="{9D8B030D-6E8A-4147-A177-3AD203B41FA5}">
                      <a16:colId xmlns:a16="http://schemas.microsoft.com/office/drawing/2014/main" val="4256853211"/>
                    </a:ext>
                  </a:extLst>
                </a:gridCol>
                <a:gridCol w="3824288">
                  <a:extLst>
                    <a:ext uri="{9D8B030D-6E8A-4147-A177-3AD203B41FA5}">
                      <a16:colId xmlns:a16="http://schemas.microsoft.com/office/drawing/2014/main" val="2736795930"/>
                    </a:ext>
                  </a:extLst>
                </a:gridCol>
              </a:tblGrid>
              <a:tr h="0">
                <a:tc gridSpan="2">
                  <a:txBody>
                    <a:bodyPr/>
                    <a:lstStyle/>
                    <a:p>
                      <a:pPr algn="ctr">
                        <a:buNone/>
                      </a:pPr>
                      <a:r>
                        <a:rPr lang="en-US" dirty="0"/>
                        <a:t>Diagnostic Approaches</a:t>
                      </a:r>
                    </a:p>
                  </a:txBody>
                  <a:tcPr anchor="ctr">
                    <a:solidFill>
                      <a:schemeClr val="bg1">
                        <a:lumMod val="75000"/>
                      </a:schemeClr>
                    </a:solidFill>
                  </a:tcPr>
                </a:tc>
                <a:tc hMerge="1">
                  <a:txBody>
                    <a:bodyPr/>
                    <a:lstStyle/>
                    <a:p>
                      <a:pPr>
                        <a:buNone/>
                      </a:pPr>
                      <a:endParaRPr lang="en-US" dirty="0"/>
                    </a:p>
                  </a:txBody>
                  <a:tcPr anchor="ctr">
                    <a:solidFill>
                      <a:schemeClr val="bg1">
                        <a:lumMod val="75000"/>
                      </a:schemeClr>
                    </a:solidFill>
                  </a:tcPr>
                </a:tc>
                <a:extLst>
                  <a:ext uri="{0D108BD9-81ED-4DB2-BD59-A6C34878D82A}">
                    <a16:rowId xmlns:a16="http://schemas.microsoft.com/office/drawing/2014/main" val="1181309882"/>
                  </a:ext>
                </a:extLst>
              </a:tr>
              <a:tr h="0">
                <a:tc>
                  <a:txBody>
                    <a:bodyPr/>
                    <a:lstStyle/>
                    <a:p>
                      <a:pPr>
                        <a:buNone/>
                      </a:pPr>
                      <a:r>
                        <a:rPr lang="en-US" b="1" dirty="0"/>
                        <a:t>Categorical</a:t>
                      </a:r>
                      <a:endParaRPr lang="en-US" dirty="0"/>
                    </a:p>
                  </a:txBody>
                  <a:tcPr anchor="ctr">
                    <a:solidFill>
                      <a:schemeClr val="bg1">
                        <a:lumMod val="75000"/>
                      </a:schemeClr>
                    </a:solidFill>
                  </a:tcPr>
                </a:tc>
                <a:tc>
                  <a:txBody>
                    <a:bodyPr/>
                    <a:lstStyle/>
                    <a:p>
                      <a:pPr>
                        <a:buNone/>
                      </a:pPr>
                      <a:r>
                        <a:rPr lang="en-US" b="1" dirty="0"/>
                        <a:t>Dimensional</a:t>
                      </a:r>
                      <a:endParaRPr lang="en-US" dirty="0"/>
                    </a:p>
                  </a:txBody>
                  <a:tcPr anchor="ctr">
                    <a:solidFill>
                      <a:schemeClr val="bg1">
                        <a:lumMod val="75000"/>
                      </a:schemeClr>
                    </a:solidFill>
                  </a:tcPr>
                </a:tc>
                <a:extLst>
                  <a:ext uri="{0D108BD9-81ED-4DB2-BD59-A6C34878D82A}">
                    <a16:rowId xmlns:a16="http://schemas.microsoft.com/office/drawing/2014/main" val="2327947420"/>
                  </a:ext>
                </a:extLst>
              </a:tr>
              <a:tr h="0">
                <a:tc>
                  <a:txBody>
                    <a:bodyPr/>
                    <a:lstStyle/>
                    <a:p>
                      <a:pPr>
                        <a:buNone/>
                      </a:pPr>
                      <a:r>
                        <a:rPr lang="en-US"/>
                        <a:t>Disorders as distinct entities</a:t>
                      </a:r>
                    </a:p>
                  </a:txBody>
                  <a:tcPr anchor="ctr"/>
                </a:tc>
                <a:tc>
                  <a:txBody>
                    <a:bodyPr/>
                    <a:lstStyle/>
                    <a:p>
                      <a:pPr>
                        <a:buNone/>
                      </a:pPr>
                      <a:r>
                        <a:rPr lang="en-US"/>
                        <a:t>Disorders on a continuum</a:t>
                      </a:r>
                    </a:p>
                  </a:txBody>
                  <a:tcPr anchor="ctr"/>
                </a:tc>
                <a:extLst>
                  <a:ext uri="{0D108BD9-81ED-4DB2-BD59-A6C34878D82A}">
                    <a16:rowId xmlns:a16="http://schemas.microsoft.com/office/drawing/2014/main" val="1282604692"/>
                  </a:ext>
                </a:extLst>
              </a:tr>
              <a:tr h="0">
                <a:tc>
                  <a:txBody>
                    <a:bodyPr/>
                    <a:lstStyle/>
                    <a:p>
                      <a:pPr>
                        <a:buNone/>
                      </a:pPr>
                      <a:r>
                        <a:rPr lang="en-US"/>
                        <a:t>“Yes/No” diagnosis</a:t>
                      </a:r>
                    </a:p>
                  </a:txBody>
                  <a:tcPr anchor="ctr"/>
                </a:tc>
                <a:tc>
                  <a:txBody>
                    <a:bodyPr/>
                    <a:lstStyle/>
                    <a:p>
                      <a:pPr>
                        <a:buNone/>
                      </a:pPr>
                      <a:r>
                        <a:rPr lang="en-US"/>
                        <a:t>Range of symptom severity</a:t>
                      </a:r>
                    </a:p>
                  </a:txBody>
                  <a:tcPr anchor="ctr"/>
                </a:tc>
                <a:extLst>
                  <a:ext uri="{0D108BD9-81ED-4DB2-BD59-A6C34878D82A}">
                    <a16:rowId xmlns:a16="http://schemas.microsoft.com/office/drawing/2014/main" val="1590964614"/>
                  </a:ext>
                </a:extLst>
              </a:tr>
              <a:tr h="0">
                <a:tc>
                  <a:txBody>
                    <a:bodyPr/>
                    <a:lstStyle/>
                    <a:p>
                      <a:pPr>
                        <a:buNone/>
                      </a:pPr>
                      <a:r>
                        <a:rPr lang="en-US"/>
                        <a:t>Useful for communication</a:t>
                      </a:r>
                    </a:p>
                  </a:txBody>
                  <a:tcPr anchor="ctr"/>
                </a:tc>
                <a:tc>
                  <a:txBody>
                    <a:bodyPr/>
                    <a:lstStyle/>
                    <a:p>
                      <a:pPr>
                        <a:buNone/>
                      </a:pPr>
                      <a:r>
                        <a:rPr lang="en-US" dirty="0"/>
                        <a:t>Better reflects real-world variability</a:t>
                      </a:r>
                    </a:p>
                  </a:txBody>
                  <a:tcPr anchor="ctr"/>
                </a:tc>
                <a:extLst>
                  <a:ext uri="{0D108BD9-81ED-4DB2-BD59-A6C34878D82A}">
                    <a16:rowId xmlns:a16="http://schemas.microsoft.com/office/drawing/2014/main" val="673578104"/>
                  </a:ext>
                </a:extLst>
              </a:tr>
            </a:tbl>
          </a:graphicData>
        </a:graphic>
      </p:graphicFrame>
    </p:spTree>
    <p:extLst>
      <p:ext uri="{BB962C8B-B14F-4D97-AF65-F5344CB8AC3E}">
        <p14:creationId xmlns:p14="http://schemas.microsoft.com/office/powerpoint/2010/main" val="53693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EB190-D894-7E9B-BECF-E9E2BDAC0710}"/>
              </a:ext>
            </a:extLst>
          </p:cNvPr>
          <p:cNvSpPr>
            <a:spLocks noGrp="1"/>
          </p:cNvSpPr>
          <p:nvPr>
            <p:ph type="title"/>
          </p:nvPr>
        </p:nvSpPr>
        <p:spPr/>
        <p:txBody>
          <a:bodyPr/>
          <a:lstStyle/>
          <a:p>
            <a:r>
              <a:rPr lang="en-US" dirty="0"/>
              <a:t>Purpose of Classification</a:t>
            </a:r>
          </a:p>
        </p:txBody>
      </p:sp>
      <p:sp>
        <p:nvSpPr>
          <p:cNvPr id="3" name="Content Placeholder 2">
            <a:extLst>
              <a:ext uri="{FF2B5EF4-FFF2-40B4-BE49-F238E27FC236}">
                <a16:creationId xmlns:a16="http://schemas.microsoft.com/office/drawing/2014/main" id="{0DABE52B-B25F-BA29-C0B6-9FFF0EE495A1}"/>
              </a:ext>
            </a:extLst>
          </p:cNvPr>
          <p:cNvSpPr>
            <a:spLocks noGrp="1"/>
          </p:cNvSpPr>
          <p:nvPr>
            <p:ph idx="1"/>
          </p:nvPr>
        </p:nvSpPr>
        <p:spPr/>
        <p:txBody>
          <a:bodyPr/>
          <a:lstStyle/>
          <a:p>
            <a:r>
              <a:rPr lang="en-US" dirty="0"/>
              <a:t>Provides a common language for describing mental disorders.</a:t>
            </a:r>
          </a:p>
          <a:p>
            <a:r>
              <a:rPr lang="en-US" dirty="0"/>
              <a:t>Aims to improve diagnostic consistency and treatment planning.</a:t>
            </a:r>
          </a:p>
          <a:p>
            <a:r>
              <a:rPr lang="en-US" dirty="0"/>
              <a:t>Supports research, education, and communication across professionals.</a:t>
            </a:r>
          </a:p>
          <a:p>
            <a:r>
              <a:rPr lang="en-US" dirty="0"/>
              <a:t>Promotes a dimensional understanding of mental health.</a:t>
            </a:r>
          </a:p>
          <a:p>
            <a:pPr marL="0" indent="0">
              <a:buNone/>
            </a:pPr>
            <a:endParaRPr lang="en-US" dirty="0"/>
          </a:p>
        </p:txBody>
      </p:sp>
    </p:spTree>
    <p:extLst>
      <p:ext uri="{BB962C8B-B14F-4D97-AF65-F5344CB8AC3E}">
        <p14:creationId xmlns:p14="http://schemas.microsoft.com/office/powerpoint/2010/main" val="1716008564"/>
      </p:ext>
    </p:extLst>
  </p:cSld>
  <p:clrMapOvr>
    <a:masterClrMapping/>
  </p:clrMapOvr>
  <mc:AlternateContent xmlns:mc="http://schemas.openxmlformats.org/markup-compatibility/2006" xmlns:p14="http://schemas.microsoft.com/office/powerpoint/2010/main">
    <mc:Choice Requires="p14">
      <p:transition spd="slow" p14:dur="2000" advTm="51909"/>
    </mc:Choice>
    <mc:Fallback xmlns="">
      <p:transition spd="slow" advTm="5190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0375-2BCE-9C4A-7DB2-4242D356A02F}"/>
              </a:ext>
            </a:extLst>
          </p:cNvPr>
          <p:cNvSpPr>
            <a:spLocks noGrp="1"/>
          </p:cNvSpPr>
          <p:nvPr>
            <p:ph type="title"/>
          </p:nvPr>
        </p:nvSpPr>
        <p:spPr/>
        <p:txBody>
          <a:bodyPr>
            <a:normAutofit/>
          </a:bodyPr>
          <a:lstStyle/>
          <a:p>
            <a:r>
              <a:rPr lang="en-US" dirty="0"/>
              <a:t>Hierarchical Structure of Classification</a:t>
            </a:r>
          </a:p>
        </p:txBody>
      </p:sp>
      <p:sp>
        <p:nvSpPr>
          <p:cNvPr id="3" name="Content Placeholder 2">
            <a:extLst>
              <a:ext uri="{FF2B5EF4-FFF2-40B4-BE49-F238E27FC236}">
                <a16:creationId xmlns:a16="http://schemas.microsoft.com/office/drawing/2014/main" id="{4B6F79F4-AFA4-05C2-E199-914D90465DFD}"/>
              </a:ext>
            </a:extLst>
          </p:cNvPr>
          <p:cNvSpPr>
            <a:spLocks noGrp="1"/>
          </p:cNvSpPr>
          <p:nvPr>
            <p:ph idx="1"/>
          </p:nvPr>
        </p:nvSpPr>
        <p:spPr/>
        <p:txBody>
          <a:bodyPr>
            <a:normAutofit/>
          </a:bodyPr>
          <a:lstStyle/>
          <a:p>
            <a:r>
              <a:rPr lang="en-US" b="1" dirty="0"/>
              <a:t>Top Level:</a:t>
            </a:r>
            <a:r>
              <a:rPr lang="en-US" dirty="0"/>
              <a:t> Major diagnostic classes (e.g., Mood, Anxiety, Psychotic).</a:t>
            </a:r>
          </a:p>
          <a:p>
            <a:r>
              <a:rPr lang="en-US" b="1" dirty="0"/>
              <a:t>Next Level:</a:t>
            </a:r>
            <a:r>
              <a:rPr lang="en-US" dirty="0"/>
              <a:t> Specific disorders (e.g., Major Depressive Disorder).</a:t>
            </a:r>
          </a:p>
          <a:p>
            <a:r>
              <a:rPr lang="en-US" b="1" dirty="0"/>
              <a:t>Lowest Level:</a:t>
            </a:r>
            <a:r>
              <a:rPr lang="en-US" dirty="0"/>
              <a:t> Subtypes, specifiers, and severity ratings.</a:t>
            </a:r>
          </a:p>
          <a:p>
            <a:pPr lvl="1"/>
            <a:r>
              <a:rPr lang="en-US" dirty="0"/>
              <a:t>Specifiers add detail about onset, pattern, or features (e.g., “with psychotic features”).</a:t>
            </a:r>
          </a:p>
          <a:p>
            <a:pPr lvl="1"/>
            <a:r>
              <a:rPr lang="en-US" dirty="0"/>
              <a:t>Severity ratings indicate symptom intensity (e.g., mild, moderate, severe).</a:t>
            </a:r>
          </a:p>
          <a:p>
            <a:pPr lvl="1"/>
            <a:r>
              <a:rPr lang="en-US" dirty="0"/>
              <a:t>These refinements help tailor treatment and prognosis.</a:t>
            </a:r>
          </a:p>
          <a:p>
            <a:pPr marL="0" indent="0">
              <a:buNone/>
            </a:pPr>
            <a:endParaRPr lang="en-US" dirty="0"/>
          </a:p>
          <a:p>
            <a:endParaRPr lang="en-US" dirty="0"/>
          </a:p>
        </p:txBody>
      </p:sp>
    </p:spTree>
    <p:extLst>
      <p:ext uri="{BB962C8B-B14F-4D97-AF65-F5344CB8AC3E}">
        <p14:creationId xmlns:p14="http://schemas.microsoft.com/office/powerpoint/2010/main" val="1081204002"/>
      </p:ext>
    </p:extLst>
  </p:cSld>
  <p:clrMapOvr>
    <a:masterClrMapping/>
  </p:clrMapOvr>
  <mc:AlternateContent xmlns:mc="http://schemas.openxmlformats.org/markup-compatibility/2006" xmlns:p14="http://schemas.microsoft.com/office/powerpoint/2010/main">
    <mc:Choice Requires="p14">
      <p:transition spd="slow" p14:dur="2000" advTm="75271"/>
    </mc:Choice>
    <mc:Fallback xmlns="">
      <p:transition spd="slow" advTm="7527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219AD-DA1C-51DA-9C36-38449FDC15BC}"/>
              </a:ext>
            </a:extLst>
          </p:cNvPr>
          <p:cNvSpPr>
            <a:spLocks noGrp="1"/>
          </p:cNvSpPr>
          <p:nvPr>
            <p:ph type="title"/>
          </p:nvPr>
        </p:nvSpPr>
        <p:spPr/>
        <p:txBody>
          <a:bodyPr/>
          <a:lstStyle/>
          <a:p>
            <a:r>
              <a:rPr lang="en-US" dirty="0"/>
              <a:t>Major Diagnostic Categories</a:t>
            </a:r>
          </a:p>
        </p:txBody>
      </p:sp>
      <p:sp>
        <p:nvSpPr>
          <p:cNvPr id="3" name="Content Placeholder 2">
            <a:extLst>
              <a:ext uri="{FF2B5EF4-FFF2-40B4-BE49-F238E27FC236}">
                <a16:creationId xmlns:a16="http://schemas.microsoft.com/office/drawing/2014/main" id="{36967B91-E9F5-1BEA-5202-5C382EBB6641}"/>
              </a:ext>
            </a:extLst>
          </p:cNvPr>
          <p:cNvSpPr>
            <a:spLocks noGrp="1"/>
          </p:cNvSpPr>
          <p:nvPr>
            <p:ph idx="1"/>
          </p:nvPr>
        </p:nvSpPr>
        <p:spPr>
          <a:xfrm>
            <a:off x="457200" y="1781175"/>
            <a:ext cx="8229600" cy="5076825"/>
          </a:xfrm>
        </p:spPr>
        <p:txBody>
          <a:bodyPr>
            <a:normAutofit/>
          </a:bodyPr>
          <a:lstStyle/>
          <a:p>
            <a:pPr lvl="0"/>
            <a:r>
              <a:rPr lang="en-US" dirty="0"/>
              <a:t>Neurodevelopmental Disorders</a:t>
            </a:r>
          </a:p>
          <a:p>
            <a:pPr lvl="0"/>
            <a:r>
              <a:rPr lang="en-US" dirty="0"/>
              <a:t>Schizophrenia Spectrum and Other Psychotic Disorders</a:t>
            </a:r>
          </a:p>
          <a:p>
            <a:pPr lvl="0"/>
            <a:r>
              <a:rPr lang="en-US" dirty="0"/>
              <a:t>Bipolar and Related Disorders</a:t>
            </a:r>
          </a:p>
          <a:p>
            <a:pPr lvl="0"/>
            <a:r>
              <a:rPr lang="en-US" dirty="0"/>
              <a:t>Depressive Disorders</a:t>
            </a:r>
          </a:p>
          <a:p>
            <a:pPr lvl="0"/>
            <a:r>
              <a:rPr lang="en-US" dirty="0"/>
              <a:t>Anxiety Disorders</a:t>
            </a:r>
          </a:p>
          <a:p>
            <a:pPr lvl="0"/>
            <a:r>
              <a:rPr lang="en-US" dirty="0"/>
              <a:t>Obsessive-Compulsive and Related Disorders</a:t>
            </a:r>
          </a:p>
          <a:p>
            <a:pPr lvl="0"/>
            <a:r>
              <a:rPr lang="en-US" dirty="0"/>
              <a:t>Trauma- and Stressor-Related Disorders</a:t>
            </a:r>
          </a:p>
          <a:p>
            <a:pPr lvl="0"/>
            <a:r>
              <a:rPr lang="en-US" dirty="0"/>
              <a:t>Feeding, Eating, and Elimination Disorders</a:t>
            </a:r>
          </a:p>
          <a:p>
            <a:pPr lvl="0"/>
            <a:r>
              <a:rPr lang="en-US" dirty="0"/>
              <a:t>Sleep-Wake Disorders</a:t>
            </a:r>
          </a:p>
          <a:p>
            <a:pPr lvl="0"/>
            <a:r>
              <a:rPr lang="en-US" dirty="0"/>
              <a:t>Personality Disorders</a:t>
            </a:r>
          </a:p>
          <a:p>
            <a:pPr lvl="0"/>
            <a:r>
              <a:rPr lang="en-US" dirty="0"/>
              <a:t>Substance-Related and Addictive Disorders</a:t>
            </a:r>
          </a:p>
          <a:p>
            <a:pPr lvl="0"/>
            <a:r>
              <a:rPr lang="en-US" dirty="0"/>
              <a:t>Neurocognitive Disorders</a:t>
            </a:r>
          </a:p>
        </p:txBody>
      </p:sp>
    </p:spTree>
    <p:extLst>
      <p:ext uri="{BB962C8B-B14F-4D97-AF65-F5344CB8AC3E}">
        <p14:creationId xmlns:p14="http://schemas.microsoft.com/office/powerpoint/2010/main" val="2338913244"/>
      </p:ext>
    </p:extLst>
  </p:cSld>
  <p:clrMapOvr>
    <a:masterClrMapping/>
  </p:clrMapOvr>
  <mc:AlternateContent xmlns:mc="http://schemas.openxmlformats.org/markup-compatibility/2006" xmlns:p14="http://schemas.microsoft.com/office/powerpoint/2010/main">
    <mc:Choice Requires="p14">
      <p:transition spd="slow" p14:dur="2000" advTm="118056"/>
    </mc:Choice>
    <mc:Fallback xmlns="">
      <p:transition spd="slow" advTm="11805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FC34-08F5-CFF7-9DEE-5AD597701DDE}"/>
              </a:ext>
            </a:extLst>
          </p:cNvPr>
          <p:cNvSpPr>
            <a:spLocks noGrp="1"/>
          </p:cNvSpPr>
          <p:nvPr>
            <p:ph type="title"/>
          </p:nvPr>
        </p:nvSpPr>
        <p:spPr/>
        <p:txBody>
          <a:bodyPr/>
          <a:lstStyle/>
          <a:p>
            <a:r>
              <a:rPr lang="en-US" dirty="0"/>
              <a:t>Neurodevelopmental Disorders</a:t>
            </a:r>
          </a:p>
        </p:txBody>
      </p:sp>
      <p:sp>
        <p:nvSpPr>
          <p:cNvPr id="3" name="Content Placeholder 2">
            <a:extLst>
              <a:ext uri="{FF2B5EF4-FFF2-40B4-BE49-F238E27FC236}">
                <a16:creationId xmlns:a16="http://schemas.microsoft.com/office/drawing/2014/main" id="{BAA22300-BEBD-CDB1-013E-8FB2B62537E6}"/>
              </a:ext>
            </a:extLst>
          </p:cNvPr>
          <p:cNvSpPr>
            <a:spLocks noGrp="1"/>
          </p:cNvSpPr>
          <p:nvPr>
            <p:ph idx="1"/>
          </p:nvPr>
        </p:nvSpPr>
        <p:spPr/>
        <p:txBody>
          <a:bodyPr/>
          <a:lstStyle/>
          <a:p>
            <a:r>
              <a:rPr lang="en-US" dirty="0"/>
              <a:t>Begin early in development</a:t>
            </a:r>
          </a:p>
          <a:p>
            <a:r>
              <a:rPr lang="en-US" dirty="0"/>
              <a:t>Affect learning, communication, and behavior</a:t>
            </a:r>
          </a:p>
          <a:p>
            <a:r>
              <a:rPr lang="en-US" dirty="0"/>
              <a:t>Examples: </a:t>
            </a:r>
          </a:p>
          <a:p>
            <a:pPr lvl="1"/>
            <a:r>
              <a:rPr lang="en-US" dirty="0"/>
              <a:t>Intellectual Disability</a:t>
            </a:r>
          </a:p>
          <a:p>
            <a:pPr lvl="1"/>
            <a:r>
              <a:rPr lang="en-US" dirty="0"/>
              <a:t>Autism Spectrum Disorder</a:t>
            </a:r>
          </a:p>
          <a:p>
            <a:pPr lvl="1"/>
            <a:r>
              <a:rPr lang="en-US" dirty="0"/>
              <a:t>ADHD</a:t>
            </a:r>
          </a:p>
          <a:p>
            <a:pPr lvl="1"/>
            <a:r>
              <a:rPr lang="en-US" dirty="0"/>
              <a:t>Specific Learning Disorder</a:t>
            </a:r>
          </a:p>
          <a:p>
            <a:endParaRPr lang="en-US" dirty="0"/>
          </a:p>
        </p:txBody>
      </p:sp>
    </p:spTree>
    <p:extLst>
      <p:ext uri="{BB962C8B-B14F-4D97-AF65-F5344CB8AC3E}">
        <p14:creationId xmlns:p14="http://schemas.microsoft.com/office/powerpoint/2010/main" val="216904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8FD82-51DE-FAC9-C40A-4A010E3F8550}"/>
              </a:ext>
            </a:extLst>
          </p:cNvPr>
          <p:cNvSpPr>
            <a:spLocks noGrp="1"/>
          </p:cNvSpPr>
          <p:nvPr>
            <p:ph type="title"/>
          </p:nvPr>
        </p:nvSpPr>
        <p:spPr/>
        <p:txBody>
          <a:bodyPr/>
          <a:lstStyle/>
          <a:p>
            <a:r>
              <a:rPr lang="en-US" dirty="0"/>
              <a:t>Schizophrenia Spectrum and Other Psychotic Disorders</a:t>
            </a:r>
          </a:p>
        </p:txBody>
      </p:sp>
      <p:sp>
        <p:nvSpPr>
          <p:cNvPr id="3" name="Content Placeholder 2">
            <a:extLst>
              <a:ext uri="{FF2B5EF4-FFF2-40B4-BE49-F238E27FC236}">
                <a16:creationId xmlns:a16="http://schemas.microsoft.com/office/drawing/2014/main" id="{8BD7DA7D-C0D4-D569-4875-DC432562BAB2}"/>
              </a:ext>
            </a:extLst>
          </p:cNvPr>
          <p:cNvSpPr>
            <a:spLocks noGrp="1"/>
          </p:cNvSpPr>
          <p:nvPr>
            <p:ph idx="1"/>
          </p:nvPr>
        </p:nvSpPr>
        <p:spPr>
          <a:xfrm>
            <a:off x="581192" y="2228003"/>
            <a:ext cx="7989752" cy="4629997"/>
          </a:xfrm>
        </p:spPr>
        <p:txBody>
          <a:bodyPr>
            <a:normAutofit/>
          </a:bodyPr>
          <a:lstStyle/>
          <a:p>
            <a:r>
              <a:rPr lang="en-US" dirty="0"/>
              <a:t>Core symptoms: </a:t>
            </a:r>
          </a:p>
          <a:p>
            <a:pPr lvl="1"/>
            <a:r>
              <a:rPr lang="en-US" b="1" dirty="0"/>
              <a:t>Positive symptoms: </a:t>
            </a:r>
          </a:p>
          <a:p>
            <a:pPr lvl="2"/>
            <a:r>
              <a:rPr lang="en-US" b="1" dirty="0"/>
              <a:t>Delusions</a:t>
            </a:r>
            <a:r>
              <a:rPr lang="en-US" dirty="0"/>
              <a:t>: Fixed, false beliefs that are not based in reality and are resistant to evidence or reasoning</a:t>
            </a:r>
          </a:p>
          <a:p>
            <a:pPr lvl="2"/>
            <a:r>
              <a:rPr lang="en-US" b="1" dirty="0"/>
              <a:t>Hallucinations</a:t>
            </a:r>
            <a:r>
              <a:rPr lang="en-US" dirty="0"/>
              <a:t>: Sensory perceptions that occur without any external stimulus </a:t>
            </a:r>
          </a:p>
          <a:p>
            <a:pPr lvl="2"/>
            <a:r>
              <a:rPr lang="en-US" b="1" dirty="0"/>
              <a:t>Disorganized thinking</a:t>
            </a:r>
            <a:r>
              <a:rPr lang="en-US" dirty="0"/>
              <a:t>: Disruption in the logical connection between thoughts, often reflected in speech</a:t>
            </a:r>
          </a:p>
          <a:p>
            <a:pPr lvl="1"/>
            <a:r>
              <a:rPr lang="en-US" b="1" dirty="0"/>
              <a:t>Negative symptoms</a:t>
            </a:r>
            <a:r>
              <a:rPr lang="en-US" dirty="0"/>
              <a:t>: Absence or reduction of normal emotional and behavioral functioning (flat affect, alogia, anhedonia, avolition)</a:t>
            </a:r>
          </a:p>
          <a:p>
            <a:r>
              <a:rPr lang="en-US" dirty="0"/>
              <a:t>Examples: </a:t>
            </a:r>
          </a:p>
          <a:p>
            <a:pPr lvl="1"/>
            <a:r>
              <a:rPr lang="en-US" dirty="0"/>
              <a:t>Schizophrenia</a:t>
            </a:r>
          </a:p>
          <a:p>
            <a:pPr lvl="1"/>
            <a:r>
              <a:rPr lang="en-US" dirty="0"/>
              <a:t>Schizoaffective Disorder </a:t>
            </a:r>
          </a:p>
          <a:p>
            <a:pPr lvl="1"/>
            <a:r>
              <a:rPr lang="en-US" dirty="0"/>
              <a:t>Brief Psychotic Disorder</a:t>
            </a:r>
          </a:p>
          <a:p>
            <a:endParaRPr lang="en-US" dirty="0"/>
          </a:p>
        </p:txBody>
      </p:sp>
    </p:spTree>
    <p:extLst>
      <p:ext uri="{BB962C8B-B14F-4D97-AF65-F5344CB8AC3E}">
        <p14:creationId xmlns:p14="http://schemas.microsoft.com/office/powerpoint/2010/main" val="4257044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CB8DB-9DDB-9272-FAF8-182E40CCF1A4}"/>
              </a:ext>
            </a:extLst>
          </p:cNvPr>
          <p:cNvSpPr>
            <a:spLocks noGrp="1"/>
          </p:cNvSpPr>
          <p:nvPr>
            <p:ph type="title"/>
          </p:nvPr>
        </p:nvSpPr>
        <p:spPr/>
        <p:txBody>
          <a:bodyPr/>
          <a:lstStyle/>
          <a:p>
            <a:r>
              <a:rPr lang="en-US" dirty="0"/>
              <a:t>Schizophrenia Simulation</a:t>
            </a:r>
          </a:p>
        </p:txBody>
      </p:sp>
      <p:pic>
        <p:nvPicPr>
          <p:cNvPr id="3" name="Online Media 2" title="A Simulation of Auditory and Visual Hallucinations in Schizophrenia and Bipolar Disorder Mania">
            <a:hlinkClick r:id="" action="ppaction://media"/>
            <a:extLst>
              <a:ext uri="{FF2B5EF4-FFF2-40B4-BE49-F238E27FC236}">
                <a16:creationId xmlns:a16="http://schemas.microsoft.com/office/drawing/2014/main" id="{F6525B08-9F15-5F2B-EDDD-47CA8AACEE0C}"/>
              </a:ext>
            </a:extLst>
          </p:cNvPr>
          <p:cNvPicPr>
            <a:picLocks noRot="1" noChangeAspect="1"/>
          </p:cNvPicPr>
          <p:nvPr>
            <a:videoFile r:link="rId1"/>
          </p:nvPr>
        </p:nvPicPr>
        <p:blipFill>
          <a:blip r:embed="rId4"/>
          <a:stretch>
            <a:fillRect/>
          </a:stretch>
        </p:blipFill>
        <p:spPr>
          <a:xfrm>
            <a:off x="762000" y="2030784"/>
            <a:ext cx="7620000" cy="4305300"/>
          </a:xfrm>
          <a:prstGeom prst="rect">
            <a:avLst/>
          </a:prstGeom>
        </p:spPr>
      </p:pic>
      <p:sp>
        <p:nvSpPr>
          <p:cNvPr id="4" name="TextBox 3">
            <a:extLst>
              <a:ext uri="{FF2B5EF4-FFF2-40B4-BE49-F238E27FC236}">
                <a16:creationId xmlns:a16="http://schemas.microsoft.com/office/drawing/2014/main" id="{B3838FA9-F0BE-C766-EE60-4CB95BA14FE3}"/>
              </a:ext>
            </a:extLst>
          </p:cNvPr>
          <p:cNvSpPr txBox="1"/>
          <p:nvPr/>
        </p:nvSpPr>
        <p:spPr>
          <a:xfrm>
            <a:off x="992332" y="6411399"/>
            <a:ext cx="7159336" cy="369332"/>
          </a:xfrm>
          <a:prstGeom prst="rect">
            <a:avLst/>
          </a:prstGeom>
          <a:noFill/>
        </p:spPr>
        <p:txBody>
          <a:bodyPr wrap="square" rtlCol="0">
            <a:spAutoFit/>
          </a:bodyPr>
          <a:lstStyle/>
          <a:p>
            <a:pPr algn="ctr"/>
            <a:r>
              <a:rPr lang="en-US" dirty="0"/>
              <a:t>https://youtu.be/NyUqhbPD2tc?si=B4ZeyzYZrEeG-QKG</a:t>
            </a:r>
          </a:p>
        </p:txBody>
      </p:sp>
    </p:spTree>
    <p:extLst>
      <p:ext uri="{BB962C8B-B14F-4D97-AF65-F5344CB8AC3E}">
        <p14:creationId xmlns:p14="http://schemas.microsoft.com/office/powerpoint/2010/main" val="535439943"/>
      </p:ext>
    </p:extLst>
  </p:cSld>
  <p:clrMapOvr>
    <a:masterClrMapping/>
  </p:clrMapOvr>
  <mc:AlternateContent xmlns:mc="http://schemas.openxmlformats.org/markup-compatibility/2006" xmlns:p14="http://schemas.microsoft.com/office/powerpoint/2010/main">
    <mc:Choice Requires="p14">
      <p:transition spd="slow" p14:dur="2000" advTm="25660"/>
    </mc:Choice>
    <mc:Fallback xmlns="">
      <p:transition spd="slow" advTm="256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CDB3-07EE-2E31-D7A7-67652CC70BB2}"/>
              </a:ext>
            </a:extLst>
          </p:cNvPr>
          <p:cNvSpPr>
            <a:spLocks noGrp="1"/>
          </p:cNvSpPr>
          <p:nvPr>
            <p:ph type="title"/>
          </p:nvPr>
        </p:nvSpPr>
        <p:spPr/>
        <p:txBody>
          <a:bodyPr/>
          <a:lstStyle/>
          <a:p>
            <a:r>
              <a:rPr lang="en-US" dirty="0"/>
              <a:t>Bipolar and Depressive Disorders</a:t>
            </a:r>
          </a:p>
        </p:txBody>
      </p:sp>
      <p:sp>
        <p:nvSpPr>
          <p:cNvPr id="3" name="Content Placeholder 2">
            <a:extLst>
              <a:ext uri="{FF2B5EF4-FFF2-40B4-BE49-F238E27FC236}">
                <a16:creationId xmlns:a16="http://schemas.microsoft.com/office/drawing/2014/main" id="{AEAB6621-DBEC-7BF4-3AEA-B6969653B7F3}"/>
              </a:ext>
            </a:extLst>
          </p:cNvPr>
          <p:cNvSpPr>
            <a:spLocks noGrp="1"/>
          </p:cNvSpPr>
          <p:nvPr>
            <p:ph idx="1"/>
          </p:nvPr>
        </p:nvSpPr>
        <p:spPr>
          <a:xfrm>
            <a:off x="581192" y="2228003"/>
            <a:ext cx="7989752" cy="4236965"/>
          </a:xfrm>
        </p:spPr>
        <p:txBody>
          <a:bodyPr/>
          <a:lstStyle/>
          <a:p>
            <a:r>
              <a:rPr lang="en-US" b="1" dirty="0"/>
              <a:t>Bipolar Disorders</a:t>
            </a:r>
            <a:r>
              <a:rPr lang="en-US" dirty="0"/>
              <a:t>: Alternating manic and depressive episodes</a:t>
            </a:r>
          </a:p>
          <a:p>
            <a:pPr lvl="1"/>
            <a:r>
              <a:rPr lang="en-US" b="1" dirty="0"/>
              <a:t>Mania</a:t>
            </a:r>
            <a:r>
              <a:rPr lang="en-US" dirty="0"/>
              <a:t>: is a state of abnormally elevated, expansive, or irritable mood, accompanied by increased energy, activity, and other changes in behavior</a:t>
            </a:r>
          </a:p>
          <a:p>
            <a:r>
              <a:rPr lang="en-US" b="1" dirty="0"/>
              <a:t>Depressive Disorders</a:t>
            </a:r>
            <a:r>
              <a:rPr lang="en-US" dirty="0"/>
              <a:t>: Persistent sadness, loss of interest, fatigue, and hopelessness</a:t>
            </a:r>
          </a:p>
          <a:p>
            <a:r>
              <a:rPr lang="en-US" dirty="0"/>
              <a:t>Examples: </a:t>
            </a:r>
          </a:p>
          <a:p>
            <a:pPr lvl="1"/>
            <a:r>
              <a:rPr lang="en-US" dirty="0"/>
              <a:t>Bipolar I &amp; II</a:t>
            </a:r>
          </a:p>
          <a:p>
            <a:pPr lvl="1"/>
            <a:r>
              <a:rPr lang="en-US" dirty="0"/>
              <a:t>Cyclothymic Disorder </a:t>
            </a:r>
          </a:p>
          <a:p>
            <a:pPr lvl="1"/>
            <a:r>
              <a:rPr lang="en-US" dirty="0"/>
              <a:t>Major Depressive Disorder </a:t>
            </a:r>
          </a:p>
          <a:p>
            <a:pPr lvl="1"/>
            <a:r>
              <a:rPr lang="en-US" dirty="0"/>
              <a:t>Persistent Depressive Disorder</a:t>
            </a:r>
          </a:p>
          <a:p>
            <a:endParaRPr lang="en-US" dirty="0"/>
          </a:p>
        </p:txBody>
      </p:sp>
    </p:spTree>
    <p:extLst>
      <p:ext uri="{BB962C8B-B14F-4D97-AF65-F5344CB8AC3E}">
        <p14:creationId xmlns:p14="http://schemas.microsoft.com/office/powerpoint/2010/main" val="2106148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4602-7B1E-C266-C9EB-FBD9138B2E74}"/>
              </a:ext>
            </a:extLst>
          </p:cNvPr>
          <p:cNvSpPr>
            <a:spLocks noGrp="1"/>
          </p:cNvSpPr>
          <p:nvPr>
            <p:ph type="title"/>
          </p:nvPr>
        </p:nvSpPr>
        <p:spPr/>
        <p:txBody>
          <a:bodyPr/>
          <a:lstStyle/>
          <a:p>
            <a:r>
              <a:rPr lang="en-US" dirty="0"/>
              <a:t>Anxiety and Obsessive-Compulsive Disorders</a:t>
            </a:r>
          </a:p>
        </p:txBody>
      </p:sp>
      <p:sp>
        <p:nvSpPr>
          <p:cNvPr id="3" name="Content Placeholder 2">
            <a:extLst>
              <a:ext uri="{FF2B5EF4-FFF2-40B4-BE49-F238E27FC236}">
                <a16:creationId xmlns:a16="http://schemas.microsoft.com/office/drawing/2014/main" id="{94A755BB-5CCB-6474-EB4A-28BFAD5C56CF}"/>
              </a:ext>
            </a:extLst>
          </p:cNvPr>
          <p:cNvSpPr>
            <a:spLocks noGrp="1"/>
          </p:cNvSpPr>
          <p:nvPr>
            <p:ph idx="1"/>
          </p:nvPr>
        </p:nvSpPr>
        <p:spPr>
          <a:xfrm>
            <a:off x="581192" y="1941095"/>
            <a:ext cx="7989752" cy="4748463"/>
          </a:xfrm>
        </p:spPr>
        <p:txBody>
          <a:bodyPr>
            <a:normAutofit/>
          </a:bodyPr>
          <a:lstStyle/>
          <a:p>
            <a:r>
              <a:rPr lang="en-US" dirty="0"/>
              <a:t>Excessive fear or worry</a:t>
            </a:r>
          </a:p>
          <a:p>
            <a:r>
              <a:rPr lang="en-US" dirty="0"/>
              <a:t>Anxiety Disorders: </a:t>
            </a:r>
          </a:p>
          <a:p>
            <a:pPr lvl="1"/>
            <a:r>
              <a:rPr lang="en-US" dirty="0"/>
              <a:t>GAD </a:t>
            </a:r>
          </a:p>
          <a:p>
            <a:pPr lvl="1"/>
            <a:r>
              <a:rPr lang="en-US" dirty="0"/>
              <a:t>Panic Disorder </a:t>
            </a:r>
          </a:p>
          <a:p>
            <a:pPr lvl="1"/>
            <a:r>
              <a:rPr lang="en-US" dirty="0"/>
              <a:t>Social Anxiety </a:t>
            </a:r>
          </a:p>
          <a:p>
            <a:pPr lvl="1"/>
            <a:r>
              <a:rPr lang="en-US" dirty="0"/>
              <a:t>Phobias</a:t>
            </a:r>
          </a:p>
          <a:p>
            <a:r>
              <a:rPr lang="en-US" dirty="0"/>
              <a:t>Obsessive-Compulsive &amp; Related Disorders: </a:t>
            </a:r>
          </a:p>
          <a:p>
            <a:pPr lvl="1"/>
            <a:r>
              <a:rPr lang="en-US" dirty="0"/>
              <a:t>OCD </a:t>
            </a:r>
          </a:p>
          <a:p>
            <a:pPr lvl="1"/>
            <a:r>
              <a:rPr lang="en-US" dirty="0"/>
              <a:t>Body Dysmorphic</a:t>
            </a:r>
          </a:p>
          <a:p>
            <a:pPr lvl="1"/>
            <a:r>
              <a:rPr lang="en-US" dirty="0"/>
              <a:t>Hoarding</a:t>
            </a:r>
          </a:p>
          <a:p>
            <a:pPr lvl="1"/>
            <a:r>
              <a:rPr lang="en-US" dirty="0"/>
              <a:t>Trichotillomania</a:t>
            </a:r>
          </a:p>
          <a:p>
            <a:endParaRPr lang="en-US" dirty="0"/>
          </a:p>
        </p:txBody>
      </p:sp>
    </p:spTree>
    <p:extLst>
      <p:ext uri="{BB962C8B-B14F-4D97-AF65-F5344CB8AC3E}">
        <p14:creationId xmlns:p14="http://schemas.microsoft.com/office/powerpoint/2010/main" val="159776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D715-84FD-9EB7-96CF-C8818A242890}"/>
              </a:ext>
            </a:extLst>
          </p:cNvPr>
          <p:cNvSpPr>
            <a:spLocks noGrp="1"/>
          </p:cNvSpPr>
          <p:nvPr>
            <p:ph type="title"/>
          </p:nvPr>
        </p:nvSpPr>
        <p:spPr/>
        <p:txBody>
          <a:bodyPr/>
          <a:lstStyle/>
          <a:p>
            <a:r>
              <a:rPr lang="en-US" dirty="0"/>
              <a:t>Trauma- and Stressor-Related Disorders</a:t>
            </a:r>
          </a:p>
        </p:txBody>
      </p:sp>
      <p:sp>
        <p:nvSpPr>
          <p:cNvPr id="3" name="Content Placeholder 2">
            <a:extLst>
              <a:ext uri="{FF2B5EF4-FFF2-40B4-BE49-F238E27FC236}">
                <a16:creationId xmlns:a16="http://schemas.microsoft.com/office/drawing/2014/main" id="{D3D8B4DD-C2FA-DE2D-1B06-7CF706F07D6A}"/>
              </a:ext>
            </a:extLst>
          </p:cNvPr>
          <p:cNvSpPr>
            <a:spLocks noGrp="1"/>
          </p:cNvSpPr>
          <p:nvPr>
            <p:ph idx="1"/>
          </p:nvPr>
        </p:nvSpPr>
        <p:spPr/>
        <p:txBody>
          <a:bodyPr/>
          <a:lstStyle/>
          <a:p>
            <a:r>
              <a:rPr lang="en-US" dirty="0"/>
              <a:t>Triggered by exposure to traumatic events</a:t>
            </a:r>
          </a:p>
          <a:p>
            <a:r>
              <a:rPr lang="en-US" dirty="0"/>
              <a:t>Examples: </a:t>
            </a:r>
          </a:p>
          <a:p>
            <a:pPr lvl="1"/>
            <a:r>
              <a:rPr lang="en-US" dirty="0"/>
              <a:t>PTSD</a:t>
            </a:r>
          </a:p>
          <a:p>
            <a:pPr lvl="1"/>
            <a:r>
              <a:rPr lang="en-US" dirty="0"/>
              <a:t>Acute Stress Disorder </a:t>
            </a:r>
          </a:p>
          <a:p>
            <a:pPr lvl="1"/>
            <a:r>
              <a:rPr lang="en-US" dirty="0"/>
              <a:t>Adjustment Disorders </a:t>
            </a:r>
          </a:p>
          <a:p>
            <a:pPr lvl="1"/>
            <a:r>
              <a:rPr lang="en-US" dirty="0"/>
              <a:t>Reactive Attachment Disorder</a:t>
            </a:r>
          </a:p>
          <a:p>
            <a:pPr lvl="1"/>
            <a:r>
              <a:rPr lang="en-US" dirty="0"/>
              <a:t>Disinhibited Social Engagement Disorder</a:t>
            </a:r>
          </a:p>
          <a:p>
            <a:endParaRPr lang="en-US" dirty="0"/>
          </a:p>
        </p:txBody>
      </p:sp>
    </p:spTree>
    <p:extLst>
      <p:ext uri="{BB962C8B-B14F-4D97-AF65-F5344CB8AC3E}">
        <p14:creationId xmlns:p14="http://schemas.microsoft.com/office/powerpoint/2010/main" val="4265583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EFAF-1310-8A08-FE1B-EBE901CB0E8D}"/>
              </a:ext>
            </a:extLst>
          </p:cNvPr>
          <p:cNvSpPr>
            <a:spLocks noGrp="1"/>
          </p:cNvSpPr>
          <p:nvPr>
            <p:ph type="title"/>
          </p:nvPr>
        </p:nvSpPr>
        <p:spPr/>
        <p:txBody>
          <a:bodyPr/>
          <a:lstStyle/>
          <a:p>
            <a:r>
              <a:rPr lang="en-US" dirty="0"/>
              <a:t>Dissociative and Somatic Symptom Disorders</a:t>
            </a:r>
          </a:p>
        </p:txBody>
      </p:sp>
      <p:sp>
        <p:nvSpPr>
          <p:cNvPr id="3" name="Content Placeholder 2">
            <a:extLst>
              <a:ext uri="{FF2B5EF4-FFF2-40B4-BE49-F238E27FC236}">
                <a16:creationId xmlns:a16="http://schemas.microsoft.com/office/drawing/2014/main" id="{8F9B62A1-B02B-9E93-6A05-BAA78786FF29}"/>
              </a:ext>
            </a:extLst>
          </p:cNvPr>
          <p:cNvSpPr>
            <a:spLocks noGrp="1"/>
          </p:cNvSpPr>
          <p:nvPr>
            <p:ph idx="1"/>
          </p:nvPr>
        </p:nvSpPr>
        <p:spPr/>
        <p:txBody>
          <a:bodyPr/>
          <a:lstStyle/>
          <a:p>
            <a:r>
              <a:rPr lang="en-US" dirty="0"/>
              <a:t>Dissociative Disorders: </a:t>
            </a:r>
          </a:p>
          <a:p>
            <a:pPr lvl="1"/>
            <a:r>
              <a:rPr lang="en-US" dirty="0"/>
              <a:t>Disruptions in memory, identity, or consciousness (e.g., Dissociative Identity Disorder)</a:t>
            </a:r>
          </a:p>
          <a:p>
            <a:r>
              <a:rPr lang="en-US" dirty="0"/>
              <a:t>Somatic Symptom Disorders: </a:t>
            </a:r>
          </a:p>
          <a:p>
            <a:pPr lvl="1"/>
            <a:r>
              <a:rPr lang="en-US" dirty="0"/>
              <a:t>Physical symptoms without clear medical cause (e.g., Somatic Symptom Disorder, Illness Anxiety Disorder)</a:t>
            </a:r>
          </a:p>
          <a:p>
            <a:endParaRPr lang="en-US" dirty="0"/>
          </a:p>
        </p:txBody>
      </p:sp>
    </p:spTree>
    <p:extLst>
      <p:ext uri="{BB962C8B-B14F-4D97-AF65-F5344CB8AC3E}">
        <p14:creationId xmlns:p14="http://schemas.microsoft.com/office/powerpoint/2010/main" val="2907276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36F76-17F6-357B-54C4-25221E2D88E5}"/>
              </a:ext>
            </a:extLst>
          </p:cNvPr>
          <p:cNvSpPr>
            <a:spLocks noGrp="1"/>
          </p:cNvSpPr>
          <p:nvPr>
            <p:ph type="title"/>
          </p:nvPr>
        </p:nvSpPr>
        <p:spPr/>
        <p:txBody>
          <a:bodyPr/>
          <a:lstStyle/>
          <a:p>
            <a:r>
              <a:rPr lang="en-US" dirty="0"/>
              <a:t>Feeding, Eating, and Elimination Disorders</a:t>
            </a:r>
          </a:p>
        </p:txBody>
      </p:sp>
      <p:sp>
        <p:nvSpPr>
          <p:cNvPr id="3" name="Content Placeholder 2">
            <a:extLst>
              <a:ext uri="{FF2B5EF4-FFF2-40B4-BE49-F238E27FC236}">
                <a16:creationId xmlns:a16="http://schemas.microsoft.com/office/drawing/2014/main" id="{5BED0CBB-D612-9FA1-531F-AA4AD47E734B}"/>
              </a:ext>
            </a:extLst>
          </p:cNvPr>
          <p:cNvSpPr>
            <a:spLocks noGrp="1"/>
          </p:cNvSpPr>
          <p:nvPr>
            <p:ph idx="1"/>
          </p:nvPr>
        </p:nvSpPr>
        <p:spPr/>
        <p:txBody>
          <a:bodyPr/>
          <a:lstStyle/>
          <a:p>
            <a:r>
              <a:rPr lang="en-US" dirty="0"/>
              <a:t>Feeding/Eating: </a:t>
            </a:r>
          </a:p>
          <a:p>
            <a:pPr lvl="1"/>
            <a:r>
              <a:rPr lang="en-US" dirty="0"/>
              <a:t>Anorexia Nervosa</a:t>
            </a:r>
          </a:p>
          <a:p>
            <a:pPr lvl="1"/>
            <a:r>
              <a:rPr lang="en-US" dirty="0"/>
              <a:t>Bulimia Nervosa</a:t>
            </a:r>
          </a:p>
          <a:p>
            <a:pPr lvl="1"/>
            <a:r>
              <a:rPr lang="en-US" dirty="0"/>
              <a:t>Binge-Eating Disorder</a:t>
            </a:r>
          </a:p>
          <a:p>
            <a:r>
              <a:rPr lang="en-US" dirty="0"/>
              <a:t>Elimination: </a:t>
            </a:r>
          </a:p>
          <a:p>
            <a:pPr lvl="1"/>
            <a:r>
              <a:rPr lang="en-US" dirty="0"/>
              <a:t>Enuresis</a:t>
            </a:r>
          </a:p>
          <a:p>
            <a:pPr lvl="1"/>
            <a:r>
              <a:rPr lang="en-US" dirty="0"/>
              <a:t>Encopresis</a:t>
            </a:r>
          </a:p>
          <a:p>
            <a:endParaRPr lang="en-US" dirty="0"/>
          </a:p>
        </p:txBody>
      </p:sp>
    </p:spTree>
    <p:extLst>
      <p:ext uri="{BB962C8B-B14F-4D97-AF65-F5344CB8AC3E}">
        <p14:creationId xmlns:p14="http://schemas.microsoft.com/office/powerpoint/2010/main" val="276713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F4B83-D6C1-5075-13DA-F2062A902CEB}"/>
              </a:ext>
            </a:extLst>
          </p:cNvPr>
          <p:cNvSpPr>
            <a:spLocks noGrp="1"/>
          </p:cNvSpPr>
          <p:nvPr>
            <p:ph type="title"/>
          </p:nvPr>
        </p:nvSpPr>
        <p:spPr/>
        <p:txBody>
          <a:bodyPr/>
          <a:lstStyle/>
          <a:p>
            <a:r>
              <a:rPr lang="en-US" dirty="0"/>
              <a:t>Sleep-Wake and Sexual Disorders</a:t>
            </a:r>
          </a:p>
        </p:txBody>
      </p:sp>
      <p:sp>
        <p:nvSpPr>
          <p:cNvPr id="3" name="Content Placeholder 2">
            <a:extLst>
              <a:ext uri="{FF2B5EF4-FFF2-40B4-BE49-F238E27FC236}">
                <a16:creationId xmlns:a16="http://schemas.microsoft.com/office/drawing/2014/main" id="{577B398E-620A-B297-9DE9-38CA25C4196D}"/>
              </a:ext>
            </a:extLst>
          </p:cNvPr>
          <p:cNvSpPr>
            <a:spLocks noGrp="1"/>
          </p:cNvSpPr>
          <p:nvPr>
            <p:ph idx="1"/>
          </p:nvPr>
        </p:nvSpPr>
        <p:spPr/>
        <p:txBody>
          <a:bodyPr/>
          <a:lstStyle/>
          <a:p>
            <a:r>
              <a:rPr lang="en-US" dirty="0"/>
              <a:t>Sleep-Wake Disorders: </a:t>
            </a:r>
          </a:p>
          <a:p>
            <a:pPr lvl="1"/>
            <a:r>
              <a:rPr lang="en-US" dirty="0"/>
              <a:t>Insomnia </a:t>
            </a:r>
          </a:p>
          <a:p>
            <a:pPr lvl="1"/>
            <a:r>
              <a:rPr lang="en-US" dirty="0"/>
              <a:t>Narcolepsy</a:t>
            </a:r>
          </a:p>
          <a:p>
            <a:pPr lvl="1"/>
            <a:r>
              <a:rPr lang="en-US" dirty="0"/>
              <a:t>Sleep Apnea</a:t>
            </a:r>
          </a:p>
          <a:p>
            <a:r>
              <a:rPr lang="en-US" dirty="0"/>
              <a:t>Sexual and Gender-Related Disorders: </a:t>
            </a:r>
          </a:p>
          <a:p>
            <a:pPr lvl="1"/>
            <a:r>
              <a:rPr lang="en-US" dirty="0"/>
              <a:t>Sexual Dysfunctions</a:t>
            </a:r>
          </a:p>
          <a:p>
            <a:pPr lvl="1"/>
            <a:r>
              <a:rPr lang="en-US" dirty="0"/>
              <a:t>Gender Dysphoria</a:t>
            </a:r>
          </a:p>
          <a:p>
            <a:pPr lvl="1"/>
            <a:r>
              <a:rPr lang="en-US" dirty="0"/>
              <a:t>Paraphilic Disorders</a:t>
            </a:r>
          </a:p>
          <a:p>
            <a:endParaRPr lang="en-US" dirty="0"/>
          </a:p>
        </p:txBody>
      </p:sp>
    </p:spTree>
    <p:extLst>
      <p:ext uri="{BB962C8B-B14F-4D97-AF65-F5344CB8AC3E}">
        <p14:creationId xmlns:p14="http://schemas.microsoft.com/office/powerpoint/2010/main" val="2652180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0529-05B5-3405-8B3E-1A4C4B844EEA}"/>
              </a:ext>
            </a:extLst>
          </p:cNvPr>
          <p:cNvSpPr>
            <a:spLocks noGrp="1"/>
          </p:cNvSpPr>
          <p:nvPr>
            <p:ph type="title"/>
          </p:nvPr>
        </p:nvSpPr>
        <p:spPr/>
        <p:txBody>
          <a:bodyPr/>
          <a:lstStyle/>
          <a:p>
            <a:r>
              <a:rPr lang="en-US" dirty="0"/>
              <a:t>Disruptive, Impulse-Control, and Conduct Disorders</a:t>
            </a:r>
          </a:p>
        </p:txBody>
      </p:sp>
      <p:sp>
        <p:nvSpPr>
          <p:cNvPr id="3" name="Content Placeholder 2">
            <a:extLst>
              <a:ext uri="{FF2B5EF4-FFF2-40B4-BE49-F238E27FC236}">
                <a16:creationId xmlns:a16="http://schemas.microsoft.com/office/drawing/2014/main" id="{8F3438C2-F6D3-94DC-8896-05DB8B424387}"/>
              </a:ext>
            </a:extLst>
          </p:cNvPr>
          <p:cNvSpPr>
            <a:spLocks noGrp="1"/>
          </p:cNvSpPr>
          <p:nvPr>
            <p:ph idx="1"/>
          </p:nvPr>
        </p:nvSpPr>
        <p:spPr/>
        <p:txBody>
          <a:bodyPr/>
          <a:lstStyle/>
          <a:p>
            <a:r>
              <a:rPr lang="en-US" dirty="0"/>
              <a:t>Involve problems with emotional and behavioral regulation</a:t>
            </a:r>
          </a:p>
          <a:p>
            <a:r>
              <a:rPr lang="en-US" dirty="0"/>
              <a:t>Examples: </a:t>
            </a:r>
          </a:p>
          <a:p>
            <a:pPr lvl="1"/>
            <a:r>
              <a:rPr lang="en-US" dirty="0"/>
              <a:t>Oppositional Defiant Disorder </a:t>
            </a:r>
          </a:p>
          <a:p>
            <a:pPr lvl="1"/>
            <a:r>
              <a:rPr lang="en-US" dirty="0"/>
              <a:t>Conduct Disorder</a:t>
            </a:r>
          </a:p>
          <a:p>
            <a:pPr lvl="1"/>
            <a:r>
              <a:rPr lang="en-US" dirty="0"/>
              <a:t>Intermittent Explosive Disorder</a:t>
            </a:r>
          </a:p>
          <a:p>
            <a:endParaRPr lang="en-US" dirty="0"/>
          </a:p>
        </p:txBody>
      </p:sp>
    </p:spTree>
    <p:extLst>
      <p:ext uri="{BB962C8B-B14F-4D97-AF65-F5344CB8AC3E}">
        <p14:creationId xmlns:p14="http://schemas.microsoft.com/office/powerpoint/2010/main" val="1957432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1617C-ADCF-1804-99BB-6707DFDF138F}"/>
              </a:ext>
            </a:extLst>
          </p:cNvPr>
          <p:cNvSpPr>
            <a:spLocks noGrp="1"/>
          </p:cNvSpPr>
          <p:nvPr>
            <p:ph type="title"/>
          </p:nvPr>
        </p:nvSpPr>
        <p:spPr/>
        <p:txBody>
          <a:bodyPr/>
          <a:lstStyle/>
          <a:p>
            <a:r>
              <a:rPr lang="en-US" dirty="0"/>
              <a:t>Substance-Related and Neurocognitive Disorders</a:t>
            </a:r>
          </a:p>
        </p:txBody>
      </p:sp>
      <p:sp>
        <p:nvSpPr>
          <p:cNvPr id="3" name="Content Placeholder 2">
            <a:extLst>
              <a:ext uri="{FF2B5EF4-FFF2-40B4-BE49-F238E27FC236}">
                <a16:creationId xmlns:a16="http://schemas.microsoft.com/office/drawing/2014/main" id="{A1A0DA5A-E609-D10C-3144-71B8F22530D0}"/>
              </a:ext>
            </a:extLst>
          </p:cNvPr>
          <p:cNvSpPr>
            <a:spLocks noGrp="1"/>
          </p:cNvSpPr>
          <p:nvPr>
            <p:ph idx="1"/>
          </p:nvPr>
        </p:nvSpPr>
        <p:spPr/>
        <p:txBody>
          <a:bodyPr/>
          <a:lstStyle/>
          <a:p>
            <a:r>
              <a:rPr lang="en-US" dirty="0"/>
              <a:t>Substance-Related: </a:t>
            </a:r>
          </a:p>
          <a:p>
            <a:pPr lvl="1"/>
            <a:r>
              <a:rPr lang="en-US" dirty="0"/>
              <a:t>Alcohol</a:t>
            </a:r>
          </a:p>
          <a:p>
            <a:pPr lvl="1"/>
            <a:r>
              <a:rPr lang="en-US" dirty="0"/>
              <a:t>Opioids</a:t>
            </a:r>
          </a:p>
          <a:p>
            <a:pPr lvl="1"/>
            <a:r>
              <a:rPr lang="en-US" dirty="0"/>
              <a:t>Stimulants</a:t>
            </a:r>
          </a:p>
          <a:p>
            <a:pPr lvl="1"/>
            <a:r>
              <a:rPr lang="en-US" dirty="0"/>
              <a:t>Gambling Disorder</a:t>
            </a:r>
          </a:p>
          <a:p>
            <a:r>
              <a:rPr lang="en-US" dirty="0"/>
              <a:t>Neurocognitive: Decline in memory or cognition </a:t>
            </a:r>
          </a:p>
          <a:p>
            <a:pPr lvl="1"/>
            <a:r>
              <a:rPr lang="en-US" dirty="0"/>
              <a:t>Delirium </a:t>
            </a:r>
          </a:p>
          <a:p>
            <a:pPr lvl="1"/>
            <a:r>
              <a:rPr lang="en-US" dirty="0"/>
              <a:t>Alzheimer’s Disease</a:t>
            </a:r>
          </a:p>
          <a:p>
            <a:endParaRPr lang="en-US" dirty="0"/>
          </a:p>
        </p:txBody>
      </p:sp>
    </p:spTree>
    <p:extLst>
      <p:ext uri="{BB962C8B-B14F-4D97-AF65-F5344CB8AC3E}">
        <p14:creationId xmlns:p14="http://schemas.microsoft.com/office/powerpoint/2010/main" val="3565416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C493-A622-B58B-41AB-B40CC400F5BD}"/>
              </a:ext>
            </a:extLst>
          </p:cNvPr>
          <p:cNvSpPr>
            <a:spLocks noGrp="1"/>
          </p:cNvSpPr>
          <p:nvPr>
            <p:ph type="title"/>
          </p:nvPr>
        </p:nvSpPr>
        <p:spPr/>
        <p:txBody>
          <a:bodyPr/>
          <a:lstStyle/>
          <a:p>
            <a:r>
              <a:rPr lang="en-US" dirty="0"/>
              <a:t>Personality Disorders</a:t>
            </a:r>
          </a:p>
        </p:txBody>
      </p:sp>
      <p:sp>
        <p:nvSpPr>
          <p:cNvPr id="3" name="Content Placeholder 2">
            <a:extLst>
              <a:ext uri="{FF2B5EF4-FFF2-40B4-BE49-F238E27FC236}">
                <a16:creationId xmlns:a16="http://schemas.microsoft.com/office/drawing/2014/main" id="{28C05D31-FF9B-7075-9FE7-10CA02156910}"/>
              </a:ext>
            </a:extLst>
          </p:cNvPr>
          <p:cNvSpPr>
            <a:spLocks noGrp="1"/>
          </p:cNvSpPr>
          <p:nvPr>
            <p:ph idx="1"/>
          </p:nvPr>
        </p:nvSpPr>
        <p:spPr/>
        <p:txBody>
          <a:bodyPr/>
          <a:lstStyle/>
          <a:p>
            <a:r>
              <a:rPr lang="en-US" dirty="0"/>
              <a:t>Enduring and inflexible patterns of behavior</a:t>
            </a:r>
          </a:p>
          <a:p>
            <a:r>
              <a:rPr lang="en-US" dirty="0"/>
              <a:t>Cluster A: marked by odd, eccentric, or suspicious behavior</a:t>
            </a:r>
          </a:p>
          <a:p>
            <a:pPr lvl="1"/>
            <a:r>
              <a:rPr lang="en-US" dirty="0"/>
              <a:t>Paranoid, Schizoid, Schizotypal</a:t>
            </a:r>
          </a:p>
          <a:p>
            <a:r>
              <a:rPr lang="en-US" dirty="0"/>
              <a:t>Cluster B: characterized by dramatic, emotional, or erratic behaviors</a:t>
            </a:r>
          </a:p>
          <a:p>
            <a:pPr lvl="1"/>
            <a:r>
              <a:rPr lang="en-US" dirty="0"/>
              <a:t>Antisocial, Borderline, Histrionic, Narcissistic</a:t>
            </a:r>
          </a:p>
          <a:p>
            <a:r>
              <a:rPr lang="en-US" dirty="0"/>
              <a:t>Cluster C: involve anxious and fearful behavior</a:t>
            </a:r>
          </a:p>
          <a:p>
            <a:pPr lvl="1"/>
            <a:r>
              <a:rPr lang="en-US" dirty="0"/>
              <a:t>Avoidant, Dependent, Obsessive-Compulsive</a:t>
            </a:r>
          </a:p>
          <a:p>
            <a:pPr marL="0" indent="0">
              <a:buNone/>
            </a:pPr>
            <a:endParaRPr lang="en-US" dirty="0"/>
          </a:p>
        </p:txBody>
      </p:sp>
    </p:spTree>
    <p:extLst>
      <p:ext uri="{BB962C8B-B14F-4D97-AF65-F5344CB8AC3E}">
        <p14:creationId xmlns:p14="http://schemas.microsoft.com/office/powerpoint/2010/main" val="2280459002"/>
      </p:ext>
    </p:extLst>
  </p:cSld>
  <p:clrMapOvr>
    <a:masterClrMapping/>
  </p:clrMapOvr>
  <mc:AlternateContent xmlns:mc="http://schemas.openxmlformats.org/markup-compatibility/2006" xmlns:p14="http://schemas.microsoft.com/office/powerpoint/2010/main">
    <mc:Choice Requires="p14">
      <p:transition spd="slow" p14:dur="2000" advTm="89275"/>
    </mc:Choice>
    <mc:Fallback xmlns="">
      <p:transition spd="slow" advTm="8927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52C5-F22E-F917-11AF-7E14905E71EB}"/>
              </a:ext>
            </a:extLst>
          </p:cNvPr>
          <p:cNvSpPr>
            <a:spLocks noGrp="1"/>
          </p:cNvSpPr>
          <p:nvPr>
            <p:ph type="title"/>
          </p:nvPr>
        </p:nvSpPr>
        <p:spPr/>
        <p:txBody>
          <a:bodyPr/>
          <a:lstStyle/>
          <a:p>
            <a:r>
              <a:rPr lang="en-US" dirty="0"/>
              <a:t>Diagnostic Features</a:t>
            </a:r>
          </a:p>
        </p:txBody>
      </p:sp>
      <p:sp>
        <p:nvSpPr>
          <p:cNvPr id="3" name="Content Placeholder 2">
            <a:extLst>
              <a:ext uri="{FF2B5EF4-FFF2-40B4-BE49-F238E27FC236}">
                <a16:creationId xmlns:a16="http://schemas.microsoft.com/office/drawing/2014/main" id="{8FC02472-4AE5-30A9-AC82-7B32C0764436}"/>
              </a:ext>
            </a:extLst>
          </p:cNvPr>
          <p:cNvSpPr>
            <a:spLocks noGrp="1"/>
          </p:cNvSpPr>
          <p:nvPr>
            <p:ph idx="1"/>
          </p:nvPr>
        </p:nvSpPr>
        <p:spPr/>
        <p:txBody>
          <a:bodyPr/>
          <a:lstStyle/>
          <a:p>
            <a:r>
              <a:rPr lang="en-US" dirty="0"/>
              <a:t>Long-term patterns</a:t>
            </a:r>
          </a:p>
          <a:p>
            <a:r>
              <a:rPr lang="en-US" dirty="0"/>
              <a:t>Maladaptive, inflexible</a:t>
            </a:r>
          </a:p>
          <a:p>
            <a:r>
              <a:rPr lang="en-US" dirty="0"/>
              <a:t>Cause impairment or distress</a:t>
            </a:r>
          </a:p>
        </p:txBody>
      </p:sp>
    </p:spTree>
    <p:extLst>
      <p:ext uri="{BB962C8B-B14F-4D97-AF65-F5344CB8AC3E}">
        <p14:creationId xmlns:p14="http://schemas.microsoft.com/office/powerpoint/2010/main" val="2308576485"/>
      </p:ext>
    </p:extLst>
  </p:cSld>
  <p:clrMapOvr>
    <a:masterClrMapping/>
  </p:clrMapOvr>
  <mc:AlternateContent xmlns:mc="http://schemas.openxmlformats.org/markup-compatibility/2006" xmlns:p14="http://schemas.microsoft.com/office/powerpoint/2010/main">
    <mc:Choice Requires="p14">
      <p:transition spd="slow" p14:dur="2000" advTm="24468"/>
    </mc:Choice>
    <mc:Fallback xmlns="">
      <p:transition spd="slow" advTm="2446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6412-CFAA-5A49-E295-078069FE73A4}"/>
              </a:ext>
            </a:extLst>
          </p:cNvPr>
          <p:cNvSpPr>
            <a:spLocks noGrp="1"/>
          </p:cNvSpPr>
          <p:nvPr>
            <p:ph type="title"/>
          </p:nvPr>
        </p:nvSpPr>
        <p:spPr/>
        <p:txBody>
          <a:bodyPr/>
          <a:lstStyle/>
          <a:p>
            <a:r>
              <a:rPr lang="en-US" dirty="0"/>
              <a:t>Personality Disorders vs. Other Disorders</a:t>
            </a:r>
          </a:p>
        </p:txBody>
      </p:sp>
      <p:sp>
        <p:nvSpPr>
          <p:cNvPr id="3" name="Content Placeholder 2">
            <a:extLst>
              <a:ext uri="{FF2B5EF4-FFF2-40B4-BE49-F238E27FC236}">
                <a16:creationId xmlns:a16="http://schemas.microsoft.com/office/drawing/2014/main" id="{0DA40F5A-896E-80F0-2A7A-67040D352A19}"/>
              </a:ext>
            </a:extLst>
          </p:cNvPr>
          <p:cNvSpPr>
            <a:spLocks noGrp="1"/>
          </p:cNvSpPr>
          <p:nvPr>
            <p:ph idx="1"/>
          </p:nvPr>
        </p:nvSpPr>
        <p:spPr/>
        <p:txBody>
          <a:bodyPr/>
          <a:lstStyle/>
          <a:p>
            <a:r>
              <a:rPr lang="en-US" dirty="0"/>
              <a:t>Not temporary moods</a:t>
            </a:r>
          </a:p>
          <a:p>
            <a:r>
              <a:rPr lang="en-US" dirty="0"/>
              <a:t>Not episodic like depression</a:t>
            </a:r>
          </a:p>
          <a:p>
            <a:r>
              <a:rPr lang="en-US" dirty="0"/>
              <a:t>More stable, lifelong patterns</a:t>
            </a:r>
          </a:p>
        </p:txBody>
      </p:sp>
    </p:spTree>
    <p:extLst>
      <p:ext uri="{BB962C8B-B14F-4D97-AF65-F5344CB8AC3E}">
        <p14:creationId xmlns:p14="http://schemas.microsoft.com/office/powerpoint/2010/main" val="3782507231"/>
      </p:ext>
    </p:extLst>
  </p:cSld>
  <p:clrMapOvr>
    <a:masterClrMapping/>
  </p:clrMapOvr>
  <mc:AlternateContent xmlns:mc="http://schemas.openxmlformats.org/markup-compatibility/2006" xmlns:p14="http://schemas.microsoft.com/office/powerpoint/2010/main">
    <mc:Choice Requires="p14">
      <p:transition spd="slow" p14:dur="2000" advTm="27388"/>
    </mc:Choice>
    <mc:Fallback xmlns="">
      <p:transition spd="slow" advTm="2738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C551-A5A9-8608-EB4C-89545AD7B99D}"/>
              </a:ext>
            </a:extLst>
          </p:cNvPr>
          <p:cNvSpPr>
            <a:spLocks noGrp="1"/>
          </p:cNvSpPr>
          <p:nvPr>
            <p:ph type="title"/>
          </p:nvPr>
        </p:nvSpPr>
        <p:spPr/>
        <p:txBody>
          <a:bodyPr/>
          <a:lstStyle/>
          <a:p>
            <a:r>
              <a:rPr lang="en-US" dirty="0"/>
              <a:t>Treatment Challenges</a:t>
            </a:r>
          </a:p>
        </p:txBody>
      </p:sp>
      <p:sp>
        <p:nvSpPr>
          <p:cNvPr id="3" name="Content Placeholder 2">
            <a:extLst>
              <a:ext uri="{FF2B5EF4-FFF2-40B4-BE49-F238E27FC236}">
                <a16:creationId xmlns:a16="http://schemas.microsoft.com/office/drawing/2014/main" id="{60CDCF96-790A-3C8F-E66C-5825E0F9948C}"/>
              </a:ext>
            </a:extLst>
          </p:cNvPr>
          <p:cNvSpPr>
            <a:spLocks noGrp="1"/>
          </p:cNvSpPr>
          <p:nvPr>
            <p:ph idx="1"/>
          </p:nvPr>
        </p:nvSpPr>
        <p:spPr/>
        <p:txBody>
          <a:bodyPr/>
          <a:lstStyle/>
          <a:p>
            <a:r>
              <a:rPr lang="en-US" dirty="0"/>
              <a:t>Resistance to change</a:t>
            </a:r>
          </a:p>
          <a:p>
            <a:r>
              <a:rPr lang="en-US" dirty="0"/>
              <a:t>Limited insight</a:t>
            </a:r>
          </a:p>
          <a:p>
            <a:r>
              <a:rPr lang="en-US" dirty="0"/>
              <a:t>Long-term patterns</a:t>
            </a:r>
          </a:p>
        </p:txBody>
      </p:sp>
    </p:spTree>
    <p:extLst>
      <p:ext uri="{BB962C8B-B14F-4D97-AF65-F5344CB8AC3E}">
        <p14:creationId xmlns:p14="http://schemas.microsoft.com/office/powerpoint/2010/main" val="3745152138"/>
      </p:ext>
    </p:extLst>
  </p:cSld>
  <p:clrMapOvr>
    <a:masterClrMapping/>
  </p:clrMapOvr>
  <mc:AlternateContent xmlns:mc="http://schemas.openxmlformats.org/markup-compatibility/2006" xmlns:p14="http://schemas.microsoft.com/office/powerpoint/2010/main">
    <mc:Choice Requires="p14">
      <p:transition spd="slow" p14:dur="2000" advTm="35141"/>
    </mc:Choice>
    <mc:Fallback xmlns="">
      <p:transition spd="slow" advTm="3514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7D95-5970-040F-7204-DC821D140B18}"/>
              </a:ext>
            </a:extLst>
          </p:cNvPr>
          <p:cNvSpPr>
            <a:spLocks noGrp="1"/>
          </p:cNvSpPr>
          <p:nvPr>
            <p:ph type="title"/>
          </p:nvPr>
        </p:nvSpPr>
        <p:spPr/>
        <p:txBody>
          <a:bodyPr/>
          <a:lstStyle/>
          <a:p>
            <a:r>
              <a:rPr lang="it-IT" dirty="0"/>
              <a:t>Cluster A Disorders (Odd/Eccentric)</a:t>
            </a:r>
            <a:endParaRPr lang="en-US" dirty="0"/>
          </a:p>
        </p:txBody>
      </p:sp>
      <p:sp>
        <p:nvSpPr>
          <p:cNvPr id="3" name="Content Placeholder 2">
            <a:extLst>
              <a:ext uri="{FF2B5EF4-FFF2-40B4-BE49-F238E27FC236}">
                <a16:creationId xmlns:a16="http://schemas.microsoft.com/office/drawing/2014/main" id="{3117355A-7925-524A-AE32-0F0C9169FB3F}"/>
              </a:ext>
            </a:extLst>
          </p:cNvPr>
          <p:cNvSpPr>
            <a:spLocks noGrp="1"/>
          </p:cNvSpPr>
          <p:nvPr>
            <p:ph idx="1"/>
          </p:nvPr>
        </p:nvSpPr>
        <p:spPr/>
        <p:txBody>
          <a:bodyPr/>
          <a:lstStyle/>
          <a:p>
            <a:r>
              <a:rPr lang="en-US" dirty="0"/>
              <a:t>Paranoid Personality Disorder</a:t>
            </a:r>
          </a:p>
          <a:p>
            <a:r>
              <a:rPr lang="en-US" dirty="0"/>
              <a:t>Schizoid Personality Disorder</a:t>
            </a:r>
          </a:p>
          <a:p>
            <a:r>
              <a:rPr lang="en-US" dirty="0"/>
              <a:t>Schizotypal Personality Disorder</a:t>
            </a:r>
          </a:p>
        </p:txBody>
      </p:sp>
    </p:spTree>
    <p:extLst>
      <p:ext uri="{BB962C8B-B14F-4D97-AF65-F5344CB8AC3E}">
        <p14:creationId xmlns:p14="http://schemas.microsoft.com/office/powerpoint/2010/main" val="2424210925"/>
      </p:ext>
    </p:extLst>
  </p:cSld>
  <p:clrMapOvr>
    <a:masterClrMapping/>
  </p:clrMapOvr>
  <mc:AlternateContent xmlns:mc="http://schemas.openxmlformats.org/markup-compatibility/2006" xmlns:p14="http://schemas.microsoft.com/office/powerpoint/2010/main">
    <mc:Choice Requires="p14">
      <p:transition spd="slow" p14:dur="2000" advTm="55029"/>
    </mc:Choice>
    <mc:Fallback xmlns="">
      <p:transition spd="slow" advTm="55029"/>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62A1-6DA5-95A7-AB0D-5DC9EBCDC176}"/>
              </a:ext>
            </a:extLst>
          </p:cNvPr>
          <p:cNvSpPr>
            <a:spLocks noGrp="1"/>
          </p:cNvSpPr>
          <p:nvPr>
            <p:ph type="title"/>
          </p:nvPr>
        </p:nvSpPr>
        <p:spPr/>
        <p:txBody>
          <a:bodyPr/>
          <a:lstStyle/>
          <a:p>
            <a:r>
              <a:rPr lang="en-US" dirty="0"/>
              <a:t>Cluster B Disorders (Dramatic, Emotional, Erratic)</a:t>
            </a:r>
          </a:p>
        </p:txBody>
      </p:sp>
      <p:sp>
        <p:nvSpPr>
          <p:cNvPr id="3" name="Content Placeholder 2">
            <a:extLst>
              <a:ext uri="{FF2B5EF4-FFF2-40B4-BE49-F238E27FC236}">
                <a16:creationId xmlns:a16="http://schemas.microsoft.com/office/drawing/2014/main" id="{9AEC34DE-F5E2-76C7-F32A-84EB783AD142}"/>
              </a:ext>
            </a:extLst>
          </p:cNvPr>
          <p:cNvSpPr>
            <a:spLocks noGrp="1"/>
          </p:cNvSpPr>
          <p:nvPr>
            <p:ph idx="1"/>
          </p:nvPr>
        </p:nvSpPr>
        <p:spPr/>
        <p:txBody>
          <a:bodyPr/>
          <a:lstStyle/>
          <a:p>
            <a:r>
              <a:rPr lang="en-US" dirty="0"/>
              <a:t>Antisocial</a:t>
            </a:r>
          </a:p>
          <a:p>
            <a:r>
              <a:rPr lang="en-US" dirty="0"/>
              <a:t>Borderline</a:t>
            </a:r>
          </a:p>
          <a:p>
            <a:r>
              <a:rPr lang="en-US" dirty="0"/>
              <a:t>Histrionic</a:t>
            </a:r>
          </a:p>
          <a:p>
            <a:r>
              <a:rPr lang="en-US" dirty="0"/>
              <a:t>Narcissistic </a:t>
            </a:r>
          </a:p>
        </p:txBody>
      </p:sp>
    </p:spTree>
    <p:extLst>
      <p:ext uri="{BB962C8B-B14F-4D97-AF65-F5344CB8AC3E}">
        <p14:creationId xmlns:p14="http://schemas.microsoft.com/office/powerpoint/2010/main" val="4265552567"/>
      </p:ext>
    </p:extLst>
  </p:cSld>
  <p:clrMapOvr>
    <a:masterClrMapping/>
  </p:clrMapOvr>
  <mc:AlternateContent xmlns:mc="http://schemas.openxmlformats.org/markup-compatibility/2006" xmlns:p14="http://schemas.microsoft.com/office/powerpoint/2010/main">
    <mc:Choice Requires="p14">
      <p:transition spd="slow" p14:dur="2000" advTm="62717"/>
    </mc:Choice>
    <mc:Fallback xmlns="">
      <p:transition spd="slow" advTm="6271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CECB3-586B-BF31-61BC-6192C3B145ED}"/>
              </a:ext>
            </a:extLst>
          </p:cNvPr>
          <p:cNvSpPr>
            <a:spLocks noGrp="1"/>
          </p:cNvSpPr>
          <p:nvPr>
            <p:ph type="title"/>
          </p:nvPr>
        </p:nvSpPr>
        <p:spPr/>
        <p:txBody>
          <a:bodyPr/>
          <a:lstStyle/>
          <a:p>
            <a:r>
              <a:rPr lang="en-US" dirty="0"/>
              <a:t>Cluster C Disorders (Anxious/Fearful)</a:t>
            </a:r>
          </a:p>
        </p:txBody>
      </p:sp>
      <p:sp>
        <p:nvSpPr>
          <p:cNvPr id="3" name="Content Placeholder 2">
            <a:extLst>
              <a:ext uri="{FF2B5EF4-FFF2-40B4-BE49-F238E27FC236}">
                <a16:creationId xmlns:a16="http://schemas.microsoft.com/office/drawing/2014/main" id="{5E3C32A0-74EE-6224-3F2D-E6D07F282368}"/>
              </a:ext>
            </a:extLst>
          </p:cNvPr>
          <p:cNvSpPr>
            <a:spLocks noGrp="1"/>
          </p:cNvSpPr>
          <p:nvPr>
            <p:ph idx="1"/>
          </p:nvPr>
        </p:nvSpPr>
        <p:spPr/>
        <p:txBody>
          <a:bodyPr/>
          <a:lstStyle/>
          <a:p>
            <a:r>
              <a:rPr lang="en-US" dirty="0"/>
              <a:t>Avoidant </a:t>
            </a:r>
          </a:p>
          <a:p>
            <a:r>
              <a:rPr lang="en-US" dirty="0"/>
              <a:t>Dependent</a:t>
            </a:r>
          </a:p>
          <a:p>
            <a:r>
              <a:rPr lang="en-US" dirty="0"/>
              <a:t>Obsessive Compulsive </a:t>
            </a:r>
          </a:p>
        </p:txBody>
      </p:sp>
    </p:spTree>
    <p:extLst>
      <p:ext uri="{BB962C8B-B14F-4D97-AF65-F5344CB8AC3E}">
        <p14:creationId xmlns:p14="http://schemas.microsoft.com/office/powerpoint/2010/main" val="1499985519"/>
      </p:ext>
    </p:extLst>
  </p:cSld>
  <p:clrMapOvr>
    <a:masterClrMapping/>
  </p:clrMapOvr>
  <mc:AlternateContent xmlns:mc="http://schemas.openxmlformats.org/markup-compatibility/2006" xmlns:p14="http://schemas.microsoft.com/office/powerpoint/2010/main">
    <mc:Choice Requires="p14">
      <p:transition spd="slow" p14:dur="2000" advTm="49942"/>
    </mc:Choice>
    <mc:Fallback xmlns="">
      <p:transition spd="slow" advTm="49942"/>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9363</TotalTime>
  <Words>5334</Words>
  <Application>Microsoft Office PowerPoint</Application>
  <PresentationFormat>On-screen Show (4:3)</PresentationFormat>
  <Paragraphs>341</Paragraphs>
  <Slides>28</Slides>
  <Notes>28</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Gill Sans MT</vt:lpstr>
      <vt:lpstr>Wingdings 2</vt:lpstr>
      <vt:lpstr>Dividend</vt:lpstr>
      <vt:lpstr>Psychological Disorders in the DSM-5-TR </vt:lpstr>
      <vt:lpstr>Defining Abnormal</vt:lpstr>
      <vt:lpstr>Reminder about Stigma</vt:lpstr>
      <vt:lpstr>Causes of Mental Illness</vt:lpstr>
      <vt:lpstr>The Stress-Vulnerability Model</vt:lpstr>
      <vt:lpstr>Diagnostic Considerations</vt:lpstr>
      <vt:lpstr>Purpose and Organization of the  DSM-5-TR</vt:lpstr>
      <vt:lpstr>Purpose of Classification</vt:lpstr>
      <vt:lpstr>Hierarchical Structure of Classification</vt:lpstr>
      <vt:lpstr>Major Diagnostic Categories</vt:lpstr>
      <vt:lpstr>Neurodevelopmental Disorders</vt:lpstr>
      <vt:lpstr>Schizophrenia Spectrum and Other Psychotic Disorders</vt:lpstr>
      <vt:lpstr>Schizophrenia Simulation</vt:lpstr>
      <vt:lpstr>Bipolar and Depressive Disorders</vt:lpstr>
      <vt:lpstr>Anxiety and Obsessive-Compulsive Disorders</vt:lpstr>
      <vt:lpstr>Trauma- and Stressor-Related Disorders</vt:lpstr>
      <vt:lpstr>Dissociative and Somatic Symptom Disorders</vt:lpstr>
      <vt:lpstr>Feeding, Eating, and Elimination Disorders</vt:lpstr>
      <vt:lpstr>Sleep-Wake and Sexual Disorders</vt:lpstr>
      <vt:lpstr>Disruptive, Impulse-Control, and Conduct Disorders</vt:lpstr>
      <vt:lpstr>Substance-Related and Neurocognitive Disorders</vt:lpstr>
      <vt:lpstr>Personality Disorders</vt:lpstr>
      <vt:lpstr>Diagnostic Features</vt:lpstr>
      <vt:lpstr>Personality Disorders vs. Other Disorders</vt:lpstr>
      <vt:lpstr>Treatment Challenges</vt:lpstr>
      <vt:lpstr>Cluster A Disorders (Odd/Eccentric)</vt:lpstr>
      <vt:lpstr>Cluster B Disorders (Dramatic, Emotional, Erratic)</vt:lpstr>
      <vt:lpstr>Cluster C Disorders (Anxious/Fearful)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Kathryn Bangs</dc:creator>
  <cp:keywords/>
  <dc:description>generated using python-pptx</dc:description>
  <cp:lastModifiedBy>Kathryn Bangs</cp:lastModifiedBy>
  <cp:revision>11</cp:revision>
  <cp:lastPrinted>2025-12-03T18:37:56Z</cp:lastPrinted>
  <dcterms:created xsi:type="dcterms:W3CDTF">2013-01-27T09:14:16Z</dcterms:created>
  <dcterms:modified xsi:type="dcterms:W3CDTF">2025-12-03T18:44:18Z</dcterms:modified>
  <cp:category/>
</cp:coreProperties>
</file>