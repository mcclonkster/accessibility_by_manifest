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  <p:sldMasterId id="2147483696" r:id="rId2"/>
  </p:sldMasterIdLst>
  <p:notesMasterIdLst>
    <p:notesMasterId r:id="rId33"/>
  </p:notesMasterIdLst>
  <p:sldIdLst>
    <p:sldId id="256" r:id="rId3"/>
    <p:sldId id="257" r:id="rId4"/>
    <p:sldId id="280" r:id="rId5"/>
    <p:sldId id="309" r:id="rId6"/>
    <p:sldId id="258" r:id="rId7"/>
    <p:sldId id="310" r:id="rId8"/>
    <p:sldId id="291" r:id="rId9"/>
    <p:sldId id="292" r:id="rId10"/>
    <p:sldId id="259" r:id="rId11"/>
    <p:sldId id="260" r:id="rId12"/>
    <p:sldId id="261" r:id="rId13"/>
    <p:sldId id="296" r:id="rId14"/>
    <p:sldId id="277" r:id="rId15"/>
    <p:sldId id="294" r:id="rId16"/>
    <p:sldId id="311" r:id="rId17"/>
    <p:sldId id="314" r:id="rId18"/>
    <p:sldId id="312" r:id="rId19"/>
    <p:sldId id="313" r:id="rId20"/>
    <p:sldId id="315" r:id="rId21"/>
    <p:sldId id="316" r:id="rId22"/>
    <p:sldId id="317" r:id="rId23"/>
    <p:sldId id="318" r:id="rId24"/>
    <p:sldId id="319" r:id="rId25"/>
    <p:sldId id="320" r:id="rId26"/>
    <p:sldId id="321" r:id="rId27"/>
    <p:sldId id="322" r:id="rId28"/>
    <p:sldId id="323" r:id="rId29"/>
    <p:sldId id="290" r:id="rId30"/>
    <p:sldId id="273" r:id="rId31"/>
    <p:sldId id="324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rah Liebman" initials="SL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9" autoAdjust="0"/>
    <p:restoredTop sz="86541" autoAdjust="0"/>
  </p:normalViewPr>
  <p:slideViewPr>
    <p:cSldViewPr snapToGrid="0">
      <p:cViewPr varScale="1">
        <p:scale>
          <a:sx n="83" d="100"/>
          <a:sy n="83" d="100"/>
        </p:scale>
        <p:origin x="192" y="4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1" d="100"/>
          <a:sy n="61" d="100"/>
        </p:scale>
        <p:origin x="1806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commentAuthors" Target="commentAuthor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ahoma" panose="020B060403050404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Tahoma" panose="020B0604030504040204" pitchFamily="34" charset="0"/>
              </a:defRPr>
            </a:lvl1pPr>
          </a:lstStyle>
          <a:p>
            <a:fld id="{EE334AF8-4DBC-4D52-BC39-DA880392D7D5}" type="datetimeFigureOut">
              <a:rPr lang="en-US" smtClean="0"/>
              <a:pPr/>
              <a:t>7/8/20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ahoma" panose="020B060403050404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Tahoma" panose="020B0604030504040204" pitchFamily="34" charset="0"/>
              </a:defRPr>
            </a:lvl1pPr>
          </a:lstStyle>
          <a:p>
            <a:fld id="{B1E6DF9A-4138-4CE9-A2AE-AB9413786FF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6078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head-psychology-thoughts-think-2032751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creativecommons.org/about/cc0" TargetMode="Externa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cnx.org/contents/Sr8Ev5Og@5.52:-4PGiivG@5/What-Is-Lifespan-Development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creativecommons.org/licenses/by/4.0/" TargetMode="Externa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cnx.org/contents/4abf04bf-93a0-45c3-9cbc-2cefd46e68cc@4.100:1/Psychology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creativecommons.org/licenses/by/4.0/" TargetMode="Externa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cnx.org/contents/Sr8Ev5Og@5.52:b7opmCF3@6/Stages-of-Development#Figure_09_02_Stages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creativecommons.org/licenses/by/4.0/" TargetMode="Externa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cnx.org/contents/Sr8Ev5Og@5.52:b7opmCF3@6/Stages-of-Development#Figure_09_02_Stages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creativecommons.org/licenses/by/4.0/" TargetMode="Externa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cnx.org/contents/Sr8Ev5Og@5.52:b7opmCF3@6/Stages-of-Development#Figure_09_02_Stages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creativecommons.org/licenses/by/4.0/" TargetMode="Externa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cnx.org/contents/Sr8Ev5Og@5.52:b7opmCF3@6/Stages-of-Development#Figure_09_02_Stages" TargetMode="External"/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creativecommons.org/licenses/by/4.0/" TargetMode="External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cnx.org/contents/Sr8Ev5Og@5.52:b7opmCF3@6/Stages-of-Development#Figure_09_02_Stages" TargetMode="External"/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creativecommons.org/licenses/by/4.0/" TargetMode="External"/></Relationships>
</file>

<file path=ppt/notesSlides/_rels/notes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cnx.org/contents/Sr8Ev5Og@5.52:b7opmCF3@6/Stages-of-Development#Figure_09_02_Stages" TargetMode="External"/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creativecommons.org/licenses/by/4.0/" TargetMode="External"/></Relationships>
</file>

<file path=ppt/notesSlides/_rels/notes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cnx.org/contents/Sr8Ev5Og@5.52:b7opmCF3@6/Stages-of-Development#Figure_09_02_Stages" TargetMode="External"/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creativecommons.org/licenses/by/4.0/" TargetMode="External"/></Relationships>
</file>

<file path=ppt/notesSlides/_rels/notes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cnx.org/contents/Sr8Ev5Og@5.52:b7opmCF3@6/Stages-of-Development#Figure_09_02_Stages" TargetMode="External"/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creativecommons.org/licenses/by/4.0/" TargetMode="External"/></Relationships>
</file>

<file path=ppt/notesSlides/_rels/notesSlide20.xml.rels><?xml version="1.0" encoding="UTF-8" standalone="yes"?>
<Relationships xmlns="http://schemas.openxmlformats.org/package/2006/relationships"><Relationship Id="rId3" Type="http://schemas.openxmlformats.org/officeDocument/2006/relationships/hyperlink" Target="http://cnx.org/contents/Sr8Ev5Og@5.52:b7opmCF3@6/Stages-of-Development#Figure_09_02_Stages" TargetMode="External"/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creativecommons.org/licenses/by/4.0/" TargetMode="External"/></Relationships>
</file>

<file path=ppt/notesSlides/_rels/notesSlide21.xml.rels><?xml version="1.0" encoding="UTF-8" standalone="yes"?>
<Relationships xmlns="http://schemas.openxmlformats.org/package/2006/relationships"><Relationship Id="rId3" Type="http://schemas.openxmlformats.org/officeDocument/2006/relationships/hyperlink" Target="http://cnx.org/contents/Sr8Ev5Og@5.52:b7opmCF3@6/Stages-of-Development#Figure_09_02_Stages" TargetMode="External"/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creativecommons.org/licenses/by/4.0/" TargetMode="Externa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GillSans Light" panose="020B0402020204020204" pitchFamily="34" charset="0"/>
                <a:ea typeface="+mn-ea"/>
                <a:cs typeface="+mn-cs"/>
              </a:rPr>
              <a:t>All text in these slides is taken </a:t>
            </a:r>
            <a:r>
              <a:rPr lang="en-US" dirty="0">
                <a:latin typeface="GillSans Light" panose="020B0402020204020204" pitchFamily="34" charset="0"/>
              </a:rPr>
              <a:t>from https://courses.lumenlearning.com/waymaker-psychology/  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GillSans Light" panose="020B0402020204020204" pitchFamily="34" charset="0"/>
                <a:ea typeface="+mn-ea"/>
                <a:cs typeface="+mn-cs"/>
              </a:rPr>
              <a:t>where it is published under one or more open licenses.</a:t>
            </a:r>
            <a:endParaRPr lang="en-US" b="0" dirty="0">
              <a:effectLst/>
              <a:latin typeface="GillSans Light" panose="020B0402020204020204" pitchFamily="34" charset="0"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GillSans Light" panose="020B0402020204020204" pitchFamily="34" charset="0"/>
                <a:ea typeface="+mn-ea"/>
                <a:cs typeface="+mn-cs"/>
              </a:rPr>
              <a:t>All images in these slides are attributed in the notes of the slide on which they appear and licensed as indicated.</a:t>
            </a:r>
          </a:p>
          <a:p>
            <a:endParaRPr lang="en-US" sz="1200" b="0" i="0" u="none" strike="noStrike" kern="1200" dirty="0">
              <a:solidFill>
                <a:schemeClr val="tx1"/>
              </a:solidFill>
              <a:effectLst/>
              <a:latin typeface="GillSans Light" panose="020B0402020204020204" pitchFamily="34" charset="0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Cover Image: "Psychology Thoughts." Provided by: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Pixabay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. Located at: </a:t>
            </a:r>
            <a:r>
              <a:rPr lang="en-US" sz="1200" b="0" i="0" u="sng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  <a:hlinkClick r:id="rId3"/>
              </a:rPr>
              <a:t>https://pixabay.com/en/head-psychology-thoughts-think-2032751/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. Content Type: CC Licensed Content, Shared Previously. 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License: </a:t>
            </a:r>
            <a:r>
              <a:rPr lang="en-US" sz="1200" b="0" i="0" u="sng" kern="120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  <a:hlinkClick r:id="rId4"/>
              </a:rPr>
              <a:t>CC0: No Rights Reserved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.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GillSans Light" panose="020B0402020204020204" pitchFamily="34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E6DF9A-4138-4CE9-A2AE-AB9413786FF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5920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 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E6DF9A-4138-4CE9-A2AE-AB9413786FF0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69774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What is Lifespan Development?.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Authored 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: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OpenStax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 College.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Located at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: </a:t>
            </a:r>
            <a:r>
              <a:rPr lang="en-US" sz="1200" b="1" i="0" u="sng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  <a:hlinkClick r:id="rId3"/>
              </a:rPr>
              <a:t>http://cnx.org/contents/Sr8Ev5Og@5.52:-4PGiivG@5/What-Is-Lifespan-Development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.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License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: </a:t>
            </a:r>
            <a:r>
              <a:rPr lang="en-US" sz="1200" b="1" i="1" u="sng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  <a:hlinkClick r:id="rId4"/>
              </a:rPr>
              <a:t>CC BY: Attribution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.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License Terms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: Download for free at http://cnx.org/content/col11629/latest/.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E6DF9A-4138-4CE9-A2AE-AB9413786FF0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76180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E6DF9A-4138-4CE9-A2AE-AB9413786FF0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77176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endParaRPr lang="en-US" sz="1200" b="0" i="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E6DF9A-4138-4CE9-A2AE-AB9413786FF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397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E6DF9A-4138-4CE9-A2AE-AB9413786FF0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34961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E6DF9A-4138-4CE9-A2AE-AB9413786FF0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72961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E6DF9A-4138-4CE9-A2AE-AB9413786FF0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06717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E6DF9A-4138-4CE9-A2AE-AB9413786FF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0206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E6DF9A-4138-4CE9-A2AE-AB9413786FF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727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Psychology.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Authored 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: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OpenStax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 College.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Located at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: </a:t>
            </a:r>
            <a:r>
              <a:rPr lang="en-US" sz="1200" b="1" i="0" u="sng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  <a:hlinkClick r:id="rId3"/>
              </a:rPr>
              <a:t>http://cnx.org/contents/4abf04bf-93a0-45c3-9cbc-2cefd46e68cc@4.100:1/Psychology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.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License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: </a:t>
            </a:r>
            <a:r>
              <a:rPr lang="en-US" sz="1200" b="1" i="1" u="sng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  <a:hlinkClick r:id="rId4"/>
              </a:rPr>
              <a:t>CC BY: Attribution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.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License Terms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: Download for free at http://cnx.org/content/col11629/latest/.</a:t>
            </a:r>
          </a:p>
          <a:p>
            <a:pPr lvl="0"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E6DF9A-4138-4CE9-A2AE-AB9413786FF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6365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r>
              <a:rPr lang="en-US" sz="120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Stages of Development. 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Authored by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OpenStax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 College. 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Located at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: </a:t>
            </a:r>
            <a:r>
              <a:rPr lang="en-US" sz="1200" b="1" u="sng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  <a:hlinkClick r:id="rId3"/>
              </a:rPr>
              <a:t>http://cnx.org/contents/Sr8Ev5Og@5.52:b7opmCF3@6/Stages-of-Development#Figure_09_02_Stages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. 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License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: </a:t>
            </a:r>
            <a:r>
              <a:rPr lang="en-US" sz="1200" b="1" i="1" u="sng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  <a:hlinkClick r:id="rId4"/>
              </a:rPr>
              <a:t>CC BY: Attribution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. 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License Terms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: Download for free at http://cnx.org/content/col11629/latest/.</a:t>
            </a:r>
          </a:p>
          <a:p>
            <a:br>
              <a:rPr lang="en-US" sz="1200" b="0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E6DF9A-4138-4CE9-A2AE-AB9413786FF0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70913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r>
              <a:rPr lang="en-US" sz="120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Stages of Development. 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Authored by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OpenStax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 College. 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Located at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: </a:t>
            </a:r>
            <a:r>
              <a:rPr lang="en-US" sz="1200" b="1" u="sng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  <a:hlinkClick r:id="rId3"/>
              </a:rPr>
              <a:t>http://cnx.org/contents/Sr8Ev5Og@5.52:b7opmCF3@6/Stages-of-Development#Figure_09_02_Stages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. 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License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: </a:t>
            </a:r>
            <a:r>
              <a:rPr lang="en-US" sz="1200" b="1" i="1" u="sng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  <a:hlinkClick r:id="rId4"/>
              </a:rPr>
              <a:t>CC BY: Attribution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. 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License Terms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: Download for free at http://cnx.org/content/col11629/latest/.</a:t>
            </a:r>
          </a:p>
          <a:p>
            <a:br>
              <a:rPr lang="en-US" sz="1200" b="0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E6DF9A-4138-4CE9-A2AE-AB9413786FF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2247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 (credit: United States Agency for International)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 in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Stages of Development. 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Authored by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OpenStax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 College. 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Located at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: </a:t>
            </a:r>
            <a:r>
              <a:rPr lang="en-US" sz="1200" b="1" u="sng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  <a:hlinkClick r:id="rId3"/>
              </a:rPr>
              <a:t>http://cnx.org/contents/Sr8Ev5Og@5.52:b7opmCF3@6/Stages-of-Development#Figure_09_02_Stages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. 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License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: </a:t>
            </a:r>
            <a:r>
              <a:rPr lang="en-US" sz="1200" b="1" i="1" u="sng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  <a:hlinkClick r:id="rId4"/>
              </a:rPr>
              <a:t>CC BY: Attribution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. 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License Terms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: Download for free at http://cnx.org/content/col11629/latest/.</a:t>
            </a:r>
          </a:p>
          <a:p>
            <a:br>
              <a:rPr lang="en-US" sz="1200" b="0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E6DF9A-4138-4CE9-A2AE-AB9413786FF0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56602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Stages of Development.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Authored 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: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OpenStax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 College.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Located at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: </a:t>
            </a:r>
            <a:r>
              <a:rPr lang="en-US" sz="1200" b="1" i="0" u="sng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  <a:hlinkClick r:id="rId3"/>
              </a:rPr>
              <a:t>http://cnx.org/contents/Sr8Ev5Og@5.52:b7opmCF3@6/Stages-of-Development#Figure_09_02_Stages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.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License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: </a:t>
            </a:r>
            <a:r>
              <a:rPr lang="en-US" sz="1200" b="1" i="1" u="sng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  <a:hlinkClick r:id="rId4"/>
              </a:rPr>
              <a:t>CC BY: Attribution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.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License Terms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: Download for free at http://cnx.org/contents/4abf04bf-93a0-45c3-9cbc-2cefd46e68cc@5.48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E6DF9A-4138-4CE9-A2AE-AB9413786FF0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52430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(credit: Edwin Martinez) Stages of Development.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Authored 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: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OpenStax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 College.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Located at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: </a:t>
            </a:r>
            <a:r>
              <a:rPr lang="en-US" sz="1200" b="1" i="0" u="sng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  <a:hlinkClick r:id="rId3"/>
              </a:rPr>
              <a:t>http://cnx.org/contents/Sr8Ev5Og@5.52:b7opmCF3@6/Stages-of-Development#Figure_09_02_Stages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.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License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: </a:t>
            </a:r>
            <a:r>
              <a:rPr lang="en-US" sz="1200" b="1" i="1" u="sng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  <a:hlinkClick r:id="rId4"/>
              </a:rPr>
              <a:t>CC BY: Attribution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.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License Terms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: Download for free at http://cnx.org/contents/4abf04bf-93a0-45c3-9cbc-2cefd46e68cc@5.48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E6DF9A-4138-4CE9-A2AE-AB9413786FF0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65737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Stages of Development.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Authored 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: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OpenStax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 College.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Located at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: </a:t>
            </a:r>
            <a:r>
              <a:rPr lang="en-US" sz="1200" b="1" i="0" u="sng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  <a:hlinkClick r:id="rId3"/>
              </a:rPr>
              <a:t>http://cnx.org/contents/Sr8Ev5Og@5.52:b7opmCF3@6/Stages-of-Development#Figure_09_02_Stages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.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License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: </a:t>
            </a:r>
            <a:r>
              <a:rPr lang="en-US" sz="1200" b="1" i="1" u="sng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  <a:hlinkClick r:id="rId4"/>
              </a:rPr>
              <a:t>CC BY: Attribution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.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License Terms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: Download for free at http://cnx.org/contents/4abf04bf-93a0-45c3-9cbc-2cefd46e68cc@5.48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E6DF9A-4138-4CE9-A2AE-AB9413786FF0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43204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(credit: Sheila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Tostes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) in Stages of Development.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Authored 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: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OpenStax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 College.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Located at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: </a:t>
            </a:r>
            <a:r>
              <a:rPr lang="en-US" sz="1200" b="1" i="0" u="sng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  <a:hlinkClick r:id="rId3"/>
              </a:rPr>
              <a:t>http://cnx.org/contents/Sr8Ev5Og@5.52:b7opmCF3@6/Stages-of-Development#Figure_09_02_Stages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.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License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: </a:t>
            </a:r>
            <a:r>
              <a:rPr lang="en-US" sz="1200" b="1" i="1" u="sng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  <a:hlinkClick r:id="rId4"/>
              </a:rPr>
              <a:t>CC BY: Attribution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.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License Terms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: Download for free at http://cnx.org/contents/4abf04bf-93a0-45c3-9cbc-2cefd46e68cc@5.48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E6DF9A-4138-4CE9-A2AE-AB9413786FF0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644297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(credit: modification of work by Peter Stevens) in Stages of Development.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Authored 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: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OpenStax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 College.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Located at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: </a:t>
            </a:r>
            <a:r>
              <a:rPr lang="en-US" sz="1200" b="1" i="0" u="sng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  <a:hlinkClick r:id="rId3"/>
              </a:rPr>
              <a:t>http://cnx.org/contents/Sr8Ev5Og@5.52:b7opmCF3@6/Stages-of-Development#Figure_09_02_Stages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.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License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: </a:t>
            </a:r>
            <a:r>
              <a:rPr lang="en-US" sz="1200" b="1" i="1" u="sng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  <a:hlinkClick r:id="rId4"/>
              </a:rPr>
              <a:t>CC BY: Attribution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.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License Terms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: Download for free at http://cnx.org/contents/4abf04bf-93a0-45c3-9cbc-2cefd46e68cc@5.48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E6DF9A-4138-4CE9-A2AE-AB9413786FF0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13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[Photo: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jessleecuizon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] in Stages of Development.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Authored 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: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OpenStax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 College.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Located at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: </a:t>
            </a:r>
            <a:r>
              <a:rPr lang="en-US" sz="1200" b="1" i="0" u="sng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  <a:hlinkClick r:id="rId3"/>
              </a:rPr>
              <a:t>http://cnx.org/contents/Sr8Ev5Og@5.52:b7opmCF3@6/Stages-of-Development#Figure_09_02_Stages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.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License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: </a:t>
            </a:r>
            <a:r>
              <a:rPr lang="en-US" sz="1200" b="1" i="1" u="sng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  <a:hlinkClick r:id="rId4"/>
              </a:rPr>
              <a:t>CC BY: Attribution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.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License Terms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: Download for free at http://cnx.org/contents/4abf04bf-93a0-45c3-9cbc-2cefd46e68cc@5.48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E6DF9A-4138-4CE9-A2AE-AB9413786FF0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076446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(credit: Gabriel Rocha) in Stages of Development.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Authored by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: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OpenStax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 College.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Located at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: </a:t>
            </a:r>
            <a:r>
              <a:rPr lang="en-US" sz="1200" b="1" i="0" u="sng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  <a:hlinkClick r:id="rId3"/>
              </a:rPr>
              <a:t>http://cnx.org/contents/Sr8Ev5Og@5.52:b7opmCF3@6/Stages-of-Development#Figure_09_02_Stages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.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License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: </a:t>
            </a:r>
            <a:r>
              <a:rPr lang="en-US" sz="1200" b="1" i="1" u="sng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  <a:hlinkClick r:id="rId4"/>
              </a:rPr>
              <a:t>CC BY: Attribution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.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License Terms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ahoma" panose="020B0604030504040204" pitchFamily="34" charset="0"/>
                <a:ea typeface="+mn-ea"/>
                <a:cs typeface="+mn-cs"/>
              </a:rPr>
              <a:t>: Download for free at http://cnx.org/contents/4abf04bf-93a0-45c3-9cbc-2cefd46e68cc@5.48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E6DF9A-4138-4CE9-A2AE-AB9413786FF0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130510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Discontinuous</a:t>
            </a:r>
            <a:r>
              <a:rPr lang="en-US" baseline="0" dirty="0"/>
              <a:t> theories of development have discrete stages such as </a:t>
            </a:r>
            <a:r>
              <a:rPr lang="en-US" dirty="0"/>
              <a:t>Piaget’s stages of cognitive development.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E6DF9A-4138-4CE9-A2AE-AB9413786FF0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413671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E6DF9A-4138-4CE9-A2AE-AB9413786FF0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0159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E6DF9A-4138-4CE9-A2AE-AB9413786FF0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3468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29808-1B04-4B6F-9A1F-669A6E36388E}" type="datetimeFigureOut">
              <a:rPr lang="en-US" smtClean="0"/>
              <a:t>7/8/20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1D5BD-6625-4530-9DC9-239739FF8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416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29808-1B04-4B6F-9A1F-669A6E36388E}" type="datetimeFigureOut">
              <a:rPr lang="en-US" smtClean="0"/>
              <a:t>7/8/20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1D5BD-6625-4530-9DC9-239739FF8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812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29808-1B04-4B6F-9A1F-669A6E36388E}" type="datetimeFigureOut">
              <a:rPr lang="en-US" smtClean="0"/>
              <a:t>7/8/20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1D5BD-6625-4530-9DC9-239739FF8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545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29808-1B04-4B6F-9A1F-669A6E36388E}" type="datetimeFigureOut">
              <a:rPr lang="en-US" smtClean="0"/>
              <a:t>7/8/20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1D5BD-6625-4530-9DC9-239739FF8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137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29808-1B04-4B6F-9A1F-669A6E36388E}" type="datetimeFigureOut">
              <a:rPr lang="en-US" smtClean="0"/>
              <a:t>7/8/20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1D5BD-6625-4530-9DC9-239739FF8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1495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29808-1B04-4B6F-9A1F-669A6E36388E}" type="datetimeFigureOut">
              <a:rPr lang="en-US" smtClean="0"/>
              <a:t>7/8/20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1D5BD-6625-4530-9DC9-239739FF8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484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29808-1B04-4B6F-9A1F-669A6E36388E}" type="datetimeFigureOut">
              <a:rPr lang="en-US" smtClean="0"/>
              <a:t>7/8/20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1D5BD-6625-4530-9DC9-239739FF8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722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29808-1B04-4B6F-9A1F-669A6E36388E}" type="datetimeFigureOut">
              <a:rPr lang="en-US" smtClean="0"/>
              <a:t>7/8/20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1D5BD-6625-4530-9DC9-239739FF8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080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29808-1B04-4B6F-9A1F-669A6E36388E}" type="datetimeFigureOut">
              <a:rPr lang="en-US" smtClean="0"/>
              <a:t>7/8/20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1D5BD-6625-4530-9DC9-239739FF8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691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29808-1B04-4B6F-9A1F-669A6E36388E}" type="datetimeFigureOut">
              <a:rPr lang="en-US" smtClean="0"/>
              <a:t>7/8/20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1D5BD-6625-4530-9DC9-239739FF8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901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29808-1B04-4B6F-9A1F-669A6E36388E}" type="datetimeFigureOut">
              <a:rPr lang="en-US" smtClean="0"/>
              <a:t>7/8/20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1D5BD-6625-4530-9DC9-239739FF8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8158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4;p3">
            <a:extLst>
              <a:ext uri="{FF2B5EF4-FFF2-40B4-BE49-F238E27FC236}">
                <a16:creationId xmlns:a16="http://schemas.microsoft.com/office/drawing/2014/main" id="{DB391CD0-B0FF-7C47-AEC7-712743E719D1}"/>
              </a:ext>
            </a:extLst>
          </p:cNvPr>
          <p:cNvSpPr/>
          <p:nvPr/>
        </p:nvSpPr>
        <p:spPr>
          <a:xfrm>
            <a:off x="0" y="552196"/>
            <a:ext cx="9155430" cy="2688336"/>
          </a:xfrm>
          <a:prstGeom prst="rect">
            <a:avLst/>
          </a:prstGeom>
          <a:solidFill>
            <a:srgbClr val="3A4047"/>
          </a:solidFill>
          <a:ln w="12700" cap="flat" cmpd="sng">
            <a:solidFill>
              <a:schemeClr val="dk1">
                <a:alpha val="1176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1427" tIns="25706" rIns="51427" bIns="25706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013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 hasCustomPrompt="1"/>
          </p:nvPr>
        </p:nvSpPr>
        <p:spPr>
          <a:xfrm>
            <a:off x="1139639" y="0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1F7FB"/>
              </a:buClr>
              <a:buSzPts val="5500"/>
              <a:buFont typeface="Century Gothic"/>
              <a:buNone/>
              <a:defRPr sz="3094" b="0" i="0" u="none" strike="noStrike" cap="none">
                <a:solidFill>
                  <a:srgbClr val="F1F7FB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1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1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1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1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1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1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1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1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Course Title</a:t>
            </a:r>
            <a:endParaRPr dirty="0"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 hasCustomPrompt="1"/>
          </p:nvPr>
        </p:nvSpPr>
        <p:spPr>
          <a:xfrm>
            <a:off x="0" y="266142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F1F7FB"/>
              </a:buClr>
              <a:buSzPts val="2400"/>
              <a:buFont typeface="Arial"/>
              <a:buNone/>
              <a:defRPr sz="1350" b="0" i="0" u="none" strike="noStrike" cap="none">
                <a:solidFill>
                  <a:srgbClr val="F1F7FB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ctr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125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ctr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013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ctr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ctr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ctr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ctr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ctr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ctr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r>
              <a:rPr lang="en-US" dirty="0"/>
              <a:t>Module: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246226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preserve="1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0" y="537882"/>
            <a:ext cx="9144000" cy="2689412"/>
          </a:xfrm>
          <a:prstGeom prst="rect">
            <a:avLst/>
          </a:prstGeom>
          <a:solidFill>
            <a:srgbClr val="3A4047"/>
          </a:solidFill>
          <a:ln w="12700" cap="flat" cmpd="sng">
            <a:solidFill>
              <a:schemeClr val="dk1">
                <a:alpha val="1176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1427" tIns="25706" rIns="51427" bIns="25706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013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628650" y="537883"/>
            <a:ext cx="7886700" cy="2689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entury Gothic"/>
              <a:buNone/>
              <a:defRPr sz="2813" b="0" i="0" u="none" strike="noStrike" cap="none">
                <a:solidFill>
                  <a:schemeClr val="bg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1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1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1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1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1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1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1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1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904362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 preserve="1">
  <p:cSld name="Title and Conten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Gothic"/>
              <a:buNone/>
              <a:defRPr sz="2475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1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1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1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1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1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1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1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1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257175" marR="0" lvl="0" indent="-228600" algn="l" rtl="0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1575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514350" marR="0" lvl="1" indent="-214313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771525" marR="0" lvl="2" indent="-200025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125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028700" marR="0" lvl="3" indent="-192881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1285875" marR="0" lvl="4" indent="-192881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1543050" marR="0" lvl="5" indent="-192881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1800225" marR="0" lvl="6" indent="-192881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2057400" marR="0" lvl="7" indent="-192881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2314575" marR="0" lvl="8" indent="-192881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628650" y="6356353"/>
            <a:ext cx="78867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675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675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675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675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675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675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675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675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675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fld id="{8AC1D5BD-6625-4530-9DC9-239739FF8170}" type="slidenum">
              <a:rPr lang="en-US" smtClean="0"/>
              <a:t>‹#›</a:t>
            </a:fld>
            <a:endParaRPr lang="en-US"/>
          </a:p>
        </p:txBody>
      </p:sp>
      <p:sp>
        <p:nvSpPr>
          <p:cNvPr id="6" name="Google Shape;20;p4">
            <a:extLst>
              <a:ext uri="{FF2B5EF4-FFF2-40B4-BE49-F238E27FC236}">
                <a16:creationId xmlns:a16="http://schemas.microsoft.com/office/drawing/2014/main" id="{AAE7BF4A-9551-9C45-B7D9-6E6531C8E0A8}"/>
              </a:ext>
            </a:extLst>
          </p:cNvPr>
          <p:cNvSpPr/>
          <p:nvPr/>
        </p:nvSpPr>
        <p:spPr>
          <a:xfrm rot="5400000">
            <a:off x="-3251562" y="3200400"/>
            <a:ext cx="6912864" cy="438912"/>
          </a:xfrm>
          <a:prstGeom prst="rect">
            <a:avLst/>
          </a:prstGeom>
          <a:solidFill>
            <a:srgbClr val="3A4047"/>
          </a:solidFill>
          <a:ln w="12700" cap="flat" cmpd="sng">
            <a:solidFill>
              <a:schemeClr val="dk1">
                <a:alpha val="1176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013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42697759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628650" y="6356353"/>
            <a:ext cx="78867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675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675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675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675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675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675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675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675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675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fld id="{8AC1D5BD-6625-4530-9DC9-239739FF8170}" type="slidenum">
              <a:rPr lang="en-US" smtClean="0"/>
              <a:t>‹#›</a:t>
            </a:fld>
            <a:endParaRPr lang="en-US"/>
          </a:p>
        </p:txBody>
      </p:sp>
      <p:sp>
        <p:nvSpPr>
          <p:cNvPr id="4" name="Google Shape;20;p4">
            <a:extLst>
              <a:ext uri="{FF2B5EF4-FFF2-40B4-BE49-F238E27FC236}">
                <a16:creationId xmlns:a16="http://schemas.microsoft.com/office/drawing/2014/main" id="{866938FD-48A8-C945-8F8D-948D6ACBB765}"/>
              </a:ext>
            </a:extLst>
          </p:cNvPr>
          <p:cNvSpPr/>
          <p:nvPr/>
        </p:nvSpPr>
        <p:spPr>
          <a:xfrm rot="5400000">
            <a:off x="-3210416" y="3210414"/>
            <a:ext cx="6858002" cy="437171"/>
          </a:xfrm>
          <a:prstGeom prst="rect">
            <a:avLst/>
          </a:prstGeom>
          <a:solidFill>
            <a:srgbClr val="3A4047"/>
          </a:solidFill>
          <a:ln w="12700" cap="flat" cmpd="sng">
            <a:solidFill>
              <a:schemeClr val="dk1">
                <a:alpha val="1176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1427" tIns="25706" rIns="51427" bIns="25706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013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8227325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Gothic"/>
              <a:buNone/>
              <a:defRPr sz="2475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1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1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1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1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1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1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1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1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body" idx="1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257175" marR="0" lvl="0" indent="-228600" algn="l" rtl="0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1575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514350" marR="0" lvl="1" indent="-214313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771525" marR="0" lvl="2" indent="-200025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125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028700" marR="0" lvl="3" indent="-192881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1285875" marR="0" lvl="4" indent="-192881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1543050" marR="0" lvl="5" indent="-192881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1800225" marR="0" lvl="6" indent="-192881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2057400" marR="0" lvl="7" indent="-192881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2314575" marR="0" lvl="8" indent="-192881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Google Shape;57;p11"/>
          <p:cNvSpPr txBox="1">
            <a:spLocks noGrp="1"/>
          </p:cNvSpPr>
          <p:nvPr>
            <p:ph type="sldNum" idx="12"/>
          </p:nvPr>
        </p:nvSpPr>
        <p:spPr>
          <a:xfrm>
            <a:off x="628650" y="6356353"/>
            <a:ext cx="78867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675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675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675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675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675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675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675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675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675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fld id="{8AC1D5BD-6625-4530-9DC9-239739FF817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Google Shape;20;p4">
            <a:extLst>
              <a:ext uri="{FF2B5EF4-FFF2-40B4-BE49-F238E27FC236}">
                <a16:creationId xmlns:a16="http://schemas.microsoft.com/office/drawing/2014/main" id="{EE238881-7684-6E45-838B-2C5185AA693E}"/>
              </a:ext>
            </a:extLst>
          </p:cNvPr>
          <p:cNvSpPr/>
          <p:nvPr/>
        </p:nvSpPr>
        <p:spPr>
          <a:xfrm rot="5400000">
            <a:off x="-3251562" y="3200400"/>
            <a:ext cx="6912864" cy="438912"/>
          </a:xfrm>
          <a:prstGeom prst="rect">
            <a:avLst/>
          </a:prstGeom>
          <a:solidFill>
            <a:srgbClr val="3A4047"/>
          </a:solidFill>
          <a:ln w="12700" cap="flat" cmpd="sng">
            <a:solidFill>
              <a:schemeClr val="dk1">
                <a:alpha val="1176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013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28644307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2"/>
          <p:cNvSpPr txBox="1">
            <a:spLocks noGrp="1"/>
          </p:cNvSpPr>
          <p:nvPr>
            <p:ph type="title"/>
          </p:nvPr>
        </p:nvSpPr>
        <p:spPr>
          <a:xfrm rot="5400000">
            <a:off x="4623594" y="2285208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Gothic"/>
              <a:buNone/>
              <a:defRPr sz="2475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1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1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1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1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1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1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1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1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1" name="Google Shape;61;p12"/>
          <p:cNvSpPr txBox="1">
            <a:spLocks noGrp="1"/>
          </p:cNvSpPr>
          <p:nvPr>
            <p:ph type="body" idx="1"/>
          </p:nvPr>
        </p:nvSpPr>
        <p:spPr>
          <a:xfrm rot="5400000">
            <a:off x="623094" y="370683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257175" marR="0" lvl="0" indent="-228600" algn="l" rtl="0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1575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514350" marR="0" lvl="1" indent="-214313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771525" marR="0" lvl="2" indent="-200025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125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028700" marR="0" lvl="3" indent="-192881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1285875" marR="0" lvl="4" indent="-192881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1543050" marR="0" lvl="5" indent="-192881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1800225" marR="0" lvl="6" indent="-192881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2057400" marR="0" lvl="7" indent="-192881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2314575" marR="0" lvl="8" indent="-192881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Google Shape;62;p12"/>
          <p:cNvSpPr txBox="1">
            <a:spLocks noGrp="1"/>
          </p:cNvSpPr>
          <p:nvPr>
            <p:ph type="sldNum" idx="12"/>
          </p:nvPr>
        </p:nvSpPr>
        <p:spPr>
          <a:xfrm>
            <a:off x="628650" y="6356353"/>
            <a:ext cx="78867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675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675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675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675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675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675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675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675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675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fld id="{8AC1D5BD-6625-4530-9DC9-239739FF817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Google Shape;20;p4">
            <a:extLst>
              <a:ext uri="{FF2B5EF4-FFF2-40B4-BE49-F238E27FC236}">
                <a16:creationId xmlns:a16="http://schemas.microsoft.com/office/drawing/2014/main" id="{52CFC662-DA86-E347-B571-4CAF57F1AA26}"/>
              </a:ext>
            </a:extLst>
          </p:cNvPr>
          <p:cNvSpPr/>
          <p:nvPr/>
        </p:nvSpPr>
        <p:spPr>
          <a:xfrm rot="5400000">
            <a:off x="-3251562" y="3200400"/>
            <a:ext cx="6912864" cy="438912"/>
          </a:xfrm>
          <a:prstGeom prst="rect">
            <a:avLst/>
          </a:prstGeom>
          <a:solidFill>
            <a:srgbClr val="3A4047"/>
          </a:solidFill>
          <a:ln w="12700" cap="flat" cmpd="sng">
            <a:solidFill>
              <a:schemeClr val="dk1">
                <a:alpha val="1176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013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26169824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29808-1B04-4B6F-9A1F-669A6E36388E}" type="datetimeFigureOut">
              <a:rPr lang="en-US" smtClean="0"/>
              <a:t>7/8/20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1D5BD-6625-4530-9DC9-239739FF8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865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ahoma"/>
                <a:cs typeface="Tahoma"/>
              </a:defRPr>
            </a:lvl1pPr>
          </a:lstStyle>
          <a:p>
            <a:fld id="{DEC29808-1B04-4B6F-9A1F-669A6E36388E}" type="datetimeFigureOut">
              <a:rPr lang="en-US" smtClean="0"/>
              <a:pPr/>
              <a:t>7/8/20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ahoma"/>
                <a:cs typeface="Tahoma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ahoma"/>
                <a:cs typeface="Tahoma"/>
              </a:defRPr>
            </a:lvl1pPr>
          </a:lstStyle>
          <a:p>
            <a:fld id="{8AC1D5BD-6625-4530-9DC9-239739FF81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248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Tahoma"/>
          <a:ea typeface="+mj-ea"/>
          <a:cs typeface="Tahoma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ahoma"/>
          <a:ea typeface="+mn-ea"/>
          <a:cs typeface="Tahoma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ahoma"/>
          <a:ea typeface="+mn-ea"/>
          <a:cs typeface="Tahoma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Tahoma"/>
          <a:ea typeface="+mn-ea"/>
          <a:cs typeface="Tahoma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Tahoma"/>
          <a:ea typeface="+mn-ea"/>
          <a:cs typeface="Tahoma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Tahoma"/>
          <a:ea typeface="+mn-ea"/>
          <a:cs typeface="Tahom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7FB">
            <a:alpha val="8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Gothic"/>
              <a:buNone/>
              <a:defRPr sz="4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628650" y="6356353"/>
            <a:ext cx="78867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675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675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675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675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675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675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675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675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675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fld id="{8AC1D5BD-6625-4530-9DC9-239739FF81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21537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423863" marR="0" lvl="0" indent="-38576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Pct val="75000"/>
        <a:buFont typeface="+mj-lt"/>
        <a:buAutoNum type="arabicPeriod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Psychology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Lifespan Development</a:t>
            </a:r>
          </a:p>
        </p:txBody>
      </p:sp>
    </p:spTree>
    <p:extLst>
      <p:ext uri="{BB962C8B-B14F-4D97-AF65-F5344CB8AC3E}">
        <p14:creationId xmlns:p14="http://schemas.microsoft.com/office/powerpoint/2010/main" val="1457531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Developmental Psychology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" indent="0">
              <a:buNone/>
            </a:pPr>
            <a:r>
              <a:rPr lang="en-US" sz="1800" dirty="0"/>
              <a:t>Developmental psychology focuses on how people change. </a:t>
            </a:r>
          </a:p>
          <a:p>
            <a:r>
              <a:rPr lang="en-US" sz="1800" b="1" dirty="0"/>
              <a:t>Cognitive development</a:t>
            </a:r>
          </a:p>
          <a:p>
            <a:r>
              <a:rPr lang="en-US" sz="1800" b="1" dirty="0"/>
              <a:t>Physical development</a:t>
            </a:r>
          </a:p>
          <a:p>
            <a:r>
              <a:rPr lang="en-US" sz="1800" b="1" dirty="0"/>
              <a:t>Psychosocial development</a:t>
            </a:r>
          </a:p>
          <a:p>
            <a:r>
              <a:rPr lang="en-US" sz="1800" b="1" dirty="0"/>
              <a:t>Normative approach</a:t>
            </a:r>
          </a:p>
        </p:txBody>
      </p:sp>
    </p:spTree>
    <p:extLst>
      <p:ext uri="{BB962C8B-B14F-4D97-AF65-F5344CB8AC3E}">
        <p14:creationId xmlns:p14="http://schemas.microsoft.com/office/powerpoint/2010/main" val="29045729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Issues in Developmental Psychology: Continuous or Discontinuous</a:t>
            </a:r>
            <a:br>
              <a:rPr lang="en-US" b="1" dirty="0"/>
            </a:b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sz="2400" dirty="0"/>
              <a:t>The concept of continuous development can be visualized as a smooth slope of progression, whereas discontinuous development sees growth in more discrete stages</a:t>
            </a:r>
          </a:p>
        </p:txBody>
      </p:sp>
      <p:pic>
        <p:nvPicPr>
          <p:cNvPr id="3076" name="Picture 4" descr="Continuous and Discontinuous development are shown side by side using two separate pictures. The first picture is a triangle labeled “Continuous Development” which slopes upward from Infancy to Adulthood in a straight line. The second picture is 4 bars side by side labeled “Discontinuous Development” which get higher from Infancy to Adulthood. These bars resemble a staircase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200" y="4510007"/>
            <a:ext cx="8608808" cy="234799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96482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Issues in Developmental Psychology:</a:t>
            </a:r>
            <a:r>
              <a:rPr lang="en-US" b="1" dirty="0"/>
              <a:t> </a:t>
            </a:r>
            <a:r>
              <a:rPr lang="en-US" dirty="0"/>
              <a:t>One Course of Development or Many?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Is development essentially the same, or universal, for all children or does development follow a different course for each child, depending on the child’s specific genetics and environment? </a:t>
            </a:r>
          </a:p>
          <a:p>
            <a:pPr marL="0" indent="0">
              <a:buNone/>
            </a:pPr>
            <a:r>
              <a:rPr lang="en-US" sz="2400" dirty="0"/>
              <a:t>Do people across the world share more similarities or more differences in their development? </a:t>
            </a:r>
          </a:p>
          <a:p>
            <a:pPr marL="0" indent="0">
              <a:buNone/>
            </a:pPr>
            <a:r>
              <a:rPr lang="en-US" sz="2400" dirty="0"/>
              <a:t>How much do culture and genetics influence a child’s behavior?</a:t>
            </a:r>
          </a:p>
        </p:txBody>
      </p:sp>
    </p:spTree>
    <p:extLst>
      <p:ext uri="{BB962C8B-B14F-4D97-AF65-F5344CB8AC3E}">
        <p14:creationId xmlns:p14="http://schemas.microsoft.com/office/powerpoint/2010/main" val="1189645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Issues in Developmental Psychology: Nature vs. Nurture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Are we who we are because of our genes, or are we who we are because of our environment and culture? </a:t>
            </a:r>
          </a:p>
          <a:p>
            <a:pPr marL="0" indent="0">
              <a:buNone/>
            </a:pPr>
            <a:r>
              <a:rPr lang="en-US" sz="2400" dirty="0"/>
              <a:t>Our unique experiences in our environment influence whether and how particular traits are expressed, and at the same time, our genes influence how we interact with our environment</a:t>
            </a:r>
          </a:p>
        </p:txBody>
      </p:sp>
    </p:spTree>
    <p:extLst>
      <p:ext uri="{BB962C8B-B14F-4D97-AF65-F5344CB8AC3E}">
        <p14:creationId xmlns:p14="http://schemas.microsoft.com/office/powerpoint/2010/main" val="14256784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95944"/>
            <a:ext cx="7886700" cy="1159327"/>
          </a:xfrm>
        </p:spPr>
        <p:txBody>
          <a:bodyPr>
            <a:normAutofit/>
          </a:bodyPr>
          <a:lstStyle/>
          <a:p>
            <a:r>
              <a:rPr lang="en-US" dirty="0"/>
              <a:t>Freudian Psychosexual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628650" y="1534886"/>
            <a:ext cx="7886700" cy="4642077"/>
          </a:xfrm>
        </p:spPr>
        <p:txBody>
          <a:bodyPr>
            <a:noAutofit/>
          </a:bodyPr>
          <a:lstStyle/>
          <a:p>
            <a:pPr marL="0" indent="0" fontAlgn="base">
              <a:buNone/>
            </a:pPr>
            <a:r>
              <a:rPr lang="en-US" sz="2400" dirty="0"/>
              <a:t>Children’s pleasure-seeking urges are focused on a different area of the body, called an erogenous zone, at each of the five stages of development: </a:t>
            </a:r>
          </a:p>
          <a:p>
            <a:pPr fontAlgn="base"/>
            <a:r>
              <a:rPr lang="en-US" sz="2400" dirty="0"/>
              <a:t>Oral</a:t>
            </a:r>
          </a:p>
          <a:p>
            <a:pPr fontAlgn="base"/>
            <a:r>
              <a:rPr lang="en-US" sz="2400" dirty="0"/>
              <a:t>Anal</a:t>
            </a:r>
          </a:p>
          <a:p>
            <a:pPr fontAlgn="base"/>
            <a:r>
              <a:rPr lang="en-US" sz="2400" dirty="0"/>
              <a:t>Phallic</a:t>
            </a:r>
          </a:p>
          <a:p>
            <a:pPr fontAlgn="base"/>
            <a:r>
              <a:rPr lang="en-US" sz="2400" dirty="0"/>
              <a:t>Latency</a:t>
            </a:r>
          </a:p>
          <a:p>
            <a:pPr fontAlgn="base"/>
            <a:r>
              <a:rPr lang="en-US" sz="2400" dirty="0"/>
              <a:t>Genital</a:t>
            </a:r>
          </a:p>
          <a:p>
            <a:pPr marL="0" indent="0" fontAlgn="base">
              <a:buNone/>
            </a:pPr>
            <a:r>
              <a:rPr lang="en-US" sz="2400" dirty="0"/>
              <a:t>Most of Freud’s ideas have not found support in modern research but his ideas about the importance of childhood experiences have had a lasting influence</a:t>
            </a:r>
          </a:p>
        </p:txBody>
      </p:sp>
    </p:spTree>
    <p:extLst>
      <p:ext uri="{BB962C8B-B14F-4D97-AF65-F5344CB8AC3E}">
        <p14:creationId xmlns:p14="http://schemas.microsoft.com/office/powerpoint/2010/main" val="30512613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Erikson’s Psychosocial Development Theory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How we interact with others affects our sense of self, or ego identity</a:t>
            </a:r>
          </a:p>
          <a:p>
            <a:r>
              <a:rPr lang="en-US" sz="2400" dirty="0"/>
              <a:t>Personality development takes place through the lifespan</a:t>
            </a:r>
          </a:p>
          <a:p>
            <a:r>
              <a:rPr lang="en-US" sz="2400" dirty="0"/>
              <a:t>At each stage of life there is a conflict that we need to resolve</a:t>
            </a:r>
          </a:p>
        </p:txBody>
      </p:sp>
    </p:spTree>
    <p:extLst>
      <p:ext uri="{BB962C8B-B14F-4D97-AF65-F5344CB8AC3E}">
        <p14:creationId xmlns:p14="http://schemas.microsoft.com/office/powerpoint/2010/main" val="11249115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Psychosocial Stages of Development</a:t>
            </a:r>
          </a:p>
        </p:txBody>
      </p:sp>
      <p:graphicFrame>
        <p:nvGraphicFramePr>
          <p:cNvPr id="10" name="Content Placeholder 9"/>
          <p:cNvGraphicFramePr>
            <a:graphicFrameLocks noGrp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2575001226"/>
              </p:ext>
            </p:extLst>
          </p:nvPr>
        </p:nvGraphicFramePr>
        <p:xfrm>
          <a:off x="477672" y="1211263"/>
          <a:ext cx="8667008" cy="5650646"/>
        </p:xfrm>
        <a:graphic>
          <a:graphicData uri="http://schemas.openxmlformats.org/drawingml/2006/table">
            <a:tbl>
              <a:tblPr firstRow="1"/>
              <a:tblGrid>
                <a:gridCol w="908140">
                  <a:extLst>
                    <a:ext uri="{9D8B030D-6E8A-4147-A177-3AD203B41FA5}">
                      <a16:colId xmlns:a16="http://schemas.microsoft.com/office/drawing/2014/main" val="2703637164"/>
                    </a:ext>
                  </a:extLst>
                </a:gridCol>
                <a:gridCol w="1110929">
                  <a:extLst>
                    <a:ext uri="{9D8B030D-6E8A-4147-A177-3AD203B41FA5}">
                      <a16:colId xmlns:a16="http://schemas.microsoft.com/office/drawing/2014/main" val="2989398706"/>
                    </a:ext>
                  </a:extLst>
                </a:gridCol>
                <a:gridCol w="2592167">
                  <a:extLst>
                    <a:ext uri="{9D8B030D-6E8A-4147-A177-3AD203B41FA5}">
                      <a16:colId xmlns:a16="http://schemas.microsoft.com/office/drawing/2014/main" val="3272674391"/>
                    </a:ext>
                  </a:extLst>
                </a:gridCol>
                <a:gridCol w="4055772">
                  <a:extLst>
                    <a:ext uri="{9D8B030D-6E8A-4147-A177-3AD203B41FA5}">
                      <a16:colId xmlns:a16="http://schemas.microsoft.com/office/drawing/2014/main" val="2702971657"/>
                    </a:ext>
                  </a:extLst>
                </a:gridCol>
              </a:tblGrid>
              <a:tr h="34743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Stage</a:t>
                      </a:r>
                    </a:p>
                  </a:txBody>
                  <a:tcPr marL="48701" marR="48701" marT="18263" marB="182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Age (years)</a:t>
                      </a:r>
                    </a:p>
                  </a:txBody>
                  <a:tcPr marL="48701" marR="48701" marT="18263" marB="182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Developmental Task</a:t>
                      </a:r>
                    </a:p>
                  </a:txBody>
                  <a:tcPr marL="48701" marR="48701" marT="18263" marB="182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Description</a:t>
                      </a:r>
                    </a:p>
                  </a:txBody>
                  <a:tcPr marL="48701" marR="48701" marT="18263" marB="182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2907663"/>
                  </a:ext>
                </a:extLst>
              </a:tr>
              <a:tr h="85543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>
                          <a:solidFill>
                            <a:srgbClr val="222222"/>
                          </a:solidFill>
                          <a:effectLst/>
                          <a:latin typeface="Century Gothic" panose="020B0502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</a:t>
                      </a:r>
                    </a:p>
                  </a:txBody>
                  <a:tcPr marL="48701" marR="48701" marT="12175" marB="1217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  <a:latin typeface="Century Gothic" panose="020B0502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0–1</a:t>
                      </a:r>
                    </a:p>
                  </a:txBody>
                  <a:tcPr marL="48701" marR="48701" marT="12175" marB="1217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  <a:latin typeface="Century Gothic" panose="020B0502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Trust vs. mistrust</a:t>
                      </a:r>
                    </a:p>
                  </a:txBody>
                  <a:tcPr marL="48701" marR="48701" marT="12175" marB="1217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>
                          <a:solidFill>
                            <a:srgbClr val="222222"/>
                          </a:solidFill>
                          <a:effectLst/>
                          <a:latin typeface="Century Gothic" panose="020B0502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Trust (or mistrust) that basic needs, such as nourishment and affection, will be met</a:t>
                      </a:r>
                    </a:p>
                  </a:txBody>
                  <a:tcPr marL="48701" marR="48701" marT="12175" marB="1217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97736"/>
                  </a:ext>
                </a:extLst>
              </a:tr>
              <a:tr h="45441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>
                          <a:solidFill>
                            <a:srgbClr val="222222"/>
                          </a:solidFill>
                          <a:effectLst/>
                          <a:latin typeface="Century Gothic" panose="020B0502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</a:p>
                  </a:txBody>
                  <a:tcPr marL="48701" marR="48701" marT="12175" marB="1217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  <a:latin typeface="Century Gothic" panose="020B0502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1–3</a:t>
                      </a:r>
                    </a:p>
                  </a:txBody>
                  <a:tcPr marL="48701" marR="48701" marT="12175" marB="1217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  <a:latin typeface="Century Gothic" panose="020B0502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Autonomy vs. shame/doubt</a:t>
                      </a:r>
                    </a:p>
                  </a:txBody>
                  <a:tcPr marL="48701" marR="48701" marT="12175" marB="1217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  <a:latin typeface="Century Gothic" panose="020B0502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Develop a sense of independence in many tasks</a:t>
                      </a:r>
                    </a:p>
                  </a:txBody>
                  <a:tcPr marL="48701" marR="48701" marT="12175" marB="1217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9342920"/>
                  </a:ext>
                </a:extLst>
              </a:tr>
              <a:tr h="85543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>
                          <a:solidFill>
                            <a:srgbClr val="222222"/>
                          </a:solidFill>
                          <a:effectLst/>
                          <a:latin typeface="Century Gothic" panose="020B0502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</a:p>
                  </a:txBody>
                  <a:tcPr marL="48701" marR="48701" marT="12175" marB="1217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>
                          <a:solidFill>
                            <a:srgbClr val="222222"/>
                          </a:solidFill>
                          <a:effectLst/>
                          <a:latin typeface="Century Gothic" panose="020B0502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3–6</a:t>
                      </a:r>
                    </a:p>
                  </a:txBody>
                  <a:tcPr marL="48701" marR="48701" marT="12175" marB="1217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>
                          <a:solidFill>
                            <a:srgbClr val="222222"/>
                          </a:solidFill>
                          <a:effectLst/>
                          <a:latin typeface="Century Gothic" panose="020B0502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Initiative vs. guilt</a:t>
                      </a:r>
                    </a:p>
                  </a:txBody>
                  <a:tcPr marL="48701" marR="48701" marT="12175" marB="1217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>
                          <a:solidFill>
                            <a:srgbClr val="222222"/>
                          </a:solidFill>
                          <a:effectLst/>
                          <a:latin typeface="Century Gothic" panose="020B0502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Take initiative on some activities—may develop guilt when unsuccessful or boundaries overstepped</a:t>
                      </a:r>
                    </a:p>
                  </a:txBody>
                  <a:tcPr marL="48701" marR="48701" marT="12175" marB="1217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180887"/>
                  </a:ext>
                </a:extLst>
              </a:tr>
              <a:tr h="85543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>
                          <a:solidFill>
                            <a:srgbClr val="222222"/>
                          </a:solidFill>
                          <a:effectLst/>
                          <a:latin typeface="Century Gothic" panose="020B0502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</a:t>
                      </a:r>
                    </a:p>
                  </a:txBody>
                  <a:tcPr marL="48701" marR="48701" marT="12175" marB="1217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>
                          <a:solidFill>
                            <a:srgbClr val="222222"/>
                          </a:solidFill>
                          <a:effectLst/>
                          <a:latin typeface="Century Gothic" panose="020B0502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7–11</a:t>
                      </a:r>
                    </a:p>
                  </a:txBody>
                  <a:tcPr marL="48701" marR="48701" marT="12175" marB="1217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  <a:latin typeface="Century Gothic" panose="020B0502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Industry vs. inferiority</a:t>
                      </a:r>
                    </a:p>
                  </a:txBody>
                  <a:tcPr marL="48701" marR="48701" marT="12175" marB="1217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>
                          <a:solidFill>
                            <a:srgbClr val="222222"/>
                          </a:solidFill>
                          <a:effectLst/>
                          <a:latin typeface="Century Gothic" panose="020B0502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Develop self-confidence in abilities when competent or sense of inferiority when not</a:t>
                      </a:r>
                    </a:p>
                  </a:txBody>
                  <a:tcPr marL="48701" marR="48701" marT="12175" marB="1217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045716"/>
                  </a:ext>
                </a:extLst>
              </a:tr>
              <a:tr h="45441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>
                          <a:solidFill>
                            <a:srgbClr val="222222"/>
                          </a:solidFill>
                          <a:effectLst/>
                          <a:latin typeface="Century Gothic" panose="020B0502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</a:p>
                  </a:txBody>
                  <a:tcPr marL="48701" marR="48701" marT="12175" marB="1217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>
                          <a:solidFill>
                            <a:srgbClr val="222222"/>
                          </a:solidFill>
                          <a:effectLst/>
                          <a:latin typeface="Century Gothic" panose="020B0502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12–18</a:t>
                      </a:r>
                    </a:p>
                  </a:txBody>
                  <a:tcPr marL="48701" marR="48701" marT="12175" marB="1217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>
                          <a:solidFill>
                            <a:srgbClr val="222222"/>
                          </a:solidFill>
                          <a:effectLst/>
                          <a:latin typeface="Century Gothic" panose="020B0502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Identity vs. confusion</a:t>
                      </a:r>
                    </a:p>
                  </a:txBody>
                  <a:tcPr marL="48701" marR="48701" marT="12175" marB="1217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>
                          <a:solidFill>
                            <a:srgbClr val="222222"/>
                          </a:solidFill>
                          <a:effectLst/>
                          <a:latin typeface="Century Gothic" panose="020B0502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Experiment with and develop identity and roles</a:t>
                      </a:r>
                    </a:p>
                  </a:txBody>
                  <a:tcPr marL="48701" marR="48701" marT="12175" marB="1217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6810083"/>
                  </a:ext>
                </a:extLst>
              </a:tr>
              <a:tr h="45441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>
                          <a:solidFill>
                            <a:srgbClr val="222222"/>
                          </a:solidFill>
                          <a:effectLst/>
                          <a:latin typeface="Century Gothic" panose="020B0502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</a:t>
                      </a:r>
                    </a:p>
                  </a:txBody>
                  <a:tcPr marL="48701" marR="48701" marT="12175" marB="1217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>
                          <a:solidFill>
                            <a:srgbClr val="222222"/>
                          </a:solidFill>
                          <a:effectLst/>
                          <a:latin typeface="Century Gothic" panose="020B0502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19–29</a:t>
                      </a:r>
                    </a:p>
                  </a:txBody>
                  <a:tcPr marL="48701" marR="48701" marT="12175" marB="1217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>
                          <a:solidFill>
                            <a:srgbClr val="222222"/>
                          </a:solidFill>
                          <a:effectLst/>
                          <a:latin typeface="Century Gothic" panose="020B0502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Intimacy vs. isolation</a:t>
                      </a:r>
                    </a:p>
                  </a:txBody>
                  <a:tcPr marL="48701" marR="48701" marT="12175" marB="1217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>
                          <a:solidFill>
                            <a:srgbClr val="222222"/>
                          </a:solidFill>
                          <a:effectLst/>
                          <a:latin typeface="Century Gothic" panose="020B0502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Establish intimacy and relationships with others</a:t>
                      </a:r>
                    </a:p>
                  </a:txBody>
                  <a:tcPr marL="48701" marR="48701" marT="12175" marB="1217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2899395"/>
                  </a:ext>
                </a:extLst>
              </a:tr>
              <a:tr h="45441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>
                          <a:solidFill>
                            <a:srgbClr val="222222"/>
                          </a:solidFill>
                          <a:effectLst/>
                          <a:latin typeface="Century Gothic" panose="020B0502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</a:t>
                      </a:r>
                    </a:p>
                  </a:txBody>
                  <a:tcPr marL="48701" marR="48701" marT="12175" marB="1217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>
                          <a:solidFill>
                            <a:srgbClr val="222222"/>
                          </a:solidFill>
                          <a:effectLst/>
                          <a:latin typeface="Century Gothic" panose="020B0502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30–64</a:t>
                      </a:r>
                    </a:p>
                  </a:txBody>
                  <a:tcPr marL="48701" marR="48701" marT="12175" marB="1217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>
                          <a:solidFill>
                            <a:srgbClr val="222222"/>
                          </a:solidFill>
                          <a:effectLst/>
                          <a:latin typeface="Century Gothic" panose="020B0502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Generativity vs. stagnation</a:t>
                      </a:r>
                    </a:p>
                  </a:txBody>
                  <a:tcPr marL="48701" marR="48701" marT="12175" marB="1217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>
                          <a:solidFill>
                            <a:srgbClr val="222222"/>
                          </a:solidFill>
                          <a:effectLst/>
                          <a:latin typeface="Century Gothic" panose="020B0502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Contribute to society and be part of a family</a:t>
                      </a:r>
                    </a:p>
                  </a:txBody>
                  <a:tcPr marL="48701" marR="48701" marT="12175" marB="1217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3790115"/>
                  </a:ext>
                </a:extLst>
              </a:tr>
              <a:tr h="47378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>
                          <a:solidFill>
                            <a:srgbClr val="222222"/>
                          </a:solidFill>
                          <a:effectLst/>
                          <a:latin typeface="Century Gothic" panose="020B0502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</a:t>
                      </a:r>
                    </a:p>
                  </a:txBody>
                  <a:tcPr marL="48701" marR="48701" marT="12175" marB="1217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>
                          <a:solidFill>
                            <a:srgbClr val="222222"/>
                          </a:solidFill>
                          <a:effectLst/>
                          <a:latin typeface="Century Gothic" panose="020B0502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65–</a:t>
                      </a:r>
                    </a:p>
                  </a:txBody>
                  <a:tcPr marL="48701" marR="48701" marT="12175" marB="1217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>
                          <a:solidFill>
                            <a:srgbClr val="222222"/>
                          </a:solidFill>
                          <a:effectLst/>
                          <a:latin typeface="Century Gothic" panose="020B0502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Integrity vs. despair</a:t>
                      </a:r>
                    </a:p>
                  </a:txBody>
                  <a:tcPr marL="48701" marR="48701" marT="12175" marB="1217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  <a:latin typeface="Century Gothic" panose="020B0502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Assess and make sense of life and meaning of contributions</a:t>
                      </a:r>
                    </a:p>
                  </a:txBody>
                  <a:tcPr marL="48701" marR="48701" marT="12175" marB="1217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23509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69061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Piaget’s Cognitive Development Theory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Cognitive abilities develop through specific stages. </a:t>
            </a:r>
          </a:p>
          <a:p>
            <a:r>
              <a:rPr lang="en-US" sz="1800" dirty="0"/>
              <a:t>Children develop </a:t>
            </a:r>
            <a:r>
              <a:rPr lang="en-US" sz="1800" b="1" dirty="0"/>
              <a:t>schemata</a:t>
            </a:r>
            <a:r>
              <a:rPr lang="en-US" sz="1800" dirty="0"/>
              <a:t>, mental models, to interpret information</a:t>
            </a:r>
          </a:p>
          <a:p>
            <a:r>
              <a:rPr lang="en-US" sz="1800" b="1" dirty="0"/>
              <a:t>Assimilation</a:t>
            </a:r>
            <a:r>
              <a:rPr lang="en-US" sz="1800" dirty="0"/>
              <a:t> is when they take in information that fits with what they already know</a:t>
            </a:r>
          </a:p>
          <a:p>
            <a:r>
              <a:rPr lang="en-US" sz="1800" b="1" dirty="0"/>
              <a:t>Accommodation</a:t>
            </a:r>
            <a:r>
              <a:rPr lang="en-US" sz="1800" dirty="0"/>
              <a:t> describes when they change their schemata based on new information </a:t>
            </a:r>
          </a:p>
        </p:txBody>
      </p:sp>
    </p:spTree>
    <p:extLst>
      <p:ext uri="{BB962C8B-B14F-4D97-AF65-F5344CB8AC3E}">
        <p14:creationId xmlns:p14="http://schemas.microsoft.com/office/powerpoint/2010/main" val="3727481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4300"/>
            <a:ext cx="7886700" cy="1191987"/>
          </a:xfrm>
        </p:spPr>
        <p:txBody>
          <a:bodyPr>
            <a:normAutofit/>
          </a:bodyPr>
          <a:lstStyle/>
          <a:p>
            <a:r>
              <a:rPr lang="en-US" dirty="0"/>
              <a:t>Stages of Cognitive Development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904595273"/>
              </p:ext>
            </p:extLst>
          </p:nvPr>
        </p:nvGraphicFramePr>
        <p:xfrm>
          <a:off x="450376" y="1234150"/>
          <a:ext cx="8693624" cy="5623849"/>
        </p:xfrm>
        <a:graphic>
          <a:graphicData uri="http://schemas.openxmlformats.org/drawingml/2006/table">
            <a:tbl>
              <a:tblPr firstRow="1"/>
              <a:tblGrid>
                <a:gridCol w="1173708">
                  <a:extLst>
                    <a:ext uri="{9D8B030D-6E8A-4147-A177-3AD203B41FA5}">
                      <a16:colId xmlns:a16="http://schemas.microsoft.com/office/drawing/2014/main" val="804947454"/>
                    </a:ext>
                  </a:extLst>
                </a:gridCol>
                <a:gridCol w="2005786">
                  <a:extLst>
                    <a:ext uri="{9D8B030D-6E8A-4147-A177-3AD203B41FA5}">
                      <a16:colId xmlns:a16="http://schemas.microsoft.com/office/drawing/2014/main" val="2975806024"/>
                    </a:ext>
                  </a:extLst>
                </a:gridCol>
                <a:gridCol w="2895244">
                  <a:extLst>
                    <a:ext uri="{9D8B030D-6E8A-4147-A177-3AD203B41FA5}">
                      <a16:colId xmlns:a16="http://schemas.microsoft.com/office/drawing/2014/main" val="228152721"/>
                    </a:ext>
                  </a:extLst>
                </a:gridCol>
                <a:gridCol w="2618886">
                  <a:extLst>
                    <a:ext uri="{9D8B030D-6E8A-4147-A177-3AD203B41FA5}">
                      <a16:colId xmlns:a16="http://schemas.microsoft.com/office/drawing/2014/main" val="4284905932"/>
                    </a:ext>
                  </a:extLst>
                </a:gridCol>
              </a:tblGrid>
              <a:tr h="707141"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Age (years)</a:t>
                      </a:r>
                    </a:p>
                  </a:txBody>
                  <a:tcPr marL="178700" marR="178700" marT="67012" marB="670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Stage</a:t>
                      </a:r>
                    </a:p>
                  </a:txBody>
                  <a:tcPr marL="178700" marR="178700" marT="67012" marB="670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Description</a:t>
                      </a:r>
                    </a:p>
                  </a:txBody>
                  <a:tcPr marL="178700" marR="178700" marT="67012" marB="670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Developmental issues</a:t>
                      </a:r>
                    </a:p>
                  </a:txBody>
                  <a:tcPr marL="178700" marR="178700" marT="67012" marB="670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525445"/>
                  </a:ext>
                </a:extLst>
              </a:tr>
              <a:tr h="945021"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>
                          <a:solidFill>
                            <a:srgbClr val="222222"/>
                          </a:solidFill>
                          <a:effectLst/>
                          <a:latin typeface="Century Gothic" panose="020B0502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0–2</a:t>
                      </a:r>
                    </a:p>
                  </a:txBody>
                  <a:tcPr marL="178700" marR="178700" marT="44675" marB="4467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  <a:latin typeface="Century Gothic" panose="020B0502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Sensorimotor</a:t>
                      </a:r>
                    </a:p>
                  </a:txBody>
                  <a:tcPr marL="178700" marR="178700" marT="44675" marB="4467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>
                          <a:solidFill>
                            <a:srgbClr val="222222"/>
                          </a:solidFill>
                          <a:effectLst/>
                          <a:latin typeface="Century Gothic" panose="020B0502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World experienced through senses and actions</a:t>
                      </a:r>
                    </a:p>
                  </a:txBody>
                  <a:tcPr marL="178700" marR="178700" marT="44675" marB="4467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  <a:latin typeface="Century Gothic" panose="020B0502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Object permanence</a:t>
                      </a:r>
                      <a:br>
                        <a:rPr lang="en-US" sz="1800" dirty="0">
                          <a:solidFill>
                            <a:srgbClr val="222222"/>
                          </a:solidFill>
                          <a:effectLst/>
                          <a:latin typeface="Century Gothic" panose="020B0502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</a:b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  <a:latin typeface="Century Gothic" panose="020B0502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Stranger anxiety</a:t>
                      </a:r>
                    </a:p>
                  </a:txBody>
                  <a:tcPr marL="178700" marR="178700" marT="44675" marB="4467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951370"/>
                  </a:ext>
                </a:extLst>
              </a:tr>
              <a:tr h="1229177"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>
                          <a:solidFill>
                            <a:srgbClr val="222222"/>
                          </a:solidFill>
                          <a:effectLst/>
                          <a:latin typeface="Century Gothic" panose="020B0502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2–6</a:t>
                      </a:r>
                    </a:p>
                  </a:txBody>
                  <a:tcPr marL="178700" marR="178700" marT="44675" marB="4467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>
                          <a:solidFill>
                            <a:srgbClr val="222222"/>
                          </a:solidFill>
                          <a:effectLst/>
                          <a:latin typeface="Century Gothic" panose="020B0502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Preoperational</a:t>
                      </a:r>
                    </a:p>
                  </a:txBody>
                  <a:tcPr marL="178700" marR="178700" marT="44675" marB="4467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>
                          <a:solidFill>
                            <a:srgbClr val="222222"/>
                          </a:solidFill>
                          <a:effectLst/>
                          <a:latin typeface="Century Gothic" panose="020B0502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Use words and images to represent things, but lack logical reasoning</a:t>
                      </a:r>
                    </a:p>
                  </a:txBody>
                  <a:tcPr marL="178700" marR="178700" marT="44675" marB="4467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>
                          <a:solidFill>
                            <a:srgbClr val="222222"/>
                          </a:solidFill>
                          <a:effectLst/>
                          <a:latin typeface="Century Gothic" panose="020B0502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Pretend play</a:t>
                      </a:r>
                      <a:br>
                        <a:rPr lang="en-US" sz="1800">
                          <a:solidFill>
                            <a:srgbClr val="222222"/>
                          </a:solidFill>
                          <a:effectLst/>
                          <a:latin typeface="Century Gothic" panose="020B0502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</a:br>
                      <a:r>
                        <a:rPr lang="en-US" sz="1800">
                          <a:solidFill>
                            <a:srgbClr val="222222"/>
                          </a:solidFill>
                          <a:effectLst/>
                          <a:latin typeface="Century Gothic" panose="020B0502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Egocentrism</a:t>
                      </a:r>
                      <a:br>
                        <a:rPr lang="en-US" sz="1800">
                          <a:solidFill>
                            <a:srgbClr val="222222"/>
                          </a:solidFill>
                          <a:effectLst/>
                          <a:latin typeface="Century Gothic" panose="020B0502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</a:br>
                      <a:r>
                        <a:rPr lang="en-US" sz="1800">
                          <a:solidFill>
                            <a:srgbClr val="222222"/>
                          </a:solidFill>
                          <a:effectLst/>
                          <a:latin typeface="Century Gothic" panose="020B0502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Language development</a:t>
                      </a:r>
                    </a:p>
                  </a:txBody>
                  <a:tcPr marL="178700" marR="178700" marT="44675" marB="4467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6737081"/>
                  </a:ext>
                </a:extLst>
              </a:tr>
              <a:tr h="1797489"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>
                          <a:solidFill>
                            <a:srgbClr val="222222"/>
                          </a:solidFill>
                          <a:effectLst/>
                          <a:latin typeface="Century Gothic" panose="020B0502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7–11</a:t>
                      </a:r>
                    </a:p>
                  </a:txBody>
                  <a:tcPr marL="178700" marR="178700" marT="44675" marB="4467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>
                          <a:solidFill>
                            <a:srgbClr val="222222"/>
                          </a:solidFill>
                          <a:effectLst/>
                          <a:latin typeface="Century Gothic" panose="020B0502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Concrete operational</a:t>
                      </a:r>
                    </a:p>
                  </a:txBody>
                  <a:tcPr marL="178700" marR="178700" marT="44675" marB="4467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  <a:latin typeface="Century Gothic" panose="020B0502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Understand concrete events and analogies logically; perform arithmetical operations</a:t>
                      </a:r>
                    </a:p>
                  </a:txBody>
                  <a:tcPr marL="178700" marR="178700" marT="44675" marB="4467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>
                          <a:solidFill>
                            <a:srgbClr val="222222"/>
                          </a:solidFill>
                          <a:effectLst/>
                          <a:latin typeface="Century Gothic" panose="020B0502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Conservation</a:t>
                      </a:r>
                      <a:br>
                        <a:rPr lang="en-US" sz="1800">
                          <a:solidFill>
                            <a:srgbClr val="222222"/>
                          </a:solidFill>
                          <a:effectLst/>
                          <a:latin typeface="Century Gothic" panose="020B0502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</a:br>
                      <a:r>
                        <a:rPr lang="en-US" sz="1800">
                          <a:solidFill>
                            <a:srgbClr val="222222"/>
                          </a:solidFill>
                          <a:effectLst/>
                          <a:latin typeface="Century Gothic" panose="020B0502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Mathematical transformations</a:t>
                      </a:r>
                    </a:p>
                  </a:txBody>
                  <a:tcPr marL="178700" marR="178700" marT="44675" marB="4467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90496"/>
                  </a:ext>
                </a:extLst>
              </a:tr>
              <a:tr h="945021"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>
                          <a:solidFill>
                            <a:srgbClr val="222222"/>
                          </a:solidFill>
                          <a:effectLst/>
                          <a:latin typeface="Century Gothic" panose="020B0502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12–</a:t>
                      </a:r>
                    </a:p>
                  </a:txBody>
                  <a:tcPr marL="178700" marR="178700" marT="44675" marB="4467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>
                          <a:solidFill>
                            <a:srgbClr val="222222"/>
                          </a:solidFill>
                          <a:effectLst/>
                          <a:latin typeface="Century Gothic" panose="020B0502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Formal operational</a:t>
                      </a:r>
                    </a:p>
                  </a:txBody>
                  <a:tcPr marL="178700" marR="178700" marT="44675" marB="4467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>
                          <a:solidFill>
                            <a:srgbClr val="222222"/>
                          </a:solidFill>
                          <a:effectLst/>
                          <a:latin typeface="Century Gothic" panose="020B0502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Formal operations</a:t>
                      </a:r>
                      <a:br>
                        <a:rPr lang="en-US" sz="1800">
                          <a:solidFill>
                            <a:srgbClr val="222222"/>
                          </a:solidFill>
                          <a:effectLst/>
                          <a:latin typeface="Century Gothic" panose="020B0502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</a:br>
                      <a:r>
                        <a:rPr lang="en-US" sz="1800">
                          <a:solidFill>
                            <a:srgbClr val="222222"/>
                          </a:solidFill>
                          <a:effectLst/>
                          <a:latin typeface="Century Gothic" panose="020B0502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Utilize abstract reasoning</a:t>
                      </a:r>
                    </a:p>
                  </a:txBody>
                  <a:tcPr marL="178700" marR="178700" marT="44675" marB="4467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  <a:latin typeface="Century Gothic" panose="020B0502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Abstract logic</a:t>
                      </a:r>
                      <a:br>
                        <a:rPr lang="en-US" sz="1800" dirty="0">
                          <a:solidFill>
                            <a:srgbClr val="222222"/>
                          </a:solidFill>
                          <a:effectLst/>
                          <a:latin typeface="Century Gothic" panose="020B0502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</a:b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  <a:latin typeface="Century Gothic" panose="020B0502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Moral reasoning</a:t>
                      </a:r>
                    </a:p>
                  </a:txBody>
                  <a:tcPr marL="178700" marR="178700" marT="44675" marB="4467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49451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62299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Stages of Moral Reasoning</a:t>
            </a:r>
          </a:p>
        </p:txBody>
      </p:sp>
      <p:pic>
        <p:nvPicPr>
          <p:cNvPr id="8196" name="Picture 4" descr="Nine boxes are arranged in rows and columns of three. The top left box contains “Level 1, Pre-conventional Morality.” A line connects this box with another box to the right containing “Stage 1, Obedience and punishment: behavior driven by avoiding punishment.” To the right is another box connected by a line containing “Stage 2, Individual interest: behavior driven by self-interest and rewards.” The middle left box contains “Level 2, Conventional Morality.” A line connects this box with another box to the right containing “Stage 3, Interpersonal: behavior driven by social approval.” To the right is another box connected by a line containing “Stage 4, Authority: behavior driven by obeying authority and conforming to social order.” The lower left box contains “Level 3, Post-conventional Morality.” A line connects this box with another box to the right containing “Stage 5, Social contract: behavior driven by balance of social order and individual rights.” To the right is another box connected by a line containing “Stage 6, Universal ethics: behavior driven by internal moral principles.”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1137" y="1552575"/>
            <a:ext cx="6181725" cy="530542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44743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Stages of Prenatal Development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5181307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There are three stages of prenatal development: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Germinal</a:t>
            </a:r>
          </a:p>
          <a:p>
            <a:pPr lvl="1"/>
            <a:r>
              <a:rPr lang="en-US" sz="2000" dirty="0"/>
              <a:t>Conception - sperm fertilizes an egg and forms a zygote (right)</a:t>
            </a:r>
          </a:p>
          <a:p>
            <a:pPr lvl="1"/>
            <a:r>
              <a:rPr lang="en-US" sz="2000" dirty="0"/>
              <a:t>Mitosis - process of cell division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Embryonic</a:t>
            </a:r>
          </a:p>
          <a:p>
            <a:pPr lvl="1"/>
            <a:r>
              <a:rPr lang="en-US" sz="2000" dirty="0"/>
              <a:t>Implants itself in the lining of the uterus</a:t>
            </a:r>
          </a:p>
          <a:p>
            <a:pPr lvl="1"/>
            <a:r>
              <a:rPr lang="en-US" sz="2000" dirty="0"/>
              <a:t>Placenta forms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Fetal</a:t>
            </a:r>
          </a:p>
        </p:txBody>
      </p:sp>
      <p:pic>
        <p:nvPicPr>
          <p:cNvPr id="9224" name="Picture 8" descr="A microscopic picture shows a single sperm fusing with the ovum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4873" y="4381012"/>
            <a:ext cx="3266679" cy="220902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32953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28649" y="365128"/>
            <a:ext cx="2414801" cy="1325563"/>
          </a:xfrm>
        </p:spPr>
        <p:txBody>
          <a:bodyPr/>
          <a:lstStyle/>
          <a:p>
            <a:r>
              <a:rPr lang="en-US" dirty="0"/>
              <a:t>Fetal Development</a:t>
            </a:r>
          </a:p>
        </p:txBody>
      </p:sp>
      <p:pic>
        <p:nvPicPr>
          <p:cNvPr id="16394" name="Picture 10" descr="The growth of a fetus is shown using nine pictures in different stages of development. For each stage, there is a picture of a fetus which gets progressively larger and more mature. The first stage is labeled “9 weeks; fetal stage begins.” The second stage is labeled “12 weeks; sex organs differentiate.” The third stage is labeled “16 weeks; fingers and toes develop.” The fourth stage is labeled “20 weeks; hearing begins.” The fifth stage is labeled “24 weeks; lungs begin to develop.” The sixth stage is labeled “28 weeks; brain grows rapidly.” The seventh stage is labeled “32 weeks; bones fully develop.” The eighth stage is labeled “36 weeks; muscles fully develop.” The ninth stage is labeled “40 weeks; full-term development.”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8975" y="212271"/>
            <a:ext cx="5915025" cy="617369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17838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Prenatal Development: Prenatal Care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5814353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Medical care during pregnancy that monitors the health of both the mother and the fetus</a:t>
            </a:r>
          </a:p>
          <a:p>
            <a:r>
              <a:rPr lang="en-US" sz="2000" dirty="0"/>
              <a:t>Reduces the risk of complications to the mother and fetus</a:t>
            </a:r>
          </a:p>
          <a:p>
            <a:r>
              <a:rPr lang="en-US" sz="2000" dirty="0"/>
              <a:t>Anything the mother is exposed to affects the fetus</a:t>
            </a:r>
          </a:p>
          <a:p>
            <a:r>
              <a:rPr lang="en-US" sz="2000" dirty="0"/>
              <a:t>Teratogen: biological, chemical, or physical environmental agent that causes damage to the developing embryo or fetus</a:t>
            </a:r>
          </a:p>
          <a:p>
            <a:r>
              <a:rPr lang="en-US" sz="2000" dirty="0"/>
              <a:t>Critical (sensitive) period: time during fetal growth when specific parts or organs develop</a:t>
            </a:r>
          </a:p>
        </p:txBody>
      </p:sp>
      <p:pic>
        <p:nvPicPr>
          <p:cNvPr id="10250" name="Picture 10" descr="A pregnant woman is lying on a table being examined by a doctor. The doctor's hands are on her belly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3003" y="2707276"/>
            <a:ext cx="2324100" cy="180022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98564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Infant Development: Newborn Reflexes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" indent="0">
              <a:buNone/>
            </a:pPr>
            <a:r>
              <a:rPr lang="en-US" sz="1800" dirty="0"/>
              <a:t>All healthy babies are born with newborn reflexes, inborn automatic responses to particular forms of stimulation including:</a:t>
            </a:r>
          </a:p>
          <a:p>
            <a:r>
              <a:rPr lang="en-US" sz="1800" dirty="0"/>
              <a:t>Rooting reflex: Babies respond to anything that touches the cheek by turning their heads in that direction and sucking </a:t>
            </a:r>
          </a:p>
          <a:p>
            <a:r>
              <a:rPr lang="en-US" sz="1800" dirty="0"/>
              <a:t>Sucking reflex: Automatic, unlearned, sucking motions</a:t>
            </a:r>
          </a:p>
          <a:p>
            <a:r>
              <a:rPr lang="en-US" sz="1800" dirty="0"/>
              <a:t>Grasping reflex: Babies automatically grasp anything that touches their palms</a:t>
            </a:r>
          </a:p>
          <a:p>
            <a:r>
              <a:rPr lang="en-US" sz="1800" dirty="0"/>
              <a:t>Moro reflex: Response to the sensation of falling. Babies spread their arms, pull them back in, and cry</a:t>
            </a:r>
          </a:p>
        </p:txBody>
      </p:sp>
    </p:spTree>
    <p:extLst>
      <p:ext uri="{BB962C8B-B14F-4D97-AF65-F5344CB8AC3E}">
        <p14:creationId xmlns:p14="http://schemas.microsoft.com/office/powerpoint/2010/main" val="21155110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Infant Development: Attachment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" indent="0">
              <a:buNone/>
            </a:pPr>
            <a:r>
              <a:rPr lang="en-US" sz="1800" dirty="0"/>
              <a:t>Attachment is a long-standing connection or bond with others</a:t>
            </a:r>
          </a:p>
          <a:p>
            <a:pPr marL="28575" indent="0">
              <a:buNone/>
            </a:pPr>
            <a:r>
              <a:rPr lang="en-US" sz="1800" dirty="0"/>
              <a:t>It is the main psychosocial developmental milestone of infancy</a:t>
            </a:r>
          </a:p>
          <a:p>
            <a:r>
              <a:rPr lang="en-US" sz="1800" dirty="0"/>
              <a:t>Secure attachment</a:t>
            </a:r>
          </a:p>
          <a:p>
            <a:r>
              <a:rPr lang="en-US" sz="1800" dirty="0"/>
              <a:t>Resistant attachment</a:t>
            </a:r>
          </a:p>
          <a:p>
            <a:r>
              <a:rPr lang="en-US" sz="1800" dirty="0"/>
              <a:t>Avoidant attachment</a:t>
            </a:r>
          </a:p>
          <a:p>
            <a:r>
              <a:rPr lang="en-US" sz="1800" dirty="0"/>
              <a:t>Disorganized attachment</a:t>
            </a:r>
          </a:p>
        </p:txBody>
      </p:sp>
    </p:spTree>
    <p:extLst>
      <p:ext uri="{BB962C8B-B14F-4D97-AF65-F5344CB8AC3E}">
        <p14:creationId xmlns:p14="http://schemas.microsoft.com/office/powerpoint/2010/main" val="1334865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Childhood Development: Milestones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371906142"/>
              </p:ext>
            </p:extLst>
          </p:nvPr>
        </p:nvGraphicFramePr>
        <p:xfrm>
          <a:off x="628650" y="1586928"/>
          <a:ext cx="7886695" cy="5271072"/>
        </p:xfrm>
        <a:graphic>
          <a:graphicData uri="http://schemas.openxmlformats.org/drawingml/2006/table">
            <a:tbl>
              <a:tblPr firstRow="1"/>
              <a:tblGrid>
                <a:gridCol w="1004203">
                  <a:extLst>
                    <a:ext uri="{9D8B030D-6E8A-4147-A177-3AD203B41FA5}">
                      <a16:colId xmlns:a16="http://schemas.microsoft.com/office/drawing/2014/main" val="3434940292"/>
                    </a:ext>
                  </a:extLst>
                </a:gridCol>
                <a:gridCol w="1518557">
                  <a:extLst>
                    <a:ext uri="{9D8B030D-6E8A-4147-A177-3AD203B41FA5}">
                      <a16:colId xmlns:a16="http://schemas.microsoft.com/office/drawing/2014/main" val="2462878930"/>
                    </a:ext>
                  </a:extLst>
                </a:gridCol>
                <a:gridCol w="1681843">
                  <a:extLst>
                    <a:ext uri="{9D8B030D-6E8A-4147-A177-3AD203B41FA5}">
                      <a16:colId xmlns:a16="http://schemas.microsoft.com/office/drawing/2014/main" val="2069899539"/>
                    </a:ext>
                  </a:extLst>
                </a:gridCol>
                <a:gridCol w="1845129">
                  <a:extLst>
                    <a:ext uri="{9D8B030D-6E8A-4147-A177-3AD203B41FA5}">
                      <a16:colId xmlns:a16="http://schemas.microsoft.com/office/drawing/2014/main" val="2604127720"/>
                    </a:ext>
                  </a:extLst>
                </a:gridCol>
                <a:gridCol w="1836963">
                  <a:extLst>
                    <a:ext uri="{9D8B030D-6E8A-4147-A177-3AD203B41FA5}">
                      <a16:colId xmlns:a16="http://schemas.microsoft.com/office/drawing/2014/main" val="3427648261"/>
                    </a:ext>
                  </a:extLst>
                </a:gridCol>
              </a:tblGrid>
              <a:tr h="2795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Age in years</a:t>
                      </a:r>
                    </a:p>
                  </a:txBody>
                  <a:tcPr marL="143372" marR="143372" marT="53764" marB="537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Physical</a:t>
                      </a:r>
                    </a:p>
                  </a:txBody>
                  <a:tcPr marL="143372" marR="143372" marT="53764" marB="537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Personal/</a:t>
                      </a:r>
                    </a:p>
                    <a:p>
                      <a:pPr algn="l" fontAlgn="ctr"/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Social</a:t>
                      </a:r>
                    </a:p>
                  </a:txBody>
                  <a:tcPr marL="143372" marR="143372" marT="53764" marB="537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Language</a:t>
                      </a:r>
                    </a:p>
                  </a:txBody>
                  <a:tcPr marL="143372" marR="143372" marT="53764" marB="537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Cognitive</a:t>
                      </a:r>
                    </a:p>
                  </a:txBody>
                  <a:tcPr marL="143372" marR="143372" marT="53764" marB="537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623489"/>
                  </a:ext>
                </a:extLst>
              </a:tr>
              <a:tr h="110396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>
                          <a:solidFill>
                            <a:srgbClr val="222222"/>
                          </a:solidFill>
                          <a:effectLst/>
                          <a:latin typeface="Century Gothic" panose="020B0502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</a:p>
                  </a:txBody>
                  <a:tcPr marL="143372" marR="143372" marT="35843" marB="3584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>
                          <a:solidFill>
                            <a:srgbClr val="222222"/>
                          </a:solidFill>
                          <a:effectLst/>
                          <a:latin typeface="Century Gothic" panose="020B0502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Kicks a ball; walks up and down stairs</a:t>
                      </a:r>
                    </a:p>
                  </a:txBody>
                  <a:tcPr marL="143372" marR="143372" marT="35843" marB="3584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>
                          <a:solidFill>
                            <a:srgbClr val="222222"/>
                          </a:solidFill>
                          <a:effectLst/>
                          <a:latin typeface="Century Gothic" panose="020B0502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Plays alongside other children; copies adults</a:t>
                      </a:r>
                    </a:p>
                  </a:txBody>
                  <a:tcPr marL="143372" marR="143372" marT="35843" marB="3584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  <a:latin typeface="Century Gothic" panose="020B0502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Points to named object; 2–4 word sentences</a:t>
                      </a:r>
                    </a:p>
                  </a:txBody>
                  <a:tcPr marL="143372" marR="143372" marT="35843" marB="3584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  <a:latin typeface="Century Gothic" panose="020B0502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Sorts shapes and colors; follows 2-step instructions</a:t>
                      </a:r>
                    </a:p>
                  </a:txBody>
                  <a:tcPr marL="143372" marR="143372" marT="35843" marB="3584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7787888"/>
                  </a:ext>
                </a:extLst>
              </a:tr>
              <a:tr h="93191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  <a:latin typeface="Century Gothic" panose="020B0502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</a:p>
                  </a:txBody>
                  <a:tcPr marL="143372" marR="143372" marT="35843" marB="3584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>
                          <a:solidFill>
                            <a:srgbClr val="222222"/>
                          </a:solidFill>
                          <a:effectLst/>
                          <a:latin typeface="Century Gothic" panose="020B0502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Climbs and runs; pedals tricycle</a:t>
                      </a:r>
                    </a:p>
                  </a:txBody>
                  <a:tcPr marL="143372" marR="143372" marT="35843" marB="3584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  <a:latin typeface="Century Gothic" panose="020B0502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Takes turns; expresses  emotions; dresses self</a:t>
                      </a:r>
                    </a:p>
                  </a:txBody>
                  <a:tcPr marL="143372" marR="143372" marT="35843" marB="3584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>
                          <a:solidFill>
                            <a:srgbClr val="222222"/>
                          </a:solidFill>
                          <a:effectLst/>
                          <a:latin typeface="Century Gothic" panose="020B0502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Names familiar things; uses pronouns</a:t>
                      </a:r>
                    </a:p>
                  </a:txBody>
                  <a:tcPr marL="143372" marR="143372" marT="35843" marB="3584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  <a:latin typeface="Century Gothic" panose="020B0502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Plays make believe; works toys with parts </a:t>
                      </a:r>
                    </a:p>
                  </a:txBody>
                  <a:tcPr marL="143372" marR="143372" marT="35843" marB="3584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7676391"/>
                  </a:ext>
                </a:extLst>
              </a:tr>
              <a:tr h="93191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>
                          <a:solidFill>
                            <a:srgbClr val="222222"/>
                          </a:solidFill>
                          <a:effectLst/>
                          <a:latin typeface="Century Gothic" panose="020B0502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</a:t>
                      </a:r>
                    </a:p>
                  </a:txBody>
                  <a:tcPr marL="143372" marR="143372" marT="35843" marB="3584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>
                          <a:solidFill>
                            <a:srgbClr val="222222"/>
                          </a:solidFill>
                          <a:effectLst/>
                          <a:latin typeface="Century Gothic" panose="020B0502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Catches balls; uses scissors</a:t>
                      </a:r>
                    </a:p>
                  </a:txBody>
                  <a:tcPr marL="143372" marR="143372" marT="35843" marB="3584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  <a:latin typeface="Century Gothic" panose="020B0502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Prefers social play; knows likes and interests</a:t>
                      </a:r>
                    </a:p>
                  </a:txBody>
                  <a:tcPr marL="143372" marR="143372" marT="35843" marB="3584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>
                          <a:solidFill>
                            <a:srgbClr val="222222"/>
                          </a:solidFill>
                          <a:effectLst/>
                          <a:latin typeface="Century Gothic" panose="020B0502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Knows songs and rhymes by memory</a:t>
                      </a:r>
                    </a:p>
                  </a:txBody>
                  <a:tcPr marL="143372" marR="143372" marT="35843" marB="3584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>
                          <a:solidFill>
                            <a:srgbClr val="222222"/>
                          </a:solidFill>
                          <a:effectLst/>
                          <a:latin typeface="Century Gothic" panose="020B0502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Names colors and numbers; begins writing letters</a:t>
                      </a:r>
                    </a:p>
                  </a:txBody>
                  <a:tcPr marL="143372" marR="143372" marT="35843" marB="3584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5764751"/>
                  </a:ext>
                </a:extLst>
              </a:tr>
              <a:tr h="110396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>
                          <a:solidFill>
                            <a:srgbClr val="222222"/>
                          </a:solidFill>
                          <a:effectLst/>
                          <a:latin typeface="Century Gothic" panose="020B0502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</a:p>
                  </a:txBody>
                  <a:tcPr marL="143372" marR="143372" marT="35843" marB="3584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>
                          <a:solidFill>
                            <a:srgbClr val="222222"/>
                          </a:solidFill>
                          <a:effectLst/>
                          <a:latin typeface="Century Gothic" panose="020B0502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Hops and swings; uses fork and spoon</a:t>
                      </a:r>
                    </a:p>
                  </a:txBody>
                  <a:tcPr marL="143372" marR="143372" marT="35843" marB="3584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  <a:latin typeface="Century Gothic" panose="020B0502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Distinguishes real from pretend; likes to please friends</a:t>
                      </a:r>
                    </a:p>
                  </a:txBody>
                  <a:tcPr marL="143372" marR="143372" marT="35843" marB="3584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  <a:latin typeface="Century Gothic" panose="020B0502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Speaks clearly; uses full sentences</a:t>
                      </a:r>
                    </a:p>
                  </a:txBody>
                  <a:tcPr marL="143372" marR="143372" marT="35843" marB="3584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  <a:latin typeface="Century Gothic" panose="020B050202020202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Counts to 10; prints  letters and copies basic shapes, Theory of Mind</a:t>
                      </a:r>
                    </a:p>
                  </a:txBody>
                  <a:tcPr marL="143372" marR="143372" marT="35843" marB="3584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7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81997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53210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Childhood Development: Cognitive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" indent="0">
              <a:buNone/>
            </a:pPr>
            <a:r>
              <a:rPr lang="en-US" sz="1800" dirty="0"/>
              <a:t>Children Ages 6-11 understand:</a:t>
            </a:r>
          </a:p>
          <a:p>
            <a:r>
              <a:rPr lang="en-US" sz="1800" dirty="0"/>
              <a:t>Concepts such as the past, present, and future</a:t>
            </a:r>
          </a:p>
          <a:p>
            <a:r>
              <a:rPr lang="en-US" sz="1800" dirty="0"/>
              <a:t>Cause-and-effect relationships</a:t>
            </a:r>
          </a:p>
          <a:p>
            <a:r>
              <a:rPr lang="en-US" sz="1800" dirty="0"/>
              <a:t>Rules </a:t>
            </a:r>
          </a:p>
          <a:p>
            <a:pPr marL="28575" indent="0">
              <a:buNone/>
            </a:pPr>
            <a:r>
              <a:rPr lang="en-US" sz="1800" dirty="0"/>
              <a:t>Children have limited attention spans</a:t>
            </a:r>
          </a:p>
        </p:txBody>
      </p:sp>
      <p:pic>
        <p:nvPicPr>
          <p:cNvPr id="18434" name="Picture 2" descr="A photograph of children playing baseball is shown. Five children are in the picture, two on one team, and three on the other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8438" y="3775852"/>
            <a:ext cx="4107123" cy="271702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59166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Childhood Development: Self-Concept and Parenting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" indent="0">
              <a:buNone/>
            </a:pPr>
            <a:r>
              <a:rPr lang="en-US" sz="1800" dirty="0"/>
              <a:t>The primary psychosocial milestone of childhood is the development of a positive sense of self. Parenting style affects a child’s self-concept. The four parenting styles are:</a:t>
            </a:r>
          </a:p>
          <a:p>
            <a:pPr marL="371475" indent="-342900">
              <a:buFont typeface="+mj-lt"/>
              <a:buAutoNum type="arabicPeriod"/>
            </a:pPr>
            <a:r>
              <a:rPr lang="en-US" sz="1800" dirty="0"/>
              <a:t>Authoritarian </a:t>
            </a:r>
          </a:p>
          <a:p>
            <a:pPr marL="371475" indent="-342900">
              <a:buFont typeface="+mj-lt"/>
              <a:buAutoNum type="arabicPeriod"/>
            </a:pPr>
            <a:r>
              <a:rPr lang="en-US" sz="1800" dirty="0"/>
              <a:t>Authoritative </a:t>
            </a:r>
          </a:p>
          <a:p>
            <a:pPr marL="371475" indent="-342900">
              <a:buFont typeface="+mj-lt"/>
              <a:buAutoNum type="arabicPeriod"/>
            </a:pPr>
            <a:r>
              <a:rPr lang="en-US" sz="1800" dirty="0"/>
              <a:t>Permissive </a:t>
            </a:r>
          </a:p>
          <a:p>
            <a:pPr marL="371475" indent="-342900">
              <a:buFont typeface="+mj-lt"/>
              <a:buAutoNum type="arabicPeriod"/>
            </a:pPr>
            <a:r>
              <a:rPr lang="en-US" sz="1800" dirty="0"/>
              <a:t>Uninvolved</a:t>
            </a:r>
          </a:p>
        </p:txBody>
      </p:sp>
    </p:spTree>
    <p:extLst>
      <p:ext uri="{BB962C8B-B14F-4D97-AF65-F5344CB8AC3E}">
        <p14:creationId xmlns:p14="http://schemas.microsoft.com/office/powerpoint/2010/main" val="38667967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Adolescent Physical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" indent="0">
              <a:buNone/>
            </a:pPr>
            <a:r>
              <a:rPr lang="en-US" sz="1800" b="1" dirty="0"/>
              <a:t>Adolescence</a:t>
            </a:r>
            <a:r>
              <a:rPr lang="en-US" sz="1800" dirty="0"/>
              <a:t> is the period of development that begins at puberty and ends at emerging adulthood. Adolescents engage in increased risk-taking behaviors and emotional outbursts possibly because the frontal lobes of their brains are still developing </a:t>
            </a:r>
          </a:p>
        </p:txBody>
      </p:sp>
      <p:pic>
        <p:nvPicPr>
          <p:cNvPr id="19458" name="Picture 2" descr="An illustration of a brain is shown with the frontal lobe labeled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8995" y="3292522"/>
            <a:ext cx="4466010" cy="331970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16564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Adolescent Cognitive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/>
              <a:t>During adolescence, teenagers move beyond concrete thinking and become capable of abstract thought </a:t>
            </a:r>
          </a:p>
          <a:p>
            <a:pPr lvl="1"/>
            <a:r>
              <a:rPr lang="en-US" sz="1600" dirty="0"/>
              <a:t>Ability to consider multiple points of view, imagine hypothetical situations, debate ideas and opinions, and form new ideas</a:t>
            </a:r>
          </a:p>
          <a:p>
            <a:pPr lvl="1"/>
            <a:r>
              <a:rPr lang="en-US" sz="1600" dirty="0"/>
              <a:t>Question authority or challenge established societal norms</a:t>
            </a:r>
          </a:p>
          <a:p>
            <a:pPr lvl="1"/>
            <a:r>
              <a:rPr lang="en-US" sz="1600" dirty="0"/>
              <a:t>Cognitive empathy begins to increase</a:t>
            </a:r>
          </a:p>
        </p:txBody>
      </p:sp>
    </p:spTree>
    <p:extLst>
      <p:ext uri="{BB962C8B-B14F-4D97-AF65-F5344CB8AC3E}">
        <p14:creationId xmlns:p14="http://schemas.microsoft.com/office/powerpoint/2010/main" val="38306467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Adolescent Social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" indent="0">
              <a:buNone/>
            </a:pPr>
            <a:r>
              <a:rPr lang="en-US" sz="1800" dirty="0"/>
              <a:t>As adolescents work to form their identities, they pull away from their parents, and the peer group becomes very important.</a:t>
            </a:r>
          </a:p>
          <a:p>
            <a:endParaRPr lang="en-US" sz="1800" dirty="0"/>
          </a:p>
        </p:txBody>
      </p:sp>
      <p:pic>
        <p:nvPicPr>
          <p:cNvPr id="20482" name="Picture 2" descr="Several people are congregated by the beach. There is a net in the background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2758" y="3281587"/>
            <a:ext cx="4538483" cy="303031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76776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Emergent Adulthood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Newly defined period of lifespan development from 18 years old to the mid-20s; young people are taking longer to complete college, get a job, get married, and start a family</a:t>
            </a:r>
          </a:p>
        </p:txBody>
      </p:sp>
      <p:pic>
        <p:nvPicPr>
          <p:cNvPr id="22530" name="Picture 2" descr="A picture shows a person in a harness ascending a climbing wall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1361" y="2947552"/>
            <a:ext cx="4761277" cy="354532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17653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Adulthood: Physical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4393726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/>
              <a:t>Young Adulthood (20s-40s) </a:t>
            </a:r>
          </a:p>
          <a:p>
            <a:r>
              <a:rPr lang="en-US" sz="1800" dirty="0"/>
              <a:t>Peak muscle strength, reaction time, sensory abilities, and cardiac functioning</a:t>
            </a:r>
          </a:p>
          <a:p>
            <a:r>
              <a:rPr lang="en-US" sz="1800" dirty="0"/>
              <a:t>Child-bearing years</a:t>
            </a:r>
          </a:p>
          <a:p>
            <a:pPr marL="0" indent="0">
              <a:buNone/>
            </a:pPr>
            <a:r>
              <a:rPr lang="en-US" sz="1800" dirty="0"/>
              <a:t>Middle Adulthood (40s-60s)</a:t>
            </a:r>
          </a:p>
          <a:p>
            <a:r>
              <a:rPr lang="en-US" sz="1800" dirty="0"/>
              <a:t>Gradual physical decline</a:t>
            </a:r>
          </a:p>
          <a:p>
            <a:pPr marL="0" indent="0">
              <a:buNone/>
            </a:pPr>
            <a:r>
              <a:rPr lang="en-US" sz="1800" dirty="0"/>
              <a:t>Late adulthood (60s +)</a:t>
            </a:r>
          </a:p>
          <a:p>
            <a:r>
              <a:rPr lang="en-US" sz="1800" dirty="0"/>
              <a:t>Reaction time slows  </a:t>
            </a:r>
          </a:p>
          <a:p>
            <a:r>
              <a:rPr lang="en-US" sz="1800" dirty="0"/>
              <a:t>Senses and muscle strength diminish. </a:t>
            </a:r>
          </a:p>
          <a:p>
            <a:r>
              <a:rPr lang="en-US" sz="1800" dirty="0"/>
              <a:t>Memory Loss</a:t>
            </a:r>
          </a:p>
        </p:txBody>
      </p:sp>
      <p:pic>
        <p:nvPicPr>
          <p:cNvPr id="23554" name="Picture 2" descr="Photograph of an older man holding a cane while getting off of his moped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8227" y="3033996"/>
            <a:ext cx="4107123" cy="276546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13203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Adulthood: Cognitive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b="1" dirty="0"/>
              <a:t>Fluid intelligence </a:t>
            </a:r>
            <a:r>
              <a:rPr lang="en-US" sz="1800" dirty="0"/>
              <a:t>refers to information processing abilities, such as logical reasoning, remembering lists, spatial ability, and reaction time; tends decline over the course of adulthood</a:t>
            </a:r>
          </a:p>
          <a:p>
            <a:r>
              <a:rPr lang="en-US" sz="1800" b="1" dirty="0"/>
              <a:t>Crystallized intelligence </a:t>
            </a:r>
            <a:r>
              <a:rPr lang="en-US" sz="1800" dirty="0"/>
              <a:t>encompasses abilities that draw upon experience and knowledge. Older adults often use crystallized intelligence to compensate for declines in fluid intelligence</a:t>
            </a:r>
          </a:p>
          <a:p>
            <a:r>
              <a:rPr lang="en-US" sz="1800" dirty="0"/>
              <a:t>Adults who engage in mentally and physically stimulating activities experience less cognitive decline</a:t>
            </a:r>
          </a:p>
        </p:txBody>
      </p:sp>
    </p:spTree>
    <p:extLst>
      <p:ext uri="{BB962C8B-B14F-4D97-AF65-F5344CB8AC3E}">
        <p14:creationId xmlns:p14="http://schemas.microsoft.com/office/powerpoint/2010/main" val="5704271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Adulthood</a:t>
            </a:r>
            <a:r>
              <a:rPr lang="en-US" baseline="0" dirty="0"/>
              <a:t>: </a:t>
            </a:r>
            <a:r>
              <a:rPr lang="en-US" dirty="0"/>
              <a:t>Psychosocial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During early and middle adulthood, meaning is found through work and family life</a:t>
            </a:r>
          </a:p>
          <a:p>
            <a:r>
              <a:rPr lang="en-US" sz="1800" dirty="0"/>
              <a:t>Stable marriages and relationships with adult children improve well-being</a:t>
            </a:r>
          </a:p>
          <a:p>
            <a:r>
              <a:rPr lang="en-US" sz="1800" dirty="0"/>
              <a:t>Social connectedness and social support are important for positive aging</a:t>
            </a:r>
          </a:p>
        </p:txBody>
      </p:sp>
      <p:pic>
        <p:nvPicPr>
          <p:cNvPr id="21506" name="Picture 2" descr="Four people are sitting on a bench looking off in the same direction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3826" y="4199567"/>
            <a:ext cx="3981524" cy="265843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73707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Death and the Five Stages of Grief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" indent="0">
              <a:buNone/>
            </a:pPr>
            <a:r>
              <a:rPr lang="en-US" sz="1800" dirty="0"/>
              <a:t>In some cultures, death is accepted as a natural part of life. Hospice is a service that provides a death with dignity; pain management in a humane and comfortable environment; usually outside of a hospital setting. </a:t>
            </a:r>
          </a:p>
          <a:p>
            <a:pPr marL="28575" indent="0">
              <a:buNone/>
            </a:pPr>
            <a:r>
              <a:rPr lang="en-US" sz="1800" dirty="0"/>
              <a:t>Elizabeth </a:t>
            </a:r>
            <a:r>
              <a:rPr lang="en-US" sz="1800" dirty="0" err="1"/>
              <a:t>Kübler</a:t>
            </a:r>
            <a:r>
              <a:rPr lang="en-US" sz="1800" dirty="0"/>
              <a:t>-Ross proposed five stages of grief: </a:t>
            </a:r>
          </a:p>
          <a:p>
            <a:pPr marL="371475" indent="-342900">
              <a:buFont typeface="+mj-lt"/>
              <a:buAutoNum type="arabicPeriod"/>
            </a:pPr>
            <a:r>
              <a:rPr lang="en-US" sz="1800" dirty="0"/>
              <a:t>Denial</a:t>
            </a:r>
          </a:p>
          <a:p>
            <a:pPr marL="371475" indent="-342900">
              <a:buFont typeface="+mj-lt"/>
              <a:buAutoNum type="arabicPeriod"/>
            </a:pPr>
            <a:r>
              <a:rPr lang="en-US" sz="1800" dirty="0"/>
              <a:t>Anger</a:t>
            </a:r>
          </a:p>
          <a:p>
            <a:pPr marL="371475" indent="-342900">
              <a:buFont typeface="+mj-lt"/>
              <a:buAutoNum type="arabicPeriod"/>
            </a:pPr>
            <a:r>
              <a:rPr lang="en-US" sz="1800" dirty="0"/>
              <a:t>Bargaining</a:t>
            </a:r>
          </a:p>
          <a:p>
            <a:pPr marL="371475" indent="-342900">
              <a:buFont typeface="+mj-lt"/>
              <a:buAutoNum type="arabicPeriod"/>
            </a:pPr>
            <a:r>
              <a:rPr lang="en-US" sz="1800" dirty="0"/>
              <a:t>Depression</a:t>
            </a:r>
          </a:p>
          <a:p>
            <a:pPr marL="371475" indent="-342900">
              <a:buFont typeface="+mj-lt"/>
              <a:buAutoNum type="arabicPeriod"/>
            </a:pPr>
            <a:r>
              <a:rPr lang="en-US" sz="1800" dirty="0"/>
              <a:t>Acceptance</a:t>
            </a:r>
          </a:p>
        </p:txBody>
      </p:sp>
    </p:spTree>
    <p:extLst>
      <p:ext uri="{BB962C8B-B14F-4D97-AF65-F5344CB8AC3E}">
        <p14:creationId xmlns:p14="http://schemas.microsoft.com/office/powerpoint/2010/main" val="19372280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" indent="0">
              <a:buNone/>
            </a:pPr>
            <a:r>
              <a:rPr lang="en-US" sz="1800" dirty="0"/>
              <a:t>What is an example of a discontinuous theory of development?</a:t>
            </a:r>
          </a:p>
        </p:txBody>
      </p:sp>
    </p:spTree>
    <p:extLst>
      <p:ext uri="{BB962C8B-B14F-4D97-AF65-F5344CB8AC3E}">
        <p14:creationId xmlns:p14="http://schemas.microsoft.com/office/powerpoint/2010/main" val="7363879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/>
              <a:t>Discuss the three major issues in development: continuity and discontinuity, one common course of development or many unique courses of development, and nature versus nurture.</a:t>
            </a:r>
          </a:p>
          <a:p>
            <a:r>
              <a:rPr lang="en-US" sz="1800" dirty="0"/>
              <a:t>What are Freud’s theory of psychosexual development, Erikson’s theory of psychosocial development, Piaget’s stages of cognitive development, and Kohlberg’s theory of moral development?</a:t>
            </a:r>
          </a:p>
          <a:p>
            <a:r>
              <a:rPr lang="en-US" sz="1800" dirty="0"/>
              <a:t>What are the stages of prenatal development? Why is prenatal care important? What are the infant reflexes?</a:t>
            </a:r>
          </a:p>
        </p:txBody>
      </p:sp>
    </p:spTree>
    <p:extLst>
      <p:ext uri="{BB962C8B-B14F-4D97-AF65-F5344CB8AC3E}">
        <p14:creationId xmlns:p14="http://schemas.microsoft.com/office/powerpoint/2010/main" val="25555868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Review Continued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/>
              <a:t>What physical and cognitive development occurs from infancy through childhood?</a:t>
            </a:r>
          </a:p>
          <a:p>
            <a:r>
              <a:rPr lang="en-US" sz="1800" dirty="0"/>
              <a:t>What emotional development occurs from infancy through childhood, including attachment and the development of a self-concept?</a:t>
            </a:r>
          </a:p>
          <a:p>
            <a:r>
              <a:rPr lang="en-US" sz="1800" dirty="0"/>
              <a:t>What physical, cognitive, and emotional development occurs during adolescence and adulthood?</a:t>
            </a:r>
          </a:p>
          <a:p>
            <a:r>
              <a:rPr lang="en-US" sz="1800" dirty="0"/>
              <a:t>What are </a:t>
            </a:r>
            <a:r>
              <a:rPr lang="en-US" sz="1800" dirty="0" err="1"/>
              <a:t>Kübler</a:t>
            </a:r>
            <a:r>
              <a:rPr lang="en-US" sz="1800" dirty="0"/>
              <a:t>-Ross’s five stages of grief?</a:t>
            </a:r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9298734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GillSans Light"/>
        <a:ea typeface=""/>
        <a:cs typeface=""/>
      </a:majorFont>
      <a:minorFont>
        <a:latin typeface="GillSans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sych">
  <a:themeElements>
    <a:clrScheme name="Blue Warm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sych" id="{4323B651-3281-4B43-9228-F36C00E639E0}" vid="{14CA0005-F113-6C4F-9A01-7767B9CBDD10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5434</TotalTime>
  <Words>2416</Words>
  <Application>Microsoft Macintosh PowerPoint</Application>
  <PresentationFormat>On-screen Show (4:3)</PresentationFormat>
  <Paragraphs>256</Paragraphs>
  <Slides>30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Arial</vt:lpstr>
      <vt:lpstr>Century Gothic</vt:lpstr>
      <vt:lpstr>GillSans Light</vt:lpstr>
      <vt:lpstr>Tahoma</vt:lpstr>
      <vt:lpstr>1_Office Theme</vt:lpstr>
      <vt:lpstr>psych</vt:lpstr>
      <vt:lpstr>Introduction to Psychology</vt:lpstr>
      <vt:lpstr>Developmental Psychology</vt:lpstr>
      <vt:lpstr>Issues in Developmental Psychology: Continuous or Discontinuous </vt:lpstr>
      <vt:lpstr>Issues in Developmental Psychology: One Course of Development or Many?</vt:lpstr>
      <vt:lpstr>Issues in Developmental Psychology: Nature vs. Nurture</vt:lpstr>
      <vt:lpstr>Freudian Psychosexual Development</vt:lpstr>
      <vt:lpstr>Erikson’s Psychosocial Development Theory</vt:lpstr>
      <vt:lpstr>Psychosocial Stages of Development</vt:lpstr>
      <vt:lpstr>Piaget’s Cognitive Development Theory</vt:lpstr>
      <vt:lpstr>Stages of Cognitive Development</vt:lpstr>
      <vt:lpstr>Stages of Moral Reasoning</vt:lpstr>
      <vt:lpstr>Stages of Prenatal Development</vt:lpstr>
      <vt:lpstr>Fetal Development</vt:lpstr>
      <vt:lpstr>Prenatal Development: Prenatal Care</vt:lpstr>
      <vt:lpstr>Infant Development: Newborn Reflexes</vt:lpstr>
      <vt:lpstr>Infant Development: Attachment</vt:lpstr>
      <vt:lpstr>Childhood Development: Milestones</vt:lpstr>
      <vt:lpstr>Childhood Development: Cognitive</vt:lpstr>
      <vt:lpstr>Childhood Development: Self-Concept and Parenting Styles</vt:lpstr>
      <vt:lpstr>Adolescent Physical Development</vt:lpstr>
      <vt:lpstr>Adolescent Cognitive Development</vt:lpstr>
      <vt:lpstr>Adolescent Social Development</vt:lpstr>
      <vt:lpstr>Emergent Adulthood</vt:lpstr>
      <vt:lpstr>Adulthood: Physical Development</vt:lpstr>
      <vt:lpstr>Adulthood: Cognitive Development</vt:lpstr>
      <vt:lpstr>Adulthood: Psychosocial Development</vt:lpstr>
      <vt:lpstr>Death and the Five Stages of Grief</vt:lpstr>
      <vt:lpstr>Practice Question</vt:lpstr>
      <vt:lpstr>Quick Review</vt:lpstr>
      <vt:lpstr>Quick Review Continued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Sarah Liebman</dc:creator>
  <cp:lastModifiedBy>anika@lumenlearning.com</cp:lastModifiedBy>
  <cp:revision>271</cp:revision>
  <dcterms:created xsi:type="dcterms:W3CDTF">2017-01-24T14:54:50Z</dcterms:created>
  <dcterms:modified xsi:type="dcterms:W3CDTF">2020-07-08T18:00:39Z</dcterms:modified>
</cp:coreProperties>
</file>